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2e7152c6d3421b" /><Relationship Type="http://schemas.openxmlformats.org/officeDocument/2006/relationships/extended-properties" Target="/docProps/app.xml" Id="Rf2e6662b0cae48cd" /><Relationship Type="http://schemas.openxmlformats.org/officeDocument/2006/relationships/officeDocument" Target="/ppt/presentation.xml" Id="R97b42e4b74794b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381c8b87e492d"/>
  </p:sldMasterIdLst>
  <p:sldIdLst>
    <p:sldId xmlns:r="http://schemas.openxmlformats.org/officeDocument/2006/relationships" id="256" r:id="Rf916c42d485f486f"/>
    <p:sldId xmlns:r="http://schemas.openxmlformats.org/officeDocument/2006/relationships" id="257" r:id="Rd7c3b15415954f05"/>
    <p:sldId xmlns:r="http://schemas.openxmlformats.org/officeDocument/2006/relationships" id="258" r:id="R0745c301f4684c8a"/>
    <p:sldId xmlns:r="http://schemas.openxmlformats.org/officeDocument/2006/relationships" id="259" r:id="R400b8b2543634c4f"/>
    <p:sldId xmlns:r="http://schemas.openxmlformats.org/officeDocument/2006/relationships" id="260" r:id="Ra725252c41da4a15"/>
    <p:sldId xmlns:r="http://schemas.openxmlformats.org/officeDocument/2006/relationships" id="261" r:id="Rd2449e49d5ec4c40"/>
    <p:sldId xmlns:r="http://schemas.openxmlformats.org/officeDocument/2006/relationships" id="262" r:id="R2a308463627f49ba"/>
    <p:sldId xmlns:r="http://schemas.openxmlformats.org/officeDocument/2006/relationships" id="263" r:id="R07a2b3dcb7b14e86"/>
    <p:sldId xmlns:r="http://schemas.openxmlformats.org/officeDocument/2006/relationships" id="264" r:id="Rc807e2cb97e04eb9"/>
    <p:sldId xmlns:r="http://schemas.openxmlformats.org/officeDocument/2006/relationships" id="265" r:id="R26b8fe85f9004c4d"/>
    <p:sldId xmlns:r="http://schemas.openxmlformats.org/officeDocument/2006/relationships" id="266" r:id="R8f7509076cef494b"/>
    <p:sldId xmlns:r="http://schemas.openxmlformats.org/officeDocument/2006/relationships" id="267" r:id="R60ddd8aa359747b6"/>
    <p:sldId xmlns:r="http://schemas.openxmlformats.org/officeDocument/2006/relationships" id="268" r:id="Rabc174740eea427e"/>
    <p:sldId xmlns:r="http://schemas.openxmlformats.org/officeDocument/2006/relationships" id="269" r:id="R98d81731e5614ade"/>
    <p:sldId xmlns:r="http://schemas.openxmlformats.org/officeDocument/2006/relationships" id="270" r:id="R9d75b7355c024873"/>
    <p:sldId xmlns:r="http://schemas.openxmlformats.org/officeDocument/2006/relationships" id="271" r:id="Re1ffe9f5d8804a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481b2795d54896" /><Relationship Type="http://schemas.openxmlformats.org/officeDocument/2006/relationships/slideMaster" Target="/ppt/slideMasters/slideMaster1.xml" Id="Ra60381c8b87e492d" /><Relationship Type="http://schemas.openxmlformats.org/officeDocument/2006/relationships/presProps" Target="/ppt/presProps.xml" Id="Rf24c6505e038402f" /><Relationship Type="http://schemas.openxmlformats.org/officeDocument/2006/relationships/tableStyles" Target="/ppt/tableStyles.xml" Id="Rb116c0f456f14fbb" /><Relationship Type="http://schemas.openxmlformats.org/officeDocument/2006/relationships/slide" Target="/ppt/slides/slide1.xml" Id="Rf916c42d485f486f" /><Relationship Type="http://schemas.openxmlformats.org/officeDocument/2006/relationships/slide" Target="/ppt/slides/slide2.xml" Id="Rd7c3b15415954f05" /><Relationship Type="http://schemas.openxmlformats.org/officeDocument/2006/relationships/slide" Target="/ppt/slides/slide3.xml" Id="R0745c301f4684c8a" /><Relationship Type="http://schemas.openxmlformats.org/officeDocument/2006/relationships/slide" Target="/ppt/slides/slide4.xml" Id="R400b8b2543634c4f" /><Relationship Type="http://schemas.openxmlformats.org/officeDocument/2006/relationships/slide" Target="/ppt/slides/slide5.xml" Id="Ra725252c41da4a15" /><Relationship Type="http://schemas.openxmlformats.org/officeDocument/2006/relationships/slide" Target="/ppt/slides/slide6.xml" Id="Rd2449e49d5ec4c40" /><Relationship Type="http://schemas.openxmlformats.org/officeDocument/2006/relationships/slide" Target="/ppt/slides/slide7.xml" Id="R2a308463627f49ba" /><Relationship Type="http://schemas.openxmlformats.org/officeDocument/2006/relationships/slide" Target="/ppt/slides/slide8.xml" Id="R07a2b3dcb7b14e86" /><Relationship Type="http://schemas.openxmlformats.org/officeDocument/2006/relationships/slide" Target="/ppt/slides/slide9.xml" Id="Rc807e2cb97e04eb9" /><Relationship Type="http://schemas.openxmlformats.org/officeDocument/2006/relationships/slide" Target="/ppt/slides/slide10.xml" Id="R26b8fe85f9004c4d" /><Relationship Type="http://schemas.openxmlformats.org/officeDocument/2006/relationships/slide" Target="/ppt/slides/slide11.xml" Id="R8f7509076cef494b" /><Relationship Type="http://schemas.openxmlformats.org/officeDocument/2006/relationships/slide" Target="/ppt/slides/slide12.xml" Id="R60ddd8aa359747b6" /><Relationship Type="http://schemas.openxmlformats.org/officeDocument/2006/relationships/slide" Target="/ppt/slides/slide13.xml" Id="Rabc174740eea427e" /><Relationship Type="http://schemas.openxmlformats.org/officeDocument/2006/relationships/slide" Target="/ppt/slides/slide14.xml" Id="R98d81731e5614ade" /><Relationship Type="http://schemas.openxmlformats.org/officeDocument/2006/relationships/slide" Target="/ppt/slides/slide15.xml" Id="R9d75b7355c024873" /><Relationship Type="http://schemas.openxmlformats.org/officeDocument/2006/relationships/slide" Target="/ppt/slides/slide16.xml" Id="Re1ffe9f5d8804a3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5c0291b2544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a3f97fab5e41b9" /><Relationship Type="http://schemas.openxmlformats.org/officeDocument/2006/relationships/slideLayout" Target="/ppt/slideLayouts/slideLayout1.xml" Id="R177b0567e109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b0567e109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11dddf13d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5629cbba147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5c7959ec44580" /><Relationship Type="http://schemas.openxmlformats.org/officeDocument/2006/relationships/chart" Target="/ppt/slides/charts/chart1.xml" Id="R7974e92314be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837beec7240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4f359f15e46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375af8bd4f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04e6fd2514b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3ac5d51f43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af9ce8017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60684fa2446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4661368064a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2c35a40ba4c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1c4665a5c43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6d59052ea48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066d15cb34b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e550a7e2e48f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BTC por bloque</c:v>
          </c:tx>
          <c:spPr>
            <a:solidFill xmlns:a="http://schemas.openxmlformats.org/drawingml/2006/main">
              <a:srgbClr val="F7931A"/>
            </a:solidFill>
          </c:spPr>
          <c:cat>
            <c:numLit>
              <c:formatCode>General</c:formatCode>
              <c:ptCount val="5"/>
              <c:pt idx="0">
                <c:v>2009</c:v>
              </c:pt>
              <c:pt idx="1">
                <c:v>2012</c:v>
              </c:pt>
              <c:pt idx="2">
                <c:v>2016</c:v>
              </c:pt>
              <c:pt idx="3">
                <c:v>2020</c:v>
              </c:pt>
              <c:pt idx="4">
                <c:v>2024</c:v>
              </c:pt>
            </c:numLit>
          </c:cat>
          <c:val>
            <c:numLit>
              <c:formatCode>General</c:formatCode>
              <c:ptCount val="5"/>
              <c:pt idx="0">
                <c:v>50</c:v>
              </c:pt>
              <c:pt idx="1">
                <c:v>25</c:v>
              </c:pt>
              <c:pt idx="2">
                <c:v>12.5</c:v>
              </c:pt>
              <c:pt idx="3">
                <c:v>6.25</c:v>
              </c:pt>
              <c:pt idx="4">
                <c:v>3.125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0C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64B86-37A9-4602-ACA0-E5EEA104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60394-48BD-4357-ACA5-88B3260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7931A"/>
                </a:solidFill>
              </a:defRPr>
            </a:pPr>
            <a:r>
              <a:rPr sz="1275" b="1" i="0">
                <a:solidFill>
                  <a:srgbClr val="F7931A"/>
                </a:solidFill>
              </a:rPr>
              <a:t>Colección didáctica · 4 de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9D479-896C-4430-8F84-3489189F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BITCOIN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60AC0-D899-43E8-A06B-FD9C099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Economía, seguridad y escalabilidad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17510-6998-4981-8B4B-1767F98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C9CDD3"/>
                </a:solidFill>
              </a:defRPr>
            </a:pPr>
            <a:r>
              <a:rPr sz="1800" b="0" i="0">
                <a:solidFill>
                  <a:srgbClr val="C9CDD3"/>
                </a:solidFill>
              </a:rPr>
              <a:t>Incentivos, amenazas y capas para ampliar capacidad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4AB03-FBB7-42CF-AE74-BD430D0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52550"/>
            <a:ext cx="3028950" cy="3028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76AD-449C-4DAB-B006-80EC3A92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04925"/>
            <a:ext cx="30289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6900" b="1" i="0">
                <a:solidFill>
                  <a:srgbClr val="FFFFFF"/>
                </a:solidFill>
              </a:defRPr>
            </a:pPr>
            <a:r>
              <a:rPr sz="6900" b="1" i="0">
                <a:solidFill>
                  <a:srgbClr val="FFFFFF"/>
                </a:solidFill>
              </a:rPr>
              <a:t>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55F00-E691-41E0-9888-3B457D26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43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850" b="1" i="0">
                <a:solidFill>
                  <a:srgbClr val="7B8088"/>
                </a:solidFill>
              </a:defRPr>
            </a:pPr>
            <a:r>
              <a:rPr sz="2850" b="1" i="0">
                <a:solidFill>
                  <a:srgbClr val="7B8088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9DC9E-F6D4-4187-B344-8369C39C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AF21C-3BA7-4143-B35E-DB397FDD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5059E-462C-4E49-88D3-CF99BEBF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04 · 01/16</a:t>
            </a:r>
          </a:p>
        </p:txBody>
      </p:sp>
    </p:spTree>
    <p:extLst>
      <p:ext uri="{BB962C8B-B14F-4D97-AF65-F5344CB8AC3E}">
        <p14:creationId xmlns:p14="http://schemas.microsoft.com/office/powerpoint/2010/main" val="624988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52468-0AE6-4FAB-9CC0-DC221D1E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POLÍTICA MONETARIA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D7F39-DB84-46C0-AB75-F59FC44E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La oferta sigue reglas previsibles, no una promesa de precio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A08D8-1F20-4E87-8A5E-9929353A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90A40-0145-4952-A006-92E9CF3F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D271F-4990-4E90-A87B-009432B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9E35B-7945-4B5E-8D3C-A26AC502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318"/>
                </a:solidFill>
              </a:defRPr>
            </a:pPr>
            <a:r>
              <a:rPr sz="3600" b="1" i="0">
                <a:solidFill>
                  <a:srgbClr val="111318"/>
                </a:solidFill>
              </a:rPr>
              <a:t>Subsidio decreciente + límite aproximado de 21 millones de BTC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2C093-27F9-4179-A189-8026896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04036-8E8E-4A74-8933-094E13E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667085"/>
                </a:solidFill>
              </a:defRPr>
            </a:pPr>
            <a:r>
              <a:rPr sz="1875" b="0" i="0">
                <a:solidFill>
                  <a:srgbClr val="667085"/>
                </a:solidFill>
              </a:rPr>
              <a:t>La previsibilidad de emisión reduce discrecionalidad monetaria; no elimina demanda, volatilidad, regulación ni riesgo operativo.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F4AAD-10BA-4F95-8894-CAD24874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3520F-75D6-489F-A46D-27203C80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Regla verificable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E5AA2-E046-4DFA-9D44-D8AD6102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62258-6513-4408-BFC8-4B120EF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89261-1F6F-4A8A-B57C-E81012A9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Ritmo por bloques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DA699-ED01-4E5E-83B8-79AD841A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48101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6E0EE-0468-4586-9B31-E954EFB8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4762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7931A"/>
                </a:solidFill>
              </a:defRPr>
            </a:pPr>
            <a:r>
              <a:rPr sz="13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7179B-C470-4FD5-99BD-0FBA51C5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143500"/>
            <a:ext cx="326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Sin garantía de valorización</a:t>
            </a:r>
          </a:p>
        </p:txBody>
      </p:sp>
    </p:spTree>
    <p:extLst>
      <p:ext uri="{BB962C8B-B14F-4D97-AF65-F5344CB8AC3E}">
        <p14:creationId xmlns:p14="http://schemas.microsoft.com/office/powerpoint/2010/main" val="523942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DAAC2-919B-433C-B058-C18D192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EMISIÓN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DABB1-ACD9-4D0F-AC04-F3BF420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Cada halving reduce a la mitad el subsidio por bloque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B8FD5-BA8A-4E5B-A5E2-48B8CB6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52DE3-94EB-4558-A877-29C974B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B0AE8-80C7-40E2-8E5A-CF9CB48D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30166-6FB9-4668-8A45-7277F40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C96B00"/>
                </a:solidFill>
              </a:defRPr>
            </a:pPr>
            <a:r>
              <a:rPr sz="3900" b="1" i="0">
                <a:solidFill>
                  <a:srgbClr val="C96B00"/>
                </a:solidFill>
              </a:rPr>
              <a:t>3,125 BTC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62CDB-E4FE-4906-88DA-0CCBF14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67085"/>
                </a:solidFill>
              </a:defRPr>
            </a:pPr>
            <a:r>
              <a:rPr sz="1650" b="1" i="0">
                <a:solidFill>
                  <a:srgbClr val="667085"/>
                </a:solidFill>
              </a:rPr>
              <a:t>subsidio vigente desde el bloque 840.000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9FC80-6906-4E5C-AE9A-A432D9AA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305300" y="2038350"/>
          <a:ext xmlns:a="http://schemas.openxmlformats.org/drawingml/2006/main" cx="7200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74e92314be4765"/>
          </a:graphicData>
        </a:graphic>
      </p:graphicFrame>
    </p:spTree>
    <p:extLst>
      <p:ext uri="{BB962C8B-B14F-4D97-AF65-F5344CB8AC3E}">
        <p14:creationId xmlns:p14="http://schemas.microsoft.com/office/powerpoint/2010/main" val="2117725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2FB93-E073-43BD-AAA4-40125A6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HALVING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A95EB-BC2E-4FD4-A817-1AC8D3B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Menor flujo nuevo no determina automáticamente mayor precio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B284-DF67-43D4-A8DD-5082BC01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BE674-EB29-486D-9888-28BC580E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4D075-4ED3-417C-A962-0B88C640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67017-023F-4ED1-8125-58746D6C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B5202-A1D0-4CDB-9CF3-2A195CE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52625"/>
            <a:ext cx="5143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28E82-DB9D-4838-9C0A-A56F0E67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318"/>
                </a:solidFill>
              </a:defRPr>
            </a:pPr>
            <a:r>
              <a:rPr sz="2325" b="1" i="0">
                <a:solidFill>
                  <a:srgbClr val="111318"/>
                </a:solidFill>
              </a:rPr>
              <a:t>Lo que sí cambia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A0FC3-10F9-43C6-876F-3A803E88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96B00"/>
                </a:solidFill>
              </a:defRPr>
            </a:pPr>
            <a:r>
              <a:rPr sz="1500" b="1" i="0">
                <a:solidFill>
                  <a:srgbClr val="C96B00"/>
                </a:solidFill>
              </a:rPr>
              <a:t>Oferta marginal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D04DC-445B-4308-A410-8CBB696D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46008-5E8B-4CAE-ADF0-054D5CD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Subsidio por bloque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9F931-ECA8-44E0-9437-F94329F1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D710B-E8F5-4517-A5F8-2149C50F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Ingreso del minero, ceteris paribus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4283A-EF16-4E4E-8A6C-3C37852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9437F-86AF-4F77-9335-5047F481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318"/>
                </a:solidFill>
              </a:defRPr>
            </a:pPr>
            <a:r>
              <a:rPr sz="1575" b="0" i="0">
                <a:solidFill>
                  <a:srgbClr val="111318"/>
                </a:solidFill>
              </a:rPr>
              <a:t>Ritmo de emisión 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420DE-2E03-4708-B7E7-7EACA579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Lo que no fija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16A5C-4532-46AA-94F5-FF940A4D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28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7931A"/>
                </a:solidFill>
              </a:defRPr>
            </a:pPr>
            <a:r>
              <a:rPr sz="1500" b="1" i="0">
                <a:solidFill>
                  <a:srgbClr val="F7931A"/>
                </a:solidFill>
              </a:rPr>
              <a:t>Resultado de mercado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366FE-1664-4400-9DC8-6A76E89D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34406-3C40-4DFE-A0BB-2915213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Demanda futura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0D7F8-ED67-4385-B7C0-61580470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05904-3A18-41A9-8B6D-6204D588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Precio en moneda fiat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3E32C-3904-4EEA-BE58-042E3AC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AAAA0-1072-41FF-879B-4C6298F5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Rentabilidad de cada operador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4E62D-349D-43AA-B2AF-8BB2850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El protocolo define cantidades; el mercado forma precios.</a:t>
            </a:r>
          </a:p>
        </p:txBody>
      </p:sp>
    </p:spTree>
    <p:extLst>
      <p:ext uri="{BB962C8B-B14F-4D97-AF65-F5344CB8AC3E}">
        <p14:creationId xmlns:p14="http://schemas.microsoft.com/office/powerpoint/2010/main" val="158082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5C0A5-D17B-44D3-959C-7F91C2B5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PRESUPUESTO DE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63DB8-BCB5-468F-8F5C-91293392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La seguridad minera se financia con subsidio y comisiones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02C06-4A5C-40C5-859D-2FE51671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1BF90-06BD-449A-91A2-5786B5C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CE532-D49B-4866-BED2-1CD2C969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CE536-DE81-47B2-A667-F5D5843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111318"/>
                </a:solidFill>
              </a:defRPr>
            </a:pPr>
            <a:r>
              <a:rPr sz="3600" b="1" i="0">
                <a:solidFill>
                  <a:srgbClr val="111318"/>
                </a:solidFill>
              </a:rPr>
              <a:t>Ingreso por bloque = subsidio + comisiones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C86D2-766A-4656-944B-426A55B1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3714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1318"/>
                </a:solidFill>
              </a:defRPr>
            </a:pPr>
            <a:r>
              <a:rPr sz="2175" b="1" i="0">
                <a:solidFill>
                  <a:srgbClr val="111318"/>
                </a:solidFill>
              </a:rPr>
              <a:t>Subsidio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1318"/>
                </a:solidFill>
              </a:defRPr>
            </a:pPr>
            <a:r>
              <a:rPr sz="2175" b="1" i="0">
                <a:solidFill>
                  <a:srgbClr val="111318"/>
                </a:solidFill>
              </a:rPr>
              <a:t>↓ con los halvings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DB271-02F0-477B-8DD7-61D368D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F7931A"/>
                </a:solidFill>
              </a:defRPr>
            </a:pPr>
            <a:r>
              <a:rPr sz="3900" b="1" i="0">
                <a:solidFill>
                  <a:srgbClr val="F7931A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D0D8A-AB63-4DD1-BE2E-7E7DEA2A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3714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1318"/>
                </a:solidFill>
              </a:defRPr>
            </a:pPr>
            <a:r>
              <a:rPr sz="2175" b="1" i="0">
                <a:solidFill>
                  <a:srgbClr val="111318"/>
                </a:solidFill>
              </a:rPr>
              <a:t>Comisiones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1318"/>
                </a:solidFill>
              </a:defRPr>
            </a:pPr>
            <a:r>
              <a:rPr sz="2175" b="1" i="0">
                <a:solidFill>
                  <a:srgbClr val="111318"/>
                </a:solidFill>
              </a:rPr>
              <a:t>↕ con demanda de bloque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0898F-0F78-4D19-81E1-1AB39C4D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A largo plazo, la seguridad depende cada vez más del mercado de comisiones.</a:t>
            </a:r>
          </a:p>
        </p:txBody>
      </p:sp>
    </p:spTree>
    <p:extLst>
      <p:ext uri="{BB962C8B-B14F-4D97-AF65-F5344CB8AC3E}">
        <p14:creationId xmlns:p14="http://schemas.microsoft.com/office/powerpoint/2010/main" val="865253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68076-51E4-41A5-B59E-79DCC991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MERCADO DE ESPACIO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EDE70-BB42-456A-BB8E-F1C89792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Cuando el bloque es escaso, las comisiones priorizan demanda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2804D-9D61-468A-AB50-9D7DDD87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32BBD-9A3A-405E-8A7E-A98EB6F9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D2118-9F31-41C1-BDE2-280C7A1C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6C694-5A98-4755-B81B-270B968B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8AF7D-D9DD-4135-806C-8059524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2F068-65BA-4898-B408-4AB37C0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39B5D-2F3A-4618-8FFA-26094B53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Demanda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2B3B0-6514-44B2-897E-C58E4C0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Usuarios crean transacciones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A70F4-F890-41DB-84F6-1E35795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9D7CF-26B7-44AC-B26F-16EA4BE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8735C-5F46-47E7-87EA-2336DC12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Tamaño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98E39-B80C-4A67-8362-902F4AA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Cada una consume vbytes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C09F0-19AA-4C79-A0F9-3CBBE36A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57734-4CFB-4B1C-B2DC-78779825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6BF2F-47A7-4E1B-9C2A-5291CCB0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Fee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64D6B-0727-4806-83D3-474536F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sats por vbyte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7A60E-F93A-4641-B2C0-DE59851A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B2502-FA44-401D-865E-8AD2F0E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F9D23-4F3A-4197-97E7-B89C21EF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Selección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E615E-38EB-419B-BD71-B6259A6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Constructores optimizan ingreso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88370-247B-40AE-8D33-05AE912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075D1-E351-4EE8-A431-EE857256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DB1BA-92C5-4B24-9B19-EE73139C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Espera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43527-43F0-473C-A5ED-29FABD9B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Transacciones compiten por inclusión</a:t>
            </a:r>
          </a:p>
        </p:txBody>
      </p:sp>
    </p:spTree>
    <p:extLst>
      <p:ext uri="{BB962C8B-B14F-4D97-AF65-F5344CB8AC3E}">
        <p14:creationId xmlns:p14="http://schemas.microsoft.com/office/powerpoint/2010/main" val="3535890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D1A7A-BDBE-4862-93A0-CB8C1FF9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MODELO DE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C731C-CE62-4092-9D5A-901AD7D2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La seguridad de Bitcoin tiene varias fronteras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9BF68-6329-4FBC-9DDE-DCE20B5D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D3A22-0369-4692-B2D4-8DC82BF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C141-31EA-4812-B4FD-16F3A56C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8C314-B8FE-4D9F-BE8B-9B809E86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F82C4-190F-4424-8D50-7C63C18D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4F2D0-B932-430D-8EC7-AD90C457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Consenso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38BA4-093F-446B-9BD5-472698E2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Reglas, prueba de trabajo y reorganizaciones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10274-0EBE-43CE-BA05-79CCCA33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E039C-6FA5-4F6A-995E-9C67DF68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30804-8C8D-4968-AC15-50BB0593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Criptografía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8A205-0E96-4D3C-9430-4A88034D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Claves, firmas, hashes y aleatoriedad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0982C-81FF-4CC0-992C-B54407E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E0C96-1332-4E70-B059-33C12AFE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657A9-D988-4291-A6C1-E4A1BC9B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268E2-1A95-45CA-8DD3-F25ED61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Conectividad, eclipse, propagación y software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4FDCD-B2C9-4C16-AA39-6337305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D5261-16BB-44B7-8D01-DC29DD53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2C75A-D6B2-4BD2-B10D-AB4A8C7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Custodia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DE18B-BF6C-4563-8309-692A799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Backups, dispositivos, multisig y procesos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674F4-F387-40D8-A70E-2FAA8DD2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2F1FB3-F955-4366-954B-90573EFF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01544-1DE3-4FA8-BE72-DB69DB2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Instituciones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813DE-D1E4-4C4E-803E-DB60612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Exchanges, reguladores y dependencias externas</a:t>
            </a:r>
          </a:p>
        </p:txBody>
      </p:sp>
    </p:spTree>
    <p:extLst>
      <p:ext uri="{BB962C8B-B14F-4D97-AF65-F5344CB8AC3E}">
        <p14:creationId xmlns:p14="http://schemas.microsoft.com/office/powerpoint/2010/main" val="1638016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F69854-1E05-452D-BB61-79ADA4B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MATRIZ DE AMENAZAS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F74BF-A65C-4C27-BDAB-3D64C44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Cada ataque exige una defensa diferente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FBAFD-7360-44B8-B7F2-0993B53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27415-C04C-4335-AA2C-709DCB8E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39FFD-F95E-49D6-B1A4-45547629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F9B85-31D5-4CC6-B300-F645B899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7C2EA-1760-4EBB-A3B0-AAA9162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339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Amenaza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44A4F-1909-4B34-A3A3-96F4AEF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9775"/>
            <a:ext cx="668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Control 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2901D-48B8-4017-BE7E-6474009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C4FD9-1A7E-4CA3-A008-049F134E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2E978-2390-4866-804A-C54E0199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Robo de clave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3108B-6EB7-43AA-A823-F2B7499A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Aislamiento, multisig, backup y proceso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CE489-4BBD-44BC-950C-F96A8CEF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0C93B-B3A8-451E-8C3B-3066B1D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9B531-182F-4730-B32F-F1BC449D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Eclipse de nodo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CCD0E-D1E2-4A1E-A726-7693D1C7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Diversidad de pares y conectividad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4C07E-A228-4444-9FD6-372A30AB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E14B0-1845-4E26-9A05-DD523EFD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004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16B14-4447-46EA-9A15-262C95A4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Doble gasto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222C5-EDD9-491D-ADAF-A6EEB78B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67150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Confirmaciones proporcionales al riesgo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05B34-76B4-45EF-B232-503E8D66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30478-3623-411B-AD10-292B584F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6722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CA407-08E4-417F-AF2F-F9C477F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Ataque mayoritario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82C1C-A7B4-40ED-A166-5D37C36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Hash distribuido y detección social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82651E-F778-4057-B5E2-75B6CF5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1498CD-4137-4FB2-B460-7CECA75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33975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FF886-7CB3-4ACD-A1AB-4B845A14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Fallo de exchange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DD22D-8201-4EB0-9296-E8E72C5F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00650"/>
            <a:ext cx="668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</a:defRPr>
            </a:pPr>
            <a:r>
              <a:rPr sz="1425" b="0" i="0">
                <a:solidFill>
                  <a:srgbClr val="667085"/>
                </a:solidFill>
              </a:rPr>
              <a:t>Gestión de contraparte o autocustodia</a:t>
            </a:r>
          </a:p>
        </p:txBody>
      </p:sp>
    </p:spTree>
    <p:extLst>
      <p:ext uri="{BB962C8B-B14F-4D97-AF65-F5344CB8AC3E}">
        <p14:creationId xmlns:p14="http://schemas.microsoft.com/office/powerpoint/2010/main" val="1518691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1B99B-307B-4FFD-8B95-B73E8DB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RECUPERACIÓN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D89DD-8726-4AEE-A640-0A817504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Un backup útil debe restaurarse, no solo existir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66087-1FA6-44B7-BCB1-19D3AFE3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07F24-7DCD-4CC6-A559-376C3663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CA8C-A202-430D-BE4F-E13A56DF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09/16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98217-39EB-4023-AB18-2816715A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C15D9-0FB1-4512-8099-29A40256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2FB8A-1195-4AFF-9CB5-248D8C9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Registrar seed o material equivalente sin exposición digital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C63DF-D38F-41C7-848C-E47F4FA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155C1-FB5C-4F8E-BCA3-75B6559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D64B8-8360-4C5B-ABD3-7A3B788E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7118A-083F-4ED6-A99D-7B6B1188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Conservar descriptores y datos de multisig cuando correspondan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E4306-8DCD-46C4-BF5E-E4395A5D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B9E1C-F969-4C69-947D-E557746A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619CB-D678-460A-967F-4EE17D81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61511-F197-4BB8-AF0A-2E9FE3F8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Separar copias frente a robo y desastre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AE5E6-6597-4635-BAF6-016DEAA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E2F91-E074-47A1-B80C-7148A9EF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D0215-6AF3-43F4-A34E-4A6EA82E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286F2-A0F2-4529-83EB-67E2EA18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Probar restauración con procedimiento documentado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08D50-BB45-4C59-B09F-3BAD85F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467E3-9126-4531-AE17-DBBA73A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A4D16-860A-4AD9-B8C4-05DF7F41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8F92A-D17B-44DD-8B0A-049670C0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Planificar acceso legítimo y sucesión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53820-9557-4999-A179-1776556F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La disponibilidad también es una propiedad de seguridad.</a:t>
            </a:r>
          </a:p>
        </p:txBody>
      </p:sp>
    </p:spTree>
    <p:extLst>
      <p:ext uri="{BB962C8B-B14F-4D97-AF65-F5344CB8AC3E}">
        <p14:creationId xmlns:p14="http://schemas.microsoft.com/office/powerpoint/2010/main" val="2032860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7B499-17F6-4B13-BE7F-A5501A72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ESCALABILIDAD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99A70-9A5A-4050-BAE7-1D942A45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Aumentar capacidad modifica costos y supuestos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D1E97-7D0B-4DD0-AD8D-A3F005F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2ED76-E291-4DC0-BAD3-978D0618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BA4EA-5DF1-4F10-9CDD-50E34D5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D6FF1-BE87-495A-973A-C1AF28E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CDC9A-3213-4337-B149-5842351D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00EA3-3302-48E9-A452-60740109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CAA71-1CB2-4D21-B041-FD0A447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DC341-34C2-4A9A-A883-E81295C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386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1318"/>
                </a:solidFill>
              </a:defRPr>
            </a:pPr>
            <a:r>
              <a:rPr sz="2025" b="1" i="0">
                <a:solidFill>
                  <a:srgbClr val="111318"/>
                </a:solidFill>
              </a:rPr>
              <a:t>Capacidad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90234-D77D-4CBD-89CC-303438BC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62500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Más transacciones y menor espera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1D264-1C42-40F3-B4C2-243FB89E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62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8D8F8-985B-4A29-9D6E-F6B319E7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3336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Verificabilidad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15EE5-D3E3-4B55-A2B8-87F173E6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57500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D4D7DC"/>
                </a:solidFill>
              </a:defRPr>
            </a:pPr>
            <a:r>
              <a:rPr sz="1350" b="0" i="0">
                <a:solidFill>
                  <a:srgbClr val="D4D7DC"/>
                </a:solidFill>
              </a:rPr>
              <a:t>Recursos accesibles para ejecutar un nodo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4500B-35B7-4F19-AAA4-58883D3D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67125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89E2B-F206-43F0-9061-217517F4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3862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Descentralización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47237-63CE-400F-94E8-AAE952DB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Diversidad de operadores y rutas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EB4F5-3CA8-4325-9696-4338C8C5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09B87-F8A1-4A3C-839D-3D0DB9AF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00550"/>
            <a:ext cx="114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Diseño por capas</a:t>
            </a:r>
          </a:p>
        </p:txBody>
      </p:sp>
    </p:spTree>
    <p:extLst>
      <p:ext uri="{BB962C8B-B14F-4D97-AF65-F5344CB8AC3E}">
        <p14:creationId xmlns:p14="http://schemas.microsoft.com/office/powerpoint/2010/main" val="11327889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671C1-641C-40DF-B0A6-D2BB7F4E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SEGWIT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9D22F-96E3-4DBB-8B81-398DC2F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SegWit separó testigos y cambió cómo se mide el bloque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96D84-A7E1-491A-A6A3-F912CCD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60EDC-0517-4903-A284-CAC1EEFD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978CE-AF8B-4FF7-ABE0-67FAFB73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0B11D-6AFE-467D-A65C-9E2EA72A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456A6-E8D1-4C03-8399-55E1397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Cambio técnico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638B0-E86B-48F7-BE08-81AD21F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7931A"/>
                </a:solidFill>
              </a:defRPr>
            </a:pPr>
            <a:r>
              <a:rPr sz="2175" b="1" i="0">
                <a:solidFill>
                  <a:srgbClr val="F7931A"/>
                </a:solidFill>
              </a:rPr>
              <a:t>Efecto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F132D-A746-44E4-B923-E546FE8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24433-7E8A-48B4-ACB1-332E7AFD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Witness fuera de la serialización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81F2D-4602-406A-A421-24DBD1E4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93BDE-1064-43D8-BF63-A826D944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Nuevo wtxid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374EF-8D2B-416F-A169-5B343B40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7D14F-AD97-4F14-BB91-E4B74D4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Peso = base × 3 + total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93A26-C10A-4DC3-A8AE-0B99A311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0DC3D-7AD2-4F67-8E8A-2EDF5D1F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Corrige maleabilidad de terceros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EC3B8-5677-458A-996A-86A0C90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81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77766-26F1-4EF9-94A1-2E53981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86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Aumenta capacidad efectiva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FE27F9-3BAC-41A2-99BE-9A53448D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28BE0-8CDB-47AE-AC67-76998642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5287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11318"/>
                </a:solidFill>
              </a:defRPr>
            </a:pPr>
            <a:r>
              <a:rPr sz="1725" b="0" i="0">
                <a:solidFill>
                  <a:srgbClr val="111318"/>
                </a:solidFill>
              </a:rPr>
              <a:t>Habilita versiones witness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C38C6-5DF0-4265-B87D-60DEB8C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1318"/>
                </a:solidFill>
              </a:defRPr>
            </a:pPr>
            <a:r>
              <a:rPr sz="1650" b="1" i="0">
                <a:solidFill>
                  <a:srgbClr val="111318"/>
                </a:solidFill>
              </a:rPr>
              <a:t>P2WPKH usa un programa witness de 20 bytes; P2WSH, uno de 32 bytes.</a:t>
            </a:r>
          </a:p>
        </p:txBody>
      </p:sp>
    </p:spTree>
    <p:extLst>
      <p:ext uri="{BB962C8B-B14F-4D97-AF65-F5344CB8AC3E}">
        <p14:creationId xmlns:p14="http://schemas.microsoft.com/office/powerpoint/2010/main" val="39908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5AE04C-2131-46A0-AE5D-22EF9C2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TAPROOT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30969-0172-4E3E-BC27-77B3F3C6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Taproot combina firmas Schnorr y rutas de gasto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3F27B-828A-4A6D-BE31-B38FDF80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B42BD-2B89-460A-81A3-6BCE625D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76A5C-7A1E-4700-93F9-090FA282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1FBF6-FBB6-4B00-B1D7-B37F24A4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7D3E2-48F2-47A2-979C-59875B7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CCE35-618D-4A3E-931B-F75F1CD9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669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BIP340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71146-1E4E-4906-B692-E60BF25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669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Firmas Schnorr sobre secp256k1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62278-FCD9-4F84-A1D6-AE44165B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F1F18-C5E3-4F55-8584-502C048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2951D-534B-41DE-9522-E4676E1D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BIP341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9478D-83BB-4C13-92A2-AD1B4598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479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Salida SegWit v1 y compromiso Taproot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9161F-5D84-45E7-A187-ECBEC944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630CD-D8F3-404C-AE6A-737113C6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F7E12-988B-401C-9E5A-0D1A7B4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Key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F90E2-BDD2-4BA2-9C97-B933DCD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Gasto cooperativo eficiente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8012F-74DE-49E7-92D4-378D9499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20FAA-B9C8-46C0-9F09-C5C32257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89DCD-C5E2-4190-A329-39B6579D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Script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ACA05-A81A-4FB2-8512-E128E60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1007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Se revela solo la rama utilizada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69FB1-7425-43F1-AB43-5D4D76BA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A7A12-AB5A-4894-8A6D-44E53ACB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938ED-2263-4FEA-B1D3-77E50B07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91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318"/>
                </a:solidFill>
              </a:defRPr>
            </a:pPr>
            <a:r>
              <a:rPr sz="1875" b="1" i="0">
                <a:solidFill>
                  <a:srgbClr val="111318"/>
                </a:solidFill>
              </a:rPr>
              <a:t>Bech32m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F4B2F-9DBC-4F44-9AEB-AF7CB9A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67085"/>
                </a:solidFill>
              </a:defRPr>
            </a:pPr>
            <a:r>
              <a:rPr sz="1575" b="0" i="0">
                <a:solidFill>
                  <a:srgbClr val="667085"/>
                </a:solidFill>
              </a:rPr>
              <a:t>Codificación bc1p para witness v1+</a:t>
            </a:r>
          </a:p>
        </p:txBody>
      </p:sp>
    </p:spTree>
    <p:extLst>
      <p:ext uri="{BB962C8B-B14F-4D97-AF65-F5344CB8AC3E}">
        <p14:creationId xmlns:p14="http://schemas.microsoft.com/office/powerpoint/2010/main" val="5107119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BF8FB-1D02-4431-B8B5-7EF5AA3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LIGHTNING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0103A-02AD-4666-8DD0-34E1976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Los canales desplazan pagos repetidos fuera de la cadena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798BB-322E-40EE-826F-4D767B3D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5050E-9501-4472-8B6A-18A8163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17CF2-EACC-46F5-8EA2-E3FD5271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C02F6-910E-4BEC-B6C4-35F2D007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880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30E9F-774E-49D4-87A4-A86B04B2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0B262-B9F8-4531-8038-5C3F6AB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77BAF-9E19-47D1-A262-7E5EFCBE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Abrir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1C3AF-566D-48C5-9AD8-0F6D4CDD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Una transacción financia el canal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E50E0-1D92-4D77-BBF1-B3D6589A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4B471-5A69-4396-8099-EA2195AC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3B4DF-D75D-40F8-A4D9-0E677A89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Actualizar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095C9-6BDF-480D-AC15-3825F0C9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Partes intercambian nuevos estados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935DC-0482-423F-9D49-C4B562E1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6CDFF-9AF8-4061-89A1-FA7E5852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F16A2-5088-4D93-9AB1-E147C835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Enrutar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E3160-BF6D-4616-81E8-3A0528D0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HTLC conectan varios canales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FBB2D-FB7B-4761-8468-0458DD5E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7F710-E2AD-41C0-BADD-2719C160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03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6760C-8066-4F3E-AE66-728CAFFA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1475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Cerrar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611EF-A331-49F4-94E9-E9FE1C06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2019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667085"/>
                </a:solidFill>
              </a:defRPr>
            </a:pPr>
            <a:r>
              <a:rPr sz="1350" b="0" i="0">
                <a:solidFill>
                  <a:srgbClr val="667085"/>
                </a:solidFill>
              </a:rPr>
              <a:t>El estado final vuelve a la cadena</a:t>
            </a:r>
          </a:p>
        </p:txBody>
      </p:sp>
    </p:spTree>
    <p:extLst>
      <p:ext uri="{BB962C8B-B14F-4D97-AF65-F5344CB8AC3E}">
        <p14:creationId xmlns:p14="http://schemas.microsoft.com/office/powerpoint/2010/main" val="393883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83918-2E0A-4BFE-9E79-5AC71C17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EVOLUCIÓN DEL PROTOCOLO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A2684-037A-4BA5-B08D-45DD784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318"/>
                </a:solidFill>
              </a:defRPr>
            </a:pPr>
            <a:r>
              <a:rPr sz="3150" b="1" i="0">
                <a:solidFill>
                  <a:srgbClr val="111318"/>
                </a:solidFill>
              </a:rPr>
              <a:t>Actualizar Bitcoin requiere coordinación sin un directorio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FF3DC-D672-4317-8667-9E672B53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687C3-2E4D-447D-83EB-E4F5E11D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B1B49-F9E5-4EE8-98E5-ECCF5685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E4AC7-1B04-490D-8D61-6498F6C0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C100C-517D-428B-B2D3-A5334A1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EEED4-0846-4980-B166-6B8ED5B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4FA4C-C5F7-4B56-B75C-15199F2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099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Autores BIP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3ED53-71D8-4FBE-A4FB-0EDFD41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38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029C0-8FB1-44B6-91EA-7529964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38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DF763-286D-48E3-8E2A-3BCDF1A5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Desarrolladores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94B2C-6C81-4971-9011-CB423B20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CD527-1CAD-4D6C-9CB8-3D243F9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58C32-BC31-42B1-AC74-6B17557F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Operadores de nodos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3485E-0DCF-4BC2-8140-BD9085C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3B3B8-0C60-4E09-B586-8CCBFB1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38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12151-261F-4EA3-A80D-CB8EC78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Mineros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A513A-23FA-449F-A32A-FBEFFEB3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C09B9-F9F2-4985-B932-765CAE92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D59D0-87BE-4153-8929-8A72967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Wallets y servicios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F2B0F-45C6-4C31-B2A4-0CE5ED57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38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6E6F2-D5E4-4B47-AA2F-2CB6BBA3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38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135F2-37BF-4960-881B-2D0C8D36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099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318"/>
                </a:solidFill>
              </a:defRPr>
            </a:pPr>
            <a:r>
              <a:rPr sz="1275" b="1" i="0">
                <a:solidFill>
                  <a:srgbClr val="111318"/>
                </a:solidFill>
              </a:rPr>
              <a:t>Usuarios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8BE87-14D9-4DCB-A1C3-27703F1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19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4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Soft fork: restringe reglas y conserva compatibilidad para nodos antiguos.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03754B-AD6D-4353-882E-A594903D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519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1318"/>
                </a:solidFill>
              </a:defRPr>
            </a:pPr>
            <a:r>
              <a:rPr sz="1500" b="1" i="0">
                <a:solidFill>
                  <a:srgbClr val="111318"/>
                </a:solidFill>
              </a:rPr>
              <a:t>Hard fork: amplía o cambia reglas de forma incompatible.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3CB4F-5FAA-44A0-A525-CCD651B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318"/>
                </a:solidFill>
              </a:defRPr>
            </a:pPr>
            <a:r>
              <a:rPr sz="1575" b="1" i="0">
                <a:solidFill>
                  <a:srgbClr val="111318"/>
                </a:solidFill>
              </a:rPr>
              <a:t>Código publicado no equivale a adopción automática.</a:t>
            </a:r>
          </a:p>
        </p:txBody>
      </p:sp>
    </p:spTree>
    <p:extLst>
      <p:ext uri="{BB962C8B-B14F-4D97-AF65-F5344CB8AC3E}">
        <p14:creationId xmlns:p14="http://schemas.microsoft.com/office/powerpoint/2010/main" val="8676481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93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702A9-DA8F-44FC-822E-9F8DE22C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11318"/>
                </a:solidFill>
              </a:defRPr>
            </a:pPr>
            <a:r>
              <a:rPr sz="1125" b="1" i="0">
                <a:solidFill>
                  <a:srgbClr val="111318"/>
                </a:solidFill>
              </a:rPr>
              <a:t>CIERRE INTEGRADOR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D0D33-1D81-44CA-97D6-D50533A4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 i="0">
                <a:solidFill>
                  <a:srgbClr val="111318"/>
                </a:solidFill>
              </a:defRPr>
            </a:pPr>
            <a:r>
              <a:rPr sz="3525" b="1" i="0">
                <a:solidFill>
                  <a:srgbClr val="111318"/>
                </a:solidFill>
              </a:rPr>
              <a:t>Evalúe una afirmación sobre Bitcoin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FDE4B-A98E-4300-B1F7-699DACCD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C8960-EF6E-42EA-99FE-9D3B3AEF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67085"/>
                </a:solidFill>
              </a:defRPr>
            </a:pPr>
            <a:r>
              <a:rPr sz="975" b="0" i="0">
                <a:solidFill>
                  <a:srgbClr val="667085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C9A61-3633-478D-8AFC-1807B0C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667085"/>
                </a:solidFill>
              </a:defRPr>
            </a:pPr>
            <a:r>
              <a:rPr sz="975" b="1" i="0">
                <a:solidFill>
                  <a:srgbClr val="667085"/>
                </a:solidFill>
              </a:rPr>
              <a:t>BITCOIN 04 · 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E333F-D115-40AB-9F00-92FAC19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CB125-AA5B-4349-8B05-0070B284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“Bitcoin es inmutable, anónimo y procesa un bloque cada diez minutos.”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AFC09-E921-4E60-9904-41A6571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703E-801D-446F-A09E-FDC7B61B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26945-6C75-484F-AF68-095C03EB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813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Reescriba cada término con precisión técnica.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82E35-E02E-4FED-BC34-18F5B377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2D160-198E-4912-B950-AE50197B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E7D0E-544C-43D1-9EF0-68D4C6DC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814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Indique qué capa y qué riesgo intervienen.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04D77-FE83-40EC-8AD8-FDFB6027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3330A-93CE-4457-A2BC-34ADDEA7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C96B00"/>
                </a:solidFill>
              </a:defRPr>
            </a:pPr>
            <a:r>
              <a:rPr sz="1575" b="1" i="0">
                <a:solidFill>
                  <a:srgbClr val="C96B00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23FD1-70F7-47D9-8E55-7CFB76E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318"/>
                </a:solidFill>
              </a:defRPr>
            </a:pPr>
            <a:r>
              <a:rPr sz="1800" b="1" i="0">
                <a:solidFill>
                  <a:srgbClr val="111318"/>
                </a:solidFill>
              </a:rPr>
              <a:t>Proponga una evidencia observable para sostener la corrección.</a:t>
            </a:r>
          </a:p>
        </p:txBody>
      </p:sp>
    </p:spTree>
    <p:extLst>
      <p:ext uri="{BB962C8B-B14F-4D97-AF65-F5344CB8AC3E}">
        <p14:creationId xmlns:p14="http://schemas.microsoft.com/office/powerpoint/2010/main" val="20934552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69DE5-F726-43C7-9140-0F68645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7931A"/>
                </a:solidFill>
              </a:defRPr>
            </a:pPr>
            <a:r>
              <a:rPr sz="1125" b="1" i="0">
                <a:solidFill>
                  <a:srgbClr val="F7931A"/>
                </a:solidFill>
              </a:rPr>
              <a:t>CONCLUSIÓN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8BCC7-F32A-416E-AADE-B30F3E18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Bitcoin es un equilibrio entre criptografía, economía y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90A46-EE59-4DF6-97E7-71C9525A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F7E36-E8D7-4B65-AAF5-D71BF423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C9CDD3"/>
                </a:solidFill>
              </a:defRPr>
            </a:pPr>
            <a:r>
              <a:rPr sz="975" b="0" i="0">
                <a:solidFill>
                  <a:srgbClr val="C9CDD3"/>
                </a:solidFill>
              </a:rPr>
              <a:t>Material elaborado por el profesor Sergio Gevatschnaider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2827-0513-408B-A6AE-8B94D2A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77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C9CDD3"/>
                </a:solidFill>
              </a:defRPr>
            </a:pPr>
            <a:r>
              <a:rPr sz="975" b="1" i="0">
                <a:solidFill>
                  <a:srgbClr val="C9CDD3"/>
                </a:solidFill>
              </a:rPr>
              <a:t>BITCOIN 04 · 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F2600-4695-4713-B629-895C8E4D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261F4-9E68-46A9-8726-4ED4DCA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Reglas previsibles no eliminan riesgo de mercado.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51DBF-7E61-4826-BB9E-3DB0E72C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0A7F4-7CFD-4F41-9A1B-C30F05F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CDB51-D77F-4355-873A-32964887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La seguridad depende de consenso y custodia.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E8283-1366-42C1-B01D-E1E086D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400" y="21907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3A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680E5-4AD9-43B4-B180-B2B48281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2143125"/>
            <a:ext cx="318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7931A"/>
                </a:solidFill>
              </a:defRPr>
            </a:pPr>
            <a:r>
              <a:rPr sz="4050" b="1" i="0">
                <a:solidFill>
                  <a:srgbClr val="F7931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3BC08-235A-4E06-9F16-EF9C4DEA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950" y="3143250"/>
            <a:ext cx="318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Escalar por capas agrega capacidad y nuevas decisiones.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F9997-DCA1-4C28-84E2-08E99C74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D4D7DC"/>
                </a:solidFill>
              </a:defRPr>
            </a:pPr>
            <a:r>
              <a:rPr sz="1650" b="1" i="0">
                <a:solidFill>
                  <a:srgbClr val="D4D7DC"/>
                </a:solidFill>
              </a:rPr>
              <a:t>Pregunta final: ¿qué propiedad de Bitcoin está respaldada por reglas y cuál depende de incentivos?</a:t>
            </a:r>
          </a:p>
        </p:txBody>
      </p:sp>
    </p:spTree>
    <p:extLst>
      <p:ext uri="{BB962C8B-B14F-4D97-AF65-F5344CB8AC3E}">
        <p14:creationId xmlns:p14="http://schemas.microsoft.com/office/powerpoint/2010/main" val="860537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2026-08-31T10:51:45.9950000Z</dcterms:created>
  <dcterms:modified xsi:type="dcterms:W3CDTF">2026-08-31T10:51:45.9950000Z</dcterms:modified>
</coreProperties>
</file>