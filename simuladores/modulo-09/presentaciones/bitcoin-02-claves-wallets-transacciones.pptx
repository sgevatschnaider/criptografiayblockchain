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5b787c37649a3" /><Relationship Type="http://schemas.openxmlformats.org/officeDocument/2006/relationships/extended-properties" Target="/docProps/app.xml" Id="R1e8a08b4e0774742" /><Relationship Type="http://schemas.openxmlformats.org/officeDocument/2006/relationships/officeDocument" Target="/ppt/presentation.xml" Id="R665cfc9eba3246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ae61ffa0ff44fd"/>
  </p:sldMasterIdLst>
  <p:sldIdLst>
    <p:sldId xmlns:r="http://schemas.openxmlformats.org/officeDocument/2006/relationships" id="256" r:id="Racc38deae0be41cd"/>
    <p:sldId xmlns:r="http://schemas.openxmlformats.org/officeDocument/2006/relationships" id="257" r:id="R22b78ed1645c4304"/>
    <p:sldId xmlns:r="http://schemas.openxmlformats.org/officeDocument/2006/relationships" id="258" r:id="R5439184c37de4bcb"/>
    <p:sldId xmlns:r="http://schemas.openxmlformats.org/officeDocument/2006/relationships" id="259" r:id="R903839388d774979"/>
    <p:sldId xmlns:r="http://schemas.openxmlformats.org/officeDocument/2006/relationships" id="260" r:id="R6e82c85da1a44671"/>
    <p:sldId xmlns:r="http://schemas.openxmlformats.org/officeDocument/2006/relationships" id="261" r:id="R947f2bf854054c09"/>
    <p:sldId xmlns:r="http://schemas.openxmlformats.org/officeDocument/2006/relationships" id="262" r:id="Rec85d9a724884bb0"/>
    <p:sldId xmlns:r="http://schemas.openxmlformats.org/officeDocument/2006/relationships" id="263" r:id="R0a02ce5880834bb7"/>
    <p:sldId xmlns:r="http://schemas.openxmlformats.org/officeDocument/2006/relationships" id="264" r:id="R9825c61fcc184549"/>
    <p:sldId xmlns:r="http://schemas.openxmlformats.org/officeDocument/2006/relationships" id="265" r:id="R20b0b6b82d97422d"/>
    <p:sldId xmlns:r="http://schemas.openxmlformats.org/officeDocument/2006/relationships" id="266" r:id="Rd17a456e680f47c5"/>
    <p:sldId xmlns:r="http://schemas.openxmlformats.org/officeDocument/2006/relationships" id="267" r:id="Rbd8e1c8b76b94787"/>
    <p:sldId xmlns:r="http://schemas.openxmlformats.org/officeDocument/2006/relationships" id="268" r:id="R84d6261ac2584992"/>
    <p:sldId xmlns:r="http://schemas.openxmlformats.org/officeDocument/2006/relationships" id="269" r:id="R6cf2ade75efc4bd8"/>
    <p:sldId xmlns:r="http://schemas.openxmlformats.org/officeDocument/2006/relationships" id="270" r:id="Rff9ced52d9664116"/>
    <p:sldId xmlns:r="http://schemas.openxmlformats.org/officeDocument/2006/relationships" id="271" r:id="Re85fe1a90aea4d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f243c17f34517" /><Relationship Type="http://schemas.openxmlformats.org/officeDocument/2006/relationships/slideMaster" Target="/ppt/slideMasters/slideMaster1.xml" Id="R6eae61ffa0ff44fd" /><Relationship Type="http://schemas.openxmlformats.org/officeDocument/2006/relationships/presProps" Target="/ppt/presProps.xml" Id="Rb246c2fb936a41fb" /><Relationship Type="http://schemas.openxmlformats.org/officeDocument/2006/relationships/tableStyles" Target="/ppt/tableStyles.xml" Id="R99c9cf004d01458f" /><Relationship Type="http://schemas.openxmlformats.org/officeDocument/2006/relationships/slide" Target="/ppt/slides/slide1.xml" Id="Racc38deae0be41cd" /><Relationship Type="http://schemas.openxmlformats.org/officeDocument/2006/relationships/slide" Target="/ppt/slides/slide2.xml" Id="R22b78ed1645c4304" /><Relationship Type="http://schemas.openxmlformats.org/officeDocument/2006/relationships/slide" Target="/ppt/slides/slide3.xml" Id="R5439184c37de4bcb" /><Relationship Type="http://schemas.openxmlformats.org/officeDocument/2006/relationships/slide" Target="/ppt/slides/slide4.xml" Id="R903839388d774979" /><Relationship Type="http://schemas.openxmlformats.org/officeDocument/2006/relationships/slide" Target="/ppt/slides/slide5.xml" Id="R6e82c85da1a44671" /><Relationship Type="http://schemas.openxmlformats.org/officeDocument/2006/relationships/slide" Target="/ppt/slides/slide6.xml" Id="R947f2bf854054c09" /><Relationship Type="http://schemas.openxmlformats.org/officeDocument/2006/relationships/slide" Target="/ppt/slides/slide7.xml" Id="Rec85d9a724884bb0" /><Relationship Type="http://schemas.openxmlformats.org/officeDocument/2006/relationships/slide" Target="/ppt/slides/slide8.xml" Id="R0a02ce5880834bb7" /><Relationship Type="http://schemas.openxmlformats.org/officeDocument/2006/relationships/slide" Target="/ppt/slides/slide9.xml" Id="R9825c61fcc184549" /><Relationship Type="http://schemas.openxmlformats.org/officeDocument/2006/relationships/slide" Target="/ppt/slides/slide10.xml" Id="R20b0b6b82d97422d" /><Relationship Type="http://schemas.openxmlformats.org/officeDocument/2006/relationships/slide" Target="/ppt/slides/slide11.xml" Id="Rd17a456e680f47c5" /><Relationship Type="http://schemas.openxmlformats.org/officeDocument/2006/relationships/slide" Target="/ppt/slides/slide12.xml" Id="Rbd8e1c8b76b94787" /><Relationship Type="http://schemas.openxmlformats.org/officeDocument/2006/relationships/slide" Target="/ppt/slides/slide13.xml" Id="R84d6261ac2584992" /><Relationship Type="http://schemas.openxmlformats.org/officeDocument/2006/relationships/slide" Target="/ppt/slides/slide14.xml" Id="R6cf2ade75efc4bd8" /><Relationship Type="http://schemas.openxmlformats.org/officeDocument/2006/relationships/slide" Target="/ppt/slides/slide15.xml" Id="Rff9ced52d9664116" /><Relationship Type="http://schemas.openxmlformats.org/officeDocument/2006/relationships/slide" Target="/ppt/slides/slide16.xml" Id="Re85fe1a90aea4d1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e7afd0943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42056fd8524480" /><Relationship Type="http://schemas.openxmlformats.org/officeDocument/2006/relationships/slideLayout" Target="/ppt/slideLayouts/slideLayout1.xml" Id="Ra9b2a084d37940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b2a084d37940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e0e2d748b43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de35179054a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89de2bbd64f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86492ebf847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1485f9af242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cecc86c644f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8f96f43fe40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febd0237846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f3ef68dc94a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903b14c1748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2b055134d49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5d819377045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f2daa41c544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b7d38f19e4b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41dfb0e244e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b0c86fe7048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7BFF4-7BD1-484C-8C62-65D13CE0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A6780-715F-4688-8B96-E536F5EF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7931A"/>
                </a:solidFill>
              </a:defRPr>
            </a:pPr>
            <a:r>
              <a:rPr sz="1275" b="1" i="0">
                <a:solidFill>
                  <a:srgbClr val="F7931A"/>
                </a:solidFill>
              </a:rPr>
              <a:t>Colección didáctica · 2 de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1E75B-46F9-452F-B4AC-5179C733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FFFFFF"/>
                </a:solidFill>
              </a:defRPr>
            </a:pPr>
            <a:r>
              <a:rPr sz="5850" b="1" i="0">
                <a:solidFill>
                  <a:srgbClr val="FFFFFF"/>
                </a:solidFill>
              </a:rPr>
              <a:t>BITCOIN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1E882-3683-4465-B5A8-6188AAEC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Claves, wallets y transacciones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27D8D-518C-4934-99FD-5D16323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C9CDD3"/>
                </a:solidFill>
              </a:defRPr>
            </a:pPr>
            <a:r>
              <a:rPr sz="1800" b="0" i="0">
                <a:solidFill>
                  <a:srgbClr val="C9CDD3"/>
                </a:solidFill>
              </a:rPr>
              <a:t>De la clave privada al pago validado por la 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A1BAB-B146-4189-A636-D27B15C4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52550"/>
            <a:ext cx="302895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89E07-29D3-4C58-9FA9-08DE68B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04925"/>
            <a:ext cx="30289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900" b="1" i="0">
                <a:solidFill>
                  <a:srgbClr val="FFFFFF"/>
                </a:solidFill>
              </a:defRPr>
            </a:pPr>
            <a:r>
              <a:rPr sz="6900" b="1" i="0">
                <a:solidFill>
                  <a:srgbClr val="FFFFFF"/>
                </a:solidFill>
              </a:rPr>
              <a:t>BTC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6E553-5953-438A-BBE7-4FBC255D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43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850" b="1" i="0">
                <a:solidFill>
                  <a:srgbClr val="7B8088"/>
                </a:solidFill>
              </a:defRPr>
            </a:pPr>
            <a:r>
              <a:rPr sz="2850" b="1" i="0">
                <a:solidFill>
                  <a:srgbClr val="7B808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BA996-570B-445C-A737-B5E3D73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550E3-F4F8-4E5B-AE5A-3617DB01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9CDD3"/>
                </a:solidFill>
              </a:defRPr>
            </a:pPr>
            <a:r>
              <a:rPr sz="975" b="0" i="0">
                <a:solidFill>
                  <a:srgbClr val="C9CDD3"/>
                </a:solidFill>
              </a:rPr>
              <a:t>Material elaborado por el profesor Sergio Gevatschnaider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6C720-50EB-4909-BDB6-1A5B72F2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C9CDD3"/>
                </a:solidFill>
              </a:defRPr>
            </a:pPr>
            <a:r>
              <a:rPr sz="975" b="1" i="0">
                <a:solidFill>
                  <a:srgbClr val="C9CDD3"/>
                </a:solidFill>
              </a:rPr>
              <a:t>BITCOIN 02 · 01/16</a:t>
            </a:r>
          </a:p>
        </p:txBody>
      </p:sp>
    </p:spTree>
    <p:extLst>
      <p:ext uri="{BB962C8B-B14F-4D97-AF65-F5344CB8AC3E}">
        <p14:creationId xmlns:p14="http://schemas.microsoft.com/office/powerpoint/2010/main" val="845430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A8DAD-A3E4-4DBB-90D1-38F17FC6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PREGUNTA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9A410-A83A-4DC9-99E4-CCC1A942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¿Cómo controla Bitcoin quién puede gastar cada salida?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756C2-6F36-4AB1-9C43-16167199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40F17-EC2A-4C14-AAAF-2E4C576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C125A-9922-44B4-8214-5F1EFA76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02/16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AAF7C-005D-4998-9A32-61C50E7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</a:defRPr>
            </a:pPr>
            <a:r>
              <a:rPr sz="3600" b="1" i="0">
                <a:solidFill>
                  <a:srgbClr val="111318"/>
                </a:solidFill>
              </a:rPr>
              <a:t>La red no mantiene cuentas: verifica claves, firmas y UTXO.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98245-0E5C-4A07-A8DD-FB25A6B2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45152-FE3C-474E-800B-04DF5813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667085"/>
                </a:solidFill>
              </a:defRPr>
            </a:pPr>
            <a:r>
              <a:rPr sz="1875" b="0" i="0">
                <a:solidFill>
                  <a:srgbClr val="667085"/>
                </a:solidFill>
              </a:rPr>
              <a:t>Una wallet administra secretos y construye transacciones; cada nodo comprueba autorización, existencia y conservación de valor.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143B6-0D0D-4DEB-A393-9B2673EC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895B2-E573-4CE4-874F-0AA83133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Claves 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A5257-7D78-4ECD-AC89-040264E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77B29-01E4-4BC3-8972-E52A23F9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4B825-B282-4961-8AAC-7D01F56A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UTXO y valor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E399F-5886-4F0B-8676-2E0017E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12AD9-C4C0-4B83-86FB-9D577C70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B03B7-9384-479B-B41A-089AD1E4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Verificación independiente</a:t>
            </a:r>
          </a:p>
        </p:txBody>
      </p:sp>
    </p:spTree>
    <p:extLst>
      <p:ext uri="{BB962C8B-B14F-4D97-AF65-F5344CB8AC3E}">
        <p14:creationId xmlns:p14="http://schemas.microsoft.com/office/powerpoint/2010/main" val="255864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3D885-C5BC-4CA8-8EB1-FC2090F3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CLAVES ASIMÉTRICAS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55C62-C87D-488A-85C7-376A246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Controlar un UTXO exige demostrar autorización criptográfica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C3443-E585-483F-B126-549652FC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B7BCC-1EDC-4C65-84E5-F0534D95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44CEA-C594-49E0-8132-FBA36BBE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03/16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7C2F9-94CA-4A14-A6F1-5C61CB97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0AF12-6BF3-430A-A8CC-192FDCF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A4BD2-A900-4C3C-AA18-7720CF82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318"/>
                </a:solidFill>
              </a:defRPr>
            </a:pPr>
            <a:r>
              <a:rPr sz="2325" b="1" i="0">
                <a:solidFill>
                  <a:srgbClr val="111318"/>
                </a:solidFill>
              </a:rPr>
              <a:t>Clave privada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36121-CA09-415F-ADD5-FA65BF5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96B00"/>
                </a:solidFill>
              </a:defRPr>
            </a:pPr>
            <a:r>
              <a:rPr sz="1500" b="1" i="0">
                <a:solidFill>
                  <a:srgbClr val="C96B00"/>
                </a:solidFill>
              </a:rPr>
              <a:t>Secreto de 256 bits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0488C-C425-4468-947C-85258CA5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57350-8264-4C24-AE72-794C5DC3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Genera firmas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AAE94-8277-42D2-9899-D6E11834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962BE-BB1F-4264-93ED-49783E2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Debe mantenerse secreta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2837C-480E-43C0-A702-31981E0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0EDDA-C736-4B13-A6E2-48F7B910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Autoriza gastos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19A1C-B19E-4118-9973-83C0CAB0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Clave pública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87587-B6F8-4804-B366-8662FDF7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7931A"/>
                </a:solidFill>
              </a:defRPr>
            </a:pPr>
            <a:r>
              <a:rPr sz="1500" b="1" i="0">
                <a:solidFill>
                  <a:srgbClr val="F7931A"/>
                </a:solidFill>
              </a:rPr>
              <a:t>Derivada en secp256k1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D5F84-D4C7-4E82-B26F-8730E8BE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35DD6-2695-4716-8608-11C0056A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Verifica firmas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4F76D-C561-409F-8BE6-DA758AF8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C3356-6BE3-4F22-9687-C15DA64B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Puede compartirse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184DC-7BAA-40F3-AA07-E3C7F9A8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0A703-A764-4806-B053-8026C865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No revela la privada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F2053-8FB0-4E7B-BDB5-A8933FB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La clave privada autoriza el gasto; la pública permite verificarlo.</a:t>
            </a:r>
          </a:p>
        </p:txBody>
      </p:sp>
    </p:spTree>
    <p:extLst>
      <p:ext uri="{BB962C8B-B14F-4D97-AF65-F5344CB8AC3E}">
        <p14:creationId xmlns:p14="http://schemas.microsoft.com/office/powerpoint/2010/main" val="1157706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8E81B-B5FD-4120-B66E-E77A825F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DE LA CLAVE A LA DIRECCIÓN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317F0-4261-4CCE-9512-46070A83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Una dirección representa una condición de gasto, no una cuenta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0DA9F-3BF4-4061-8F84-EA15EC4A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DF40D-8CA9-4D1C-A6C9-55C760E6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31343-07D3-435C-854C-115FB83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04/16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AF430-F682-4389-A8FA-2CBE5457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D05E-2BB8-43AE-9696-5EFDA84A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CF446-B5B4-4B71-8683-5A325AB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E4485-298A-4486-958B-9FF9B75E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Generar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E8321-437B-4431-85B0-B064E568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wallet obtiene una clave privada aleatoria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8F1C9-D068-4362-BBAA-72C897B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8E577-EA65-46B4-AEC7-3F525C15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94910-74B6-4ECB-BAF9-8FBF3BDA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Derivar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DF0BB-1231-417B-A070-4FB0624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curva produce la clave pública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3DD42-CA87-4690-ADDB-234A13CF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94E39-F624-44E5-A9AD-307E0875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1E9E6-AA3E-426C-8D33-A7F72EED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Bloquear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E01EE-4087-4C11-85B8-F850FAE2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El script fija la condición de gasto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DD0D0-5363-43A5-B9D6-0481B012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112B2-EAB5-48B3-A232-D171C934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8DF21-BB6B-48F4-AC1C-DAF1219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Codificar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1B33E-F09F-477B-8263-D6EF3508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dirección facilita recepción y control de errores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646D6-A2F9-4A6A-BA12-E6893697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0C370-7CCE-484D-87E1-712CF7B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95F42-EA76-4F26-B18A-3ACEC6B6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Gastar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83295C-7477-4212-B44B-7A19C460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firma y el witness satisfacen la condición</a:t>
            </a:r>
          </a:p>
        </p:txBody>
      </p:sp>
    </p:spTree>
    <p:extLst>
      <p:ext uri="{BB962C8B-B14F-4D97-AF65-F5344CB8AC3E}">
        <p14:creationId xmlns:p14="http://schemas.microsoft.com/office/powerpoint/2010/main" val="1121430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89540-1A6C-4F83-B522-FED8DEF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WALLETS HD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AD96B-8740-444F-99B4-9867E0DD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Una raíz puede derivar muchas claves y direcciones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C0AFC-C1B7-4679-BC2D-73D76450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EC7D9-3B97-49F3-9312-5F29A2B2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620AB-907D-4437-9905-C3D96259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05/16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EAFCA-0B64-4311-A6A9-F1D21373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8549A-B13F-4D21-ACDE-CF64A0BA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2C42D-AE09-41B6-8AFD-AB9794A3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70F74-09BD-4937-B543-7750C301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907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FEB 2012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6341C-F1CC-4467-A2DA-56A57E67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05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BIP32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BB650-B122-4878-83FD-4308455B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765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Define la derivación jerárquica determinística.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1AC77-38F9-4666-A1B4-7A1E7BA4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04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F2E68-546A-4F4F-BCFF-64F50EFA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3CA7D-D20D-4EF4-A151-5FCE002F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05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SEP 2013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1C7C8-6ED0-402C-B8AF-AFC91AA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BIP39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A1BDC-384A-4C17-87F3-8DAD02DA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4820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Estandariza mnemónicas para generar una seed.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0CEDF-C095-46A6-AA6D-17EDD34D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71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C664A-6EA7-45E0-9F15-543F8F51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DDFE6-32AC-44E8-AF1F-362C5B3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07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ABR 2014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383DB-AC8A-4367-AAAB-EE00D0DC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05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BIP44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DAE3A-1E65-4106-AFA9-E71E6122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Organiza rutas por propósito, moneda, cuenta y cambio.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97689-B5EC-4B5E-9D06-61FA90F8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004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F7E94-A0B4-4590-9082-9A9C4837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BCC10-3210-4DFD-8161-635C5192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05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NOV 2021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0C694-CB7B-4407-BF93-0A32C8BC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386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Taproot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C4A70-DF25-4A54-B2BF-221A0C13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820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Introduce P2TR, firmas Schnorr y rutas de gasto.</a:t>
            </a:r>
          </a:p>
        </p:txBody>
      </p:sp>
    </p:spTree>
    <p:extLst>
      <p:ext uri="{BB962C8B-B14F-4D97-AF65-F5344CB8AC3E}">
        <p14:creationId xmlns:p14="http://schemas.microsoft.com/office/powerpoint/2010/main" val="826639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39178-F663-4E31-92D0-B0B38F9A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WALLET NO ES SALDO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D4A14-F9AB-4199-A2A0-37393893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La wallet coordina secretos, UTXO y firmas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4EBF4-60D9-4B24-B2E8-9148B892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1E948-0DC8-4700-95F7-586AB443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3D16C-360E-4EEA-A041-170CCC51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06/16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3D4BC-01BA-4262-89A5-4BAE66D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F2487-3562-4D76-8088-3DA6016A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Qué administra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118C1-7BD5-48EF-BA76-0A29E844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Qué consulta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B8E26-94E1-4905-997A-B0E1E0A1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8D50A-DF57-404C-A126-C2602968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Seed: raíz de respaldo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9E319-BE75-4C73-B08E-482E6C4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0DC2A-D08A-4297-A843-95722659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Claves: autorización de gastos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903A2-F083-42CE-B13F-2BD9AE25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8766B-22BE-4189-B25B-3E4BBE2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Direcciones: recepción y cambio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69B99-3C4A-43A2-A3AE-2EDB38A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288F8-8BF8-4471-977F-992090B2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UTXO: salidas disponibles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1E4CA-2FB8-4F1C-9213-941E6D6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ECB53-49CE-4066-923F-04E5FADD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Red: estado, mempool y comisiones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4D296-2772-44C2-8036-BDFC85B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DC5FF-1731-4147-A9EF-F6FD41AD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Servicios: exploradores o custodios opcionales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0CA21-81E1-4E75-B746-3A25724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Los bitcoins no están dentro de la wallet: existen como UTXO reconocidos por la red.</a:t>
            </a:r>
          </a:p>
        </p:txBody>
      </p:sp>
    </p:spTree>
    <p:extLst>
      <p:ext uri="{BB962C8B-B14F-4D97-AF65-F5344CB8AC3E}">
        <p14:creationId xmlns:p14="http://schemas.microsoft.com/office/powerpoint/2010/main" val="81954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DCBD2-4EF4-4669-8F81-400B2F05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ARQUITECTURA DE CUSTODIA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24BD-E760-4029-9BEF-7ACBAE75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Cinco capas separan secretos, respaldo y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FAA35-47E4-46FA-9DBB-E22AF667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A461C-156C-4A06-8B29-28A07F9E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C1F3D-60ED-4699-8F0F-69B3BD8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07/16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9EB23-9F99-4D84-B562-573A9776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3E0C4-7E77-413E-8B7D-9558ECE4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72D8F-30E2-4D52-8A15-253ACF17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Interfaz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F5960-8DA6-4ADC-908E-77266CE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669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Direcciones, selección de monedas y comisiones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7100E-B2F1-4150-BBAA-99D9F7C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4A748-ED9E-4DAB-B104-11C5BE8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F1110-95E6-4A76-8671-C2A2E307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Construcción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3DB54-C985-40E5-A06D-14F1FE6E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Entradas, salidas, cambio y locktime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4E9BC-EB3E-41E2-8C8C-0B3A1D0D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AE056-CB55-4CCD-86FB-6D07B54C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5875A-D8B0-42C7-A738-42D3E44D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Firma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3C640-542C-4B0B-9798-6E5CC2D1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Hardware o software usa la clave privada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4D5FC-4F5F-48B6-B658-B838074B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BA689-7127-44B3-8D20-B32A1FFF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6545B-5C3D-4251-A367-08876F28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Respaldo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C183E-6401-4766-B5A0-A32F83E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00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Seed, passphrase y procedimiento de recuperación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5535B-855A-4DE9-8759-DAA4C43E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D7903-BDF0-434A-BFD2-EB8D650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BA06C-B728-4973-AA68-4FCCEAA2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Entropía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C204FD-38AA-44B6-B487-A4804A5E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Aleatoriedad segura para generar secretos únicos</a:t>
            </a:r>
          </a:p>
        </p:txBody>
      </p:sp>
    </p:spTree>
    <p:extLst>
      <p:ext uri="{BB962C8B-B14F-4D97-AF65-F5344CB8AC3E}">
        <p14:creationId xmlns:p14="http://schemas.microsoft.com/office/powerpoint/2010/main" val="2109125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74709-2569-4975-902F-086C595E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MODELOS DE CUSTODIA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8E195-7116-436B-B534-208D456D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Control, comodidad y riesgo cambian según quién firma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ED999-CB42-488D-9A19-F96746BD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BEB7E-8DCF-467E-A68A-B5376CD6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1FCAF-8D04-4FDB-B02B-EFEA7F10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08/16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2B458-16E8-462A-B75E-44548D39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06534-86E7-4F79-8DDE-6CBF91A9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60AEC-3A5B-4E48-B516-6328C8EC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No custodial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E2CC3-F34E-45B2-821E-87688788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El usuario controla claves y procedimiento de recuperación.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97CE0-E5B9-4732-8937-06C12212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047875"/>
            <a:ext cx="95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5B7BB-BA93-4CCE-A13C-0A6BDB78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F4BC0-9678-4E5A-A80B-60B9DC6E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EAA36-C6AA-409C-B730-B38B8EF4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Solo observación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CA92A-7072-41EB-8CB4-B15B87AA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Una xpub detecta actividad sin capacidad de firma.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D1943-A17B-48D1-A67C-BEB5C331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047875"/>
            <a:ext cx="95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F29F4-1AB9-4683-B713-0C5A678E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4E5B6-18AF-4336-B949-06E3A992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43836-C532-4E79-B113-E39010E8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Hardware wallet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2397F-B47E-40E3-B277-F6703F8C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Aísla claves y confirma datos antes de firmar.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1076E-45D4-4FC7-A678-7588DA93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047875"/>
            <a:ext cx="95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2FE35-A8BF-419B-9986-CC37590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43FBE-0F42-44DD-B0A3-784E3D0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DA204-BA36-4465-96FE-F3007537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Multifirma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9F4B7-89FD-4CDC-948F-67D5FC70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Distribuye autorización entre varias claves.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BCF7C-AAA3-42E4-BAD0-AAAE04E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2047875"/>
            <a:ext cx="95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5D588-79F0-482C-828A-A1630CCB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26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5F62F-F397-436A-A1EB-A8B11C00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26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96AD93-3B60-4A89-BA62-3EF3001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Custodial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865451-D79B-4DE9-A0A6-4509A7EF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Un tercero controla las claves y asume obligaciones.</a:t>
            </a:r>
          </a:p>
        </p:txBody>
      </p:sp>
    </p:spTree>
    <p:extLst>
      <p:ext uri="{BB962C8B-B14F-4D97-AF65-F5344CB8AC3E}">
        <p14:creationId xmlns:p14="http://schemas.microsoft.com/office/powerpoint/2010/main" val="1963512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0111A-C498-47A7-BCFC-5D3DF011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CUENTAS Y UTXO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A1B9F-BD14-4893-B0FD-9DA1CAAD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Bitcoin representa valor como salidas no gastadas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E9FAB-F36E-4AE1-B74A-C242B7CD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1DAAC-9474-4C8E-9BD7-7BEE3656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F1AB1-B696-4471-9048-E6B24782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09/16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E1DAA-9CA6-4A65-A64F-191C92E4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3AD4B-9C2A-4CAB-92EE-FD87EA03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5794F-A84B-49CD-9D21-FB82CA7E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318"/>
                </a:solidFill>
              </a:defRPr>
            </a:pPr>
            <a:r>
              <a:rPr sz="2325" b="1" i="0">
                <a:solidFill>
                  <a:srgbClr val="111318"/>
                </a:solidFill>
              </a:rPr>
              <a:t>Modelo de cuentas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92ECC-39C7-4CDE-AF1F-8BEDEE9F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96B00"/>
                </a:solidFill>
              </a:defRPr>
            </a:pPr>
            <a:r>
              <a:rPr sz="1500" b="1" i="0">
                <a:solidFill>
                  <a:srgbClr val="C96B00"/>
                </a:solidFill>
              </a:rPr>
              <a:t>Mantiene un saldo agregado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612EF-09A0-4757-9600-6F0B9D8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20926-E8A6-4275-A58D-ECFA7BA8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Registra débitos y créditos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595D7-BCE1-427C-B098-E8AABDBC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B6517-1D13-49E5-A0D7-2439DD35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Depende de un registro central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ADB97-EBBF-410A-8CE7-8FA506AF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805B2-726E-4F13-A542-060C52F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La identidad organiza el estado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BA6BC-3A42-4B41-B5DC-4B741B59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Modelo UTXO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A82BC-A435-46B9-8D24-77075D44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7931A"/>
                </a:solidFill>
              </a:defRPr>
            </a:pPr>
            <a:r>
              <a:rPr sz="1500" b="1" i="0">
                <a:solidFill>
                  <a:srgbClr val="F7931A"/>
                </a:solidFill>
              </a:rPr>
              <a:t>Cada salida tiene valor y condición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08D92-AD27-430A-91B7-3ADD40F9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5BFA5-F8C2-4A5E-A324-77F115A3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Las entradas consumen salidas completas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30788-78B5-41C1-9F97-85DB2CBB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40854-EE86-4442-B077-97C25999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El cambio crea un nuevo UTXO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6BA56-8C01-4959-81B0-1D9A8B53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52A7E-88B9-4697-B532-377A6688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El saldo se calcula desde UTXO controlados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088F1-75D4-4ABD-84C8-DAC97E4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El modelo evita una cuenta global y hace explícita la procedencia de cada valor gastado.</a:t>
            </a:r>
          </a:p>
        </p:txBody>
      </p:sp>
    </p:spTree>
    <p:extLst>
      <p:ext uri="{BB962C8B-B14F-4D97-AF65-F5344CB8AC3E}">
        <p14:creationId xmlns:p14="http://schemas.microsoft.com/office/powerpoint/2010/main" val="1022964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52E2A-F0B5-415C-A187-7458B489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ANATOMÍA DE UNA TRANSACCIÓN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C5822-62E3-4C23-9984-1405878C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Entradas y salidas transforman UTXO sin crear valor arbitrario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9793C-67D9-423F-8A5F-53AB3798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1434B-155F-4740-870D-1151C315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FF433-A854-4A84-A53F-D1E26DF3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10/16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0A54A-218B-46A6-B1BB-08E833AB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E5129-BA9A-4D32-AFAF-45A920F6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77CAC-54B5-4A24-A255-796AF457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11FBA-5888-4700-A0AA-6E324F9F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Entradas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71DC6-C84E-4CA6-9D77-D175A2DE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Referencian salidas anteriores mediante txid:vout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86574-4E66-4AFA-AD38-1B1D2DE1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91D5C-8308-4F1F-B885-F5F82CB6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F52EB-E32D-4577-9DCB-DBD26C46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Witness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17911-97B7-42A1-B2A2-E54F3E27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Aporta firmas, claves o scripts necesarios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034FC-4AB7-4EDA-9838-74615591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4F094-3A37-4EB8-9C47-1843386C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1FEB5-A55F-46BD-8C48-D071CFBD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Salidas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C6A29-FFBE-496C-8EBA-A71DD9BA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Crean nuevos UTXO con valor y condición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D3A93-2A19-43FB-BFCA-61081719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EE426-DA81-49A7-AFBB-86E85635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88CA1-78F2-4DC0-B7B1-FB3FBF96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Cambio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FEC21-A282-4D6E-965D-53278C5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Devuelve al emisor el valor no enviado ni pagado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6D9D4-02EE-475D-87D8-9566D47B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24F86-5883-47F3-A5A4-E7B8701D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2FE5C-39B9-4434-970F-DD0B61EF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Comisión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D7748-4653-4DA6-B589-ED895CE8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Es la diferencia entre entradas y salidas</a:t>
            </a:r>
          </a:p>
        </p:txBody>
      </p:sp>
    </p:spTree>
    <p:extLst>
      <p:ext uri="{BB962C8B-B14F-4D97-AF65-F5344CB8AC3E}">
        <p14:creationId xmlns:p14="http://schemas.microsoft.com/office/powerpoint/2010/main" val="11859061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173C5-34FC-4478-B4A0-89091DE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FIRMAS Y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68675-77A2-4FB7-AF7F-FFE561C0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Autorizar un gasto no exige revelar la clave privada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03889-659E-4A65-A227-B7984D97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508E0-7F02-4E88-901C-8A2FECD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FAA68-1B84-498D-9CD1-54F7CAE5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11/16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DCE9C-EB8B-4F63-853E-45C7DD2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0D5E-FDA3-4356-B3B4-7538F585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Condición de gasto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4096F-D2F6-456D-9112-8AF9A781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Datos de desbloqueo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AFDD4-8497-4B73-8D4F-6C703A86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E0869-45F7-48B5-B278-DCAB86AC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La salida contiene scriptPubKey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A1FA0-3765-437F-9BE5-AD9E9712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ED9B9-0C51-4B79-B8B9-7F16C106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El valor queda bloqueado por reglas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7FF50-B2D3-4278-AD4E-E765D6D0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A0B1A-D8B6-445B-8A6A-B945E59F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Puede exigir clave, hash o tiempo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40E02-DB98-480D-8E86-97D269A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0B4A0-66C0-4482-B7B7-AF69E00C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La entrada aporta scriptSig o witness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1763C-16A3-42FE-9483-579938F2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B7E0D-48E3-402E-BA36-2FF16E8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La firma compromete la transacción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6B2B8-F6AD-462B-A89A-113B7D68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3A69F-192D-466B-9E02-E9823B35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Cada nodo ejecuta la validación de forma determinista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81592-0852-4C9C-AD78-A33542AF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Script verifica condiciones locales; no ejecuta contratos autónomos con estado global.</a:t>
            </a:r>
          </a:p>
        </p:txBody>
      </p:sp>
    </p:spTree>
    <p:extLst>
      <p:ext uri="{BB962C8B-B14F-4D97-AF65-F5344CB8AC3E}">
        <p14:creationId xmlns:p14="http://schemas.microsoft.com/office/powerpoint/2010/main" val="2055997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32693F-A58E-423A-AC0A-6EED93B5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SERIALIZACIÓN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275BB-82BD-4F92-96AB-8AD840AF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Cada campo de una transacción cumple una función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E5B7E-6351-4D1F-AA2D-62A2E67F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2006D-6358-4DE4-B4CD-154902A8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BFB26-8CD6-4759-A014-5DEB1A3F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12/16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4017-297D-41A2-B9B1-CBFCE87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03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D7673-DDB7-42C8-B432-96AFB5F6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495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7931A"/>
                </a:solidFill>
              </a:defRPr>
            </a:pPr>
            <a:r>
              <a:rPr sz="3600" b="1" i="0">
                <a:solidFill>
                  <a:srgbClr val="F7931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51BE6-B3EC-4D0A-8D52-34FB93DE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187CD-92EC-4CD5-A3A6-9883AA8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7931A"/>
                </a:solidFill>
              </a:defRPr>
            </a:pPr>
            <a:r>
              <a:rPr sz="1650" b="1" i="0">
                <a:solidFill>
                  <a:srgbClr val="F7931A"/>
                </a:solidFill>
              </a:rPr>
              <a:t>PARTE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CF999-B43E-40A5-8820-0E57AD77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versión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2BE28-EE3F-4FAF-B4E3-2080C317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98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entradas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27F18-0BED-4567-9D6C-4DD4C969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salidas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D7F29-32E3-4D39-9ED4-032212BD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194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locktime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54C66-1BEA-4CCC-93F4-78AF3ED7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marcador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7FEEA-31B0-4E24-AB30-DBC1ECB8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290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flag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AEEC4-7563-473A-BDC7-B45BFDE0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0673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4B594-2091-4C9B-A262-A6B7500D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C96B00"/>
                </a:solidFill>
              </a:defRPr>
            </a:pPr>
            <a:r>
              <a:rPr sz="1650" b="1" i="0">
                <a:solidFill>
                  <a:srgbClr val="C96B00"/>
                </a:solidFill>
              </a:rPr>
              <a:t>DATOS WITNESS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D91D9-AB8E-4BE0-AAEB-9C7508C8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04FA6-855B-4832-BEB4-EA191EEA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384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firma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3C013-6E67-42D5-9D7C-E5850FC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908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08BA9-59AF-4FE6-A680-B83E414F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48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clave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8FE0D-F38D-4181-B451-E10956EE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6CE32-9CD9-466E-961E-30AEA42B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57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script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93984-9364-4198-A135-45719BA3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00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423AE-3A90-4E7F-8976-2988DBC3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671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...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EE57B-04B0-424E-887D-04709109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9AB7C-745A-4855-A498-AE8A785A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767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por entrada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31ACC4-3099-40E4-9B91-32C3D945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El txid excluye witness; el wtxid compromete la serialización completa.</a:t>
            </a:r>
          </a:p>
        </p:txBody>
      </p:sp>
    </p:spTree>
    <p:extLst>
      <p:ext uri="{BB962C8B-B14F-4D97-AF65-F5344CB8AC3E}">
        <p14:creationId xmlns:p14="http://schemas.microsoft.com/office/powerpoint/2010/main" val="755517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5F459-2CA9-4FC0-81C9-E80E1E71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CICLO DE VIDA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8B5DC-1E9E-49F1-9091-2555B8C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Una transacción atraviesa estados antes de consolidarse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2D809-519D-4AA6-9D3A-1A5B8F36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B7F9E-9F36-4676-8742-3E069098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2663D-0E94-475A-AC0A-1D6868CD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13/16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D59E5-839D-4B80-B057-47E9B4F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318"/>
                </a:solidFill>
              </a:defRPr>
            </a:pPr>
            <a:r>
              <a:rPr sz="2850" b="1" i="0">
                <a:solidFill>
                  <a:srgbClr val="111318"/>
                </a:solidFill>
              </a:rPr>
              <a:t>La wallet construye y firma; después la red decide si la transacción es válida.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3108F-606A-4B9C-82D1-0A416E6A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F0475-9A1B-40A3-8095-67E79B46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667085"/>
                </a:solidFill>
              </a:defRPr>
            </a:pPr>
            <a:r>
              <a:rPr sz="1875" b="0" i="0">
                <a:solidFill>
                  <a:srgbClr val="667085"/>
                </a:solidFill>
              </a:rPr>
              <a:t>La mempool no es un registro global: cada nodo mantiene su propia selección y vuelve a validar al recibir un bloque.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28B45-8E70-4A8A-96A2-FDC580D6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C5FF9-E7D5-471C-9491-83CA6ED0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Construida: entradas, salidas y comisión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74AFF-2874-4711-9777-C1E8734A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7DFB0-46E5-4394-9E39-AC193305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3590C-5F08-4367-A0EE-08A47ED4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Validada: aceptada por políticas de mempool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86A72-37A3-4AC4-8BBA-2997F4BC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2F26C-3924-489B-AEF8-CB3631DB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A96E3-9826-4C74-A7EA-5A606E21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Confirmada: incluida y reforzada por más bloques</a:t>
            </a:r>
          </a:p>
        </p:txBody>
      </p:sp>
    </p:spTree>
    <p:extLst>
      <p:ext uri="{BB962C8B-B14F-4D97-AF65-F5344CB8AC3E}">
        <p14:creationId xmlns:p14="http://schemas.microsoft.com/office/powerpoint/2010/main" val="3273954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55F16-22E3-4A49-92D7-C15349D7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MITOS DE CUSTODIA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469EC-C4D4-43EC-A447-03A8F091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Cuatro intuiciones sobre wallets necesitan precisión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9957C-509E-4722-A3AE-18E5C6CE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DDD16-5867-405D-B906-4399161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F0668-0851-428A-BA20-A9E17D02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14/16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9987C-3D4D-42C9-8BD4-2BBF6B9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1A98C-A2D3-476F-A093-B5DF0310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97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Afirmación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A7DB0-7424-4633-AEB8-21D3F374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9775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Lectura correcta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03C40-6F4B-4A4A-A2A6-ECCF141F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63EA7-1B8B-45AB-8064-5F214657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6697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9C114-9D21-4617-8AE3-1F9BDCEF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“La wallet guarda BTC”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6544E-2AF1-4C55-B6DB-4AA9DF7E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Administra claves y detecta UTXO.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A3ACE-621F-481B-A58D-A6E53EDD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92BEF-E23C-4259-94FF-2C480E8C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BA68E-8B57-452E-BD34-89114C0B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“La dirección es una cuenta”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5E017-EE3F-4FE1-9079-FF6AA66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Codifica una condición de gasto.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B4849-63C7-4CC1-894C-0B15E38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68C6E-81FA-4C92-8881-8890633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7667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5B7EA-A4AB-4221-810D-FF575A5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“La seed es una contraseña”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AF80E-CC31-4125-BE8E-3052DDA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Es material raíz para derivar claves.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66C9A-739F-4211-ABE3-61F389D6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4AA4F-6922-4EF0-9887-63C63D74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2F3BA-2A34-42B0-A607-B86F93E2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“Más comisión compra validez”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E1A99-49FC-460C-80BE-2D00F02C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4820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Solo mejora prioridad; no corrige errores.</a:t>
            </a:r>
          </a:p>
        </p:txBody>
      </p:sp>
    </p:spTree>
    <p:extLst>
      <p:ext uri="{BB962C8B-B14F-4D97-AF65-F5344CB8AC3E}">
        <p14:creationId xmlns:p14="http://schemas.microsoft.com/office/powerpoint/2010/main" val="21059795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9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B71B3-A620-4E8A-AE5E-9FFDA752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11318"/>
                </a:solidFill>
              </a:defRPr>
            </a:pPr>
            <a:r>
              <a:rPr sz="1125" b="1" i="0">
                <a:solidFill>
                  <a:srgbClr val="111318"/>
                </a:solidFill>
              </a:rPr>
              <a:t>ACTIVIDAD DE COMPROBACIÓN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2847E-20F5-4378-B5E6-CB26823D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Reconstruya una transacción UTXO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FC6AD-F682-43F9-8141-9764C52F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9A77B-0454-42DE-AB14-4CAFFA9A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D46EB-1739-4596-B54D-119855F1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02 · 15/16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ADBEC-2C21-4B93-9C59-53F781DB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7B898-1942-4BC1-9685-D46F818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Elija entradas, calcule cambio y explique quién autoriza cada gasto.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41291-EC2A-48C1-8322-38A047C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F19FF-4352-4775-B27B-8BBCC290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2FFF3-5FE3-4549-93DA-7BAF6C0D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¿Qué información debe proteger una wallet y por qué?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58613-6C92-4577-B77D-8019E61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35B37-9DFA-4096-9F83-1675C614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55183-47A5-4C9F-8BBF-004059A7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814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¿Cómo se calcula la comisión sin un campo fee explícito?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EE0AB-0291-4AFD-ABCB-E0025D6E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30A3A-00C4-4AF8-86DB-DDE07C95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375DA-EFE8-445D-BD5E-9B1FF167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815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¿Qué verifica un nodo antes de aceptar la transacción?</a:t>
            </a:r>
          </a:p>
        </p:txBody>
      </p:sp>
    </p:spTree>
    <p:extLst>
      <p:ext uri="{BB962C8B-B14F-4D97-AF65-F5344CB8AC3E}">
        <p14:creationId xmlns:p14="http://schemas.microsoft.com/office/powerpoint/2010/main" val="8756917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7F0EE-E729-4D34-93F0-A8E746A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03086-D16B-46F2-ADDE-2E1D1EB9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FFFFFF"/>
                </a:solidFill>
              </a:defRPr>
            </a:pPr>
            <a:r>
              <a:rPr sz="3525" b="1" i="0">
                <a:solidFill>
                  <a:srgbClr val="FFFFFF"/>
                </a:solidFill>
              </a:rPr>
              <a:t>Claves, UTXO y firmas convierten control en verificación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D5329-D997-4EE3-8F14-782450AC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D5DEC-10E0-4DDD-8CF5-AA9630D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9CDD3"/>
                </a:solidFill>
              </a:defRPr>
            </a:pPr>
            <a:r>
              <a:rPr sz="975" b="0" i="0">
                <a:solidFill>
                  <a:srgbClr val="C9CDD3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B7915-9FFD-4689-AE1F-7195F218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C9CDD3"/>
                </a:solidFill>
              </a:defRPr>
            </a:pPr>
            <a:r>
              <a:rPr sz="975" b="1" i="0">
                <a:solidFill>
                  <a:srgbClr val="C9CDD3"/>
                </a:solidFill>
              </a:rPr>
              <a:t>BITCOIN 02 · 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E27F8-E24E-4FFE-8C1F-277B7709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78565-C3E4-4365-A21C-7EA5D0A9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Las claves privadas autorizan; las públicas permiten verificar.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2BAF3-CA40-470D-BFEF-00FC37F4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A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7844A-C303-4C0D-9C72-AA740535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AA3FB-872A-4913-B3CC-7ECB5647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La wallet construye transacciones, pero no decide su validez.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C124B-C2D6-4D97-A4C4-5162B714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A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2B115-53BF-47D3-B5FC-F8A2A2B8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FB97E-AF9F-4218-81AF-7D4F6F2A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Los UTXO representan valor disponible y condiciones de gasto.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19568-A10C-48D7-B462-1BBE674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D4D7DC"/>
                </a:solidFill>
              </a:defRPr>
            </a:pPr>
            <a:r>
              <a:rPr sz="1650" b="1" i="0">
                <a:solidFill>
                  <a:srgbClr val="D4D7DC"/>
                </a:solidFill>
              </a:rPr>
              <a:t>Siguiente: cómo bloques, minería y consenso ordenan el historial.</a:t>
            </a:r>
          </a:p>
        </p:txBody>
      </p:sp>
    </p:spTree>
    <p:extLst>
      <p:ext uri="{BB962C8B-B14F-4D97-AF65-F5344CB8AC3E}">
        <p14:creationId xmlns:p14="http://schemas.microsoft.com/office/powerpoint/2010/main" val="895484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2026-08-31T10:51:42.1520000Z</dcterms:created>
  <dcterms:modified xsi:type="dcterms:W3CDTF">2026-08-31T10:51:42.1520000Z</dcterms:modified>
</coreProperties>
</file>