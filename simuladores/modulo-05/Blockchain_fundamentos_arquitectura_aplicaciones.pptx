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2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0a5c41aa6e4f84" /><Relationship Type="http://schemas.openxmlformats.org/officeDocument/2006/relationships/extended-properties" Target="/docProps/app.xml" Id="R2487879a8fd743f9" /><Relationship Type="http://schemas.openxmlformats.org/officeDocument/2006/relationships/officeDocument" Target="/ppt/presentation.xml" Id="R5be04365496b4a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48de3c3d4c4d17"/>
  </p:sldMasterIdLst>
  <p:notesMasterIdLst>
    <p:notesMasterId xmlns:r="http://schemas.openxmlformats.org/officeDocument/2006/relationships" r:id="R558d1a6f7f564735"/>
  </p:notesMasterIdLst>
  <p:sldIdLst>
    <p:sldId xmlns:r="http://schemas.openxmlformats.org/officeDocument/2006/relationships" id="256" r:id="R44136d03ea054f77"/>
    <p:sldId xmlns:r="http://schemas.openxmlformats.org/officeDocument/2006/relationships" id="257" r:id="R5e73b2c5e63c4e02"/>
    <p:sldId xmlns:r="http://schemas.openxmlformats.org/officeDocument/2006/relationships" id="258" r:id="R3369ae32ffe74205"/>
    <p:sldId xmlns:r="http://schemas.openxmlformats.org/officeDocument/2006/relationships" id="259" r:id="R3abffeb28af84bcd"/>
    <p:sldId xmlns:r="http://schemas.openxmlformats.org/officeDocument/2006/relationships" id="260" r:id="Rc9a53a1275a44ee1"/>
    <p:sldId xmlns:r="http://schemas.openxmlformats.org/officeDocument/2006/relationships" id="261" r:id="R8b92bad9ac334d78"/>
    <p:sldId xmlns:r="http://schemas.openxmlformats.org/officeDocument/2006/relationships" id="262" r:id="Rb7fe99bbdbce4d22"/>
    <p:sldId xmlns:r="http://schemas.openxmlformats.org/officeDocument/2006/relationships" id="263" r:id="R8995dc65d2084733"/>
    <p:sldId xmlns:r="http://schemas.openxmlformats.org/officeDocument/2006/relationships" id="264" r:id="Re9210f17318e4f77"/>
    <p:sldId xmlns:r="http://schemas.openxmlformats.org/officeDocument/2006/relationships" id="265" r:id="Rb642e3d782e94c4d"/>
    <p:sldId xmlns:r="http://schemas.openxmlformats.org/officeDocument/2006/relationships" id="266" r:id="R57b03d0fd10b4edf"/>
    <p:sldId xmlns:r="http://schemas.openxmlformats.org/officeDocument/2006/relationships" id="267" r:id="Ra3d615b8eedf4f16"/>
    <p:sldId xmlns:r="http://schemas.openxmlformats.org/officeDocument/2006/relationships" id="268" r:id="R21fa1d066b764a27"/>
    <p:sldId xmlns:r="http://schemas.openxmlformats.org/officeDocument/2006/relationships" id="269" r:id="R6cb750d06c764fe9"/>
    <p:sldId xmlns:r="http://schemas.openxmlformats.org/officeDocument/2006/relationships" id="270" r:id="R45da920f8e894f08"/>
    <p:sldId xmlns:r="http://schemas.openxmlformats.org/officeDocument/2006/relationships" id="271" r:id="R9463f51013a94e7e"/>
    <p:sldId xmlns:r="http://schemas.openxmlformats.org/officeDocument/2006/relationships" id="272" r:id="R9f59a265064249d1"/>
    <p:sldId xmlns:r="http://schemas.openxmlformats.org/officeDocument/2006/relationships" id="273" r:id="Rfcc45d4e78034feb"/>
    <p:sldId xmlns:r="http://schemas.openxmlformats.org/officeDocument/2006/relationships" id="274" r:id="Ra7853d543f7b44d1"/>
    <p:sldId xmlns:r="http://schemas.openxmlformats.org/officeDocument/2006/relationships" id="275" r:id="Rf023584266da407c"/>
    <p:sldId xmlns:r="http://schemas.openxmlformats.org/officeDocument/2006/relationships" id="276" r:id="Rec93423c4cf54cd5"/>
    <p:sldId xmlns:r="http://schemas.openxmlformats.org/officeDocument/2006/relationships" id="277" r:id="R67d0208eca3c410e"/>
    <p:sldId xmlns:r="http://schemas.openxmlformats.org/officeDocument/2006/relationships" id="278" r:id="Rd12e1ae840374f67"/>
    <p:sldId xmlns:r="http://schemas.openxmlformats.org/officeDocument/2006/relationships" id="279" r:id="Re21b73af23674e50"/>
    <p:sldId xmlns:r="http://schemas.openxmlformats.org/officeDocument/2006/relationships" id="280" r:id="Rbcfea91696ca4b3c"/>
    <p:sldId xmlns:r="http://schemas.openxmlformats.org/officeDocument/2006/relationships" id="281" r:id="R1260cb4c6eb14894"/>
    <p:sldId xmlns:r="http://schemas.openxmlformats.org/officeDocument/2006/relationships" id="282" r:id="Rdb3eec569b214786"/>
    <p:sldId xmlns:r="http://schemas.openxmlformats.org/officeDocument/2006/relationships" id="283" r:id="Rda18e73dd5454066"/>
    <p:sldId xmlns:r="http://schemas.openxmlformats.org/officeDocument/2006/relationships" id="284" r:id="R0080bac209fe4147"/>
    <p:sldId xmlns:r="http://schemas.openxmlformats.org/officeDocument/2006/relationships" id="285" r:id="R12ad9988b5bc4782"/>
    <p:sldId xmlns:r="http://schemas.openxmlformats.org/officeDocument/2006/relationships" id="286" r:id="R330340aebf4c4f1b"/>
    <p:sldId xmlns:r="http://schemas.openxmlformats.org/officeDocument/2006/relationships" id="287" r:id="R45f4713196a84f94"/>
    <p:sldId xmlns:r="http://schemas.openxmlformats.org/officeDocument/2006/relationships" id="288" r:id="Rdec561bd8a4c4dcf"/>
    <p:sldId xmlns:r="http://schemas.openxmlformats.org/officeDocument/2006/relationships" id="289" r:id="R3d6da3ab8f4f42fe"/>
    <p:sldId xmlns:r="http://schemas.openxmlformats.org/officeDocument/2006/relationships" id="290" r:id="Rdaf780ed82d84672"/>
    <p:sldId xmlns:r="http://schemas.openxmlformats.org/officeDocument/2006/relationships" id="291" r:id="R3a6b680343df4fde"/>
    <p:sldId xmlns:r="http://schemas.openxmlformats.org/officeDocument/2006/relationships" id="292" r:id="R817391c2d4744698"/>
    <p:sldId xmlns:r="http://schemas.openxmlformats.org/officeDocument/2006/relationships" id="293" r:id="Re765cda866264dac"/>
    <p:sldId xmlns:r="http://schemas.openxmlformats.org/officeDocument/2006/relationships" id="294" r:id="R1535f343eefc4d3d"/>
    <p:sldId xmlns:r="http://schemas.openxmlformats.org/officeDocument/2006/relationships" id="295" r:id="R9bdecd48ec504b4f"/>
    <p:sldId xmlns:r="http://schemas.openxmlformats.org/officeDocument/2006/relationships" id="296" r:id="R4c7471badb4a4d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f9949e47004fd7" /><Relationship Type="http://schemas.openxmlformats.org/officeDocument/2006/relationships/slideMaster" Target="/ppt/slideMasters/slideMaster1.xml" Id="Ra648de3c3d4c4d17" /><Relationship Type="http://schemas.openxmlformats.org/officeDocument/2006/relationships/notesMaster" Target="/ppt/notesMasters/notesMaster1.xml" Id="R558d1a6f7f564735" /><Relationship Type="http://schemas.openxmlformats.org/officeDocument/2006/relationships/presProps" Target="/ppt/presProps.xml" Id="R03843e16af8549e8" /><Relationship Type="http://schemas.openxmlformats.org/officeDocument/2006/relationships/tableStyles" Target="/ppt/tableStyles.xml" Id="Raf9d178f02c14602" /><Relationship Type="http://schemas.openxmlformats.org/officeDocument/2006/relationships/slide" Target="/ppt/slides/slide1.xml" Id="R44136d03ea054f77" /><Relationship Type="http://schemas.openxmlformats.org/officeDocument/2006/relationships/slide" Target="/ppt/slides/slide2.xml" Id="R5e73b2c5e63c4e02" /><Relationship Type="http://schemas.openxmlformats.org/officeDocument/2006/relationships/slide" Target="/ppt/slides/slide3.xml" Id="R3369ae32ffe74205" /><Relationship Type="http://schemas.openxmlformats.org/officeDocument/2006/relationships/slide" Target="/ppt/slides/slide4.xml" Id="R3abffeb28af84bcd" /><Relationship Type="http://schemas.openxmlformats.org/officeDocument/2006/relationships/slide" Target="/ppt/slides/slide5.xml" Id="Rc9a53a1275a44ee1" /><Relationship Type="http://schemas.openxmlformats.org/officeDocument/2006/relationships/slide" Target="/ppt/slides/slide6.xml" Id="R8b92bad9ac334d78" /><Relationship Type="http://schemas.openxmlformats.org/officeDocument/2006/relationships/slide" Target="/ppt/slides/slide7.xml" Id="Rb7fe99bbdbce4d22" /><Relationship Type="http://schemas.openxmlformats.org/officeDocument/2006/relationships/slide" Target="/ppt/slides/slide8.xml" Id="R8995dc65d2084733" /><Relationship Type="http://schemas.openxmlformats.org/officeDocument/2006/relationships/slide" Target="/ppt/slides/slide9.xml" Id="Re9210f17318e4f77" /><Relationship Type="http://schemas.openxmlformats.org/officeDocument/2006/relationships/slide" Target="/ppt/slides/slide10.xml" Id="Rb642e3d782e94c4d" /><Relationship Type="http://schemas.openxmlformats.org/officeDocument/2006/relationships/slide" Target="/ppt/slides/slide11.xml" Id="R57b03d0fd10b4edf" /><Relationship Type="http://schemas.openxmlformats.org/officeDocument/2006/relationships/slide" Target="/ppt/slides/slide12.xml" Id="Ra3d615b8eedf4f16" /><Relationship Type="http://schemas.openxmlformats.org/officeDocument/2006/relationships/slide" Target="/ppt/slides/slide13.xml" Id="R21fa1d066b764a27" /><Relationship Type="http://schemas.openxmlformats.org/officeDocument/2006/relationships/slide" Target="/ppt/slides/slide14.xml" Id="R6cb750d06c764fe9" /><Relationship Type="http://schemas.openxmlformats.org/officeDocument/2006/relationships/slide" Target="/ppt/slides/slide15.xml" Id="R45da920f8e894f08" /><Relationship Type="http://schemas.openxmlformats.org/officeDocument/2006/relationships/slide" Target="/ppt/slides/slide16.xml" Id="R9463f51013a94e7e" /><Relationship Type="http://schemas.openxmlformats.org/officeDocument/2006/relationships/slide" Target="/ppt/slides/slide17.xml" Id="R9f59a265064249d1" /><Relationship Type="http://schemas.openxmlformats.org/officeDocument/2006/relationships/slide" Target="/ppt/slides/slide18.xml" Id="Rfcc45d4e78034feb" /><Relationship Type="http://schemas.openxmlformats.org/officeDocument/2006/relationships/slide" Target="/ppt/slides/slide19.xml" Id="Ra7853d543f7b44d1" /><Relationship Type="http://schemas.openxmlformats.org/officeDocument/2006/relationships/slide" Target="/ppt/slides/slide20.xml" Id="Rf023584266da407c" /><Relationship Type="http://schemas.openxmlformats.org/officeDocument/2006/relationships/slide" Target="/ppt/slides/slide21.xml" Id="Rec93423c4cf54cd5" /><Relationship Type="http://schemas.openxmlformats.org/officeDocument/2006/relationships/slide" Target="/ppt/slides/slide22.xml" Id="R67d0208eca3c410e" /><Relationship Type="http://schemas.openxmlformats.org/officeDocument/2006/relationships/slide" Target="/ppt/slides/slide23.xml" Id="Rd12e1ae840374f67" /><Relationship Type="http://schemas.openxmlformats.org/officeDocument/2006/relationships/slide" Target="/ppt/slides/slide24.xml" Id="Re21b73af23674e50" /><Relationship Type="http://schemas.openxmlformats.org/officeDocument/2006/relationships/slide" Target="/ppt/slides/slide25.xml" Id="Rbcfea91696ca4b3c" /><Relationship Type="http://schemas.openxmlformats.org/officeDocument/2006/relationships/slide" Target="/ppt/slides/slide26.xml" Id="R1260cb4c6eb14894" /><Relationship Type="http://schemas.openxmlformats.org/officeDocument/2006/relationships/slide" Target="/ppt/slides/slide27.xml" Id="Rdb3eec569b214786" /><Relationship Type="http://schemas.openxmlformats.org/officeDocument/2006/relationships/slide" Target="/ppt/slides/slide28.xml" Id="Rda18e73dd5454066" /><Relationship Type="http://schemas.openxmlformats.org/officeDocument/2006/relationships/slide" Target="/ppt/slides/slide29.xml" Id="R0080bac209fe4147" /><Relationship Type="http://schemas.openxmlformats.org/officeDocument/2006/relationships/slide" Target="/ppt/slides/slide30.xml" Id="R12ad9988b5bc4782" /><Relationship Type="http://schemas.openxmlformats.org/officeDocument/2006/relationships/slide" Target="/ppt/slides/slide31.xml" Id="R330340aebf4c4f1b" /><Relationship Type="http://schemas.openxmlformats.org/officeDocument/2006/relationships/slide" Target="/ppt/slides/slide32.xml" Id="R45f4713196a84f94" /><Relationship Type="http://schemas.openxmlformats.org/officeDocument/2006/relationships/slide" Target="/ppt/slides/slide33.xml" Id="Rdec561bd8a4c4dcf" /><Relationship Type="http://schemas.openxmlformats.org/officeDocument/2006/relationships/slide" Target="/ppt/slides/slide34.xml" Id="R3d6da3ab8f4f42fe" /><Relationship Type="http://schemas.openxmlformats.org/officeDocument/2006/relationships/slide" Target="/ppt/slides/slide35.xml" Id="Rdaf780ed82d84672" /><Relationship Type="http://schemas.openxmlformats.org/officeDocument/2006/relationships/slide" Target="/ppt/slides/slide36.xml" Id="R3a6b680343df4fde" /><Relationship Type="http://schemas.openxmlformats.org/officeDocument/2006/relationships/slide" Target="/ppt/slides/slide37.xml" Id="R817391c2d4744698" /><Relationship Type="http://schemas.openxmlformats.org/officeDocument/2006/relationships/slide" Target="/ppt/slides/slide38.xml" Id="Re765cda866264dac" /><Relationship Type="http://schemas.openxmlformats.org/officeDocument/2006/relationships/slide" Target="/ppt/slides/slide39.xml" Id="R1535f343eefc4d3d" /><Relationship Type="http://schemas.openxmlformats.org/officeDocument/2006/relationships/slide" Target="/ppt/slides/slide40.xml" Id="R9bdecd48ec504b4f" /><Relationship Type="http://schemas.openxmlformats.org/officeDocument/2006/relationships/slide" Target="/ppt/slides/slide41.xml" Id="R4c7471badb4a4d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2b186fd6564a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lockchain Academic">
      <a:dk1>
        <a:srgbClr val="000000"/>
      </a:dk1>
      <a:lt1>
        <a:srgbClr val="FFFFFF"/>
      </a:lt1>
      <a:dk2>
        <a:srgbClr val="071A2D"/>
      </a:dk2>
      <a:lt2>
        <a:srgbClr val="D6DEE6"/>
      </a:lt2>
      <a:accent1>
        <a:srgbClr val="2D6BFF"/>
      </a:accent1>
      <a:accent2>
        <a:srgbClr val="19BFA7"/>
      </a:accent2>
      <a:accent3>
        <a:srgbClr val="7458FF"/>
      </a:accent3>
      <a:accent4>
        <a:srgbClr val="F59E0B"/>
      </a:accent4>
      <a:accent5>
        <a:srgbClr val="E74C3C"/>
      </a:accent5>
      <a:accent6>
        <a:srgbClr val="1C9C72"/>
      </a:accent6>
      <a:hlink>
        <a:srgbClr val="2D6BFF"/>
      </a:hlink>
      <a:folHlink>
        <a:srgbClr val="7458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ockchain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d684d9871f4ac0" /><Relationship Type="http://schemas.openxmlformats.org/officeDocument/2006/relationships/notesMaster" Target="/ppt/notesMasters/notesMaster1.xml" Id="Rd5bb2b0ff6344f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ef3d700a714c3a" /><Relationship Type="http://schemas.openxmlformats.org/officeDocument/2006/relationships/notesMaster" Target="/ppt/notesMasters/notesMaster1.xml" Id="R22ee31bb314a49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3e76b01d404c6a" /><Relationship Type="http://schemas.openxmlformats.org/officeDocument/2006/relationships/notesMaster" Target="/ppt/notesMasters/notesMaster1.xml" Id="Ree86d0198af443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1b101335284f0b" /><Relationship Type="http://schemas.openxmlformats.org/officeDocument/2006/relationships/notesMaster" Target="/ppt/notesMasters/notesMaster1.xml" Id="R827605abcf3a47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fcc19575cc4c98" /><Relationship Type="http://schemas.openxmlformats.org/officeDocument/2006/relationships/notesMaster" Target="/ppt/notesMasters/notesMaster1.xml" Id="R23077b8d54ac42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fe7ac2abc346fd" /><Relationship Type="http://schemas.openxmlformats.org/officeDocument/2006/relationships/notesMaster" Target="/ppt/notesMasters/notesMaster1.xml" Id="R2d2c63391a3848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e490c3282747f7" /><Relationship Type="http://schemas.openxmlformats.org/officeDocument/2006/relationships/notesMaster" Target="/ppt/notesMasters/notesMaster1.xml" Id="Rb89b88c7800d45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657223acd94212" /><Relationship Type="http://schemas.openxmlformats.org/officeDocument/2006/relationships/notesMaster" Target="/ppt/notesMasters/notesMaster1.xml" Id="R19b6e3f8f32c40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1dbec29c144868" /><Relationship Type="http://schemas.openxmlformats.org/officeDocument/2006/relationships/notesMaster" Target="/ppt/notesMasters/notesMaster1.xml" Id="R4ecbfd57e83946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0e241000a042d3" /><Relationship Type="http://schemas.openxmlformats.org/officeDocument/2006/relationships/notesMaster" Target="/ppt/notesMasters/notesMaster1.xml" Id="R6dffe50cdb7b4e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a11fd5a63349f5" /><Relationship Type="http://schemas.openxmlformats.org/officeDocument/2006/relationships/notesMaster" Target="/ppt/notesMasters/notesMaster1.xml" Id="Raab2f90493ed43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a24d35380d4842" /><Relationship Type="http://schemas.openxmlformats.org/officeDocument/2006/relationships/notesMaster" Target="/ppt/notesMasters/notesMaster1.xml" Id="R29ffb5943cd040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78be28ed8d423d" /><Relationship Type="http://schemas.openxmlformats.org/officeDocument/2006/relationships/notesMaster" Target="/ppt/notesMasters/notesMaster1.xml" Id="Raa213323d71246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a2c877bed44a4a" /><Relationship Type="http://schemas.openxmlformats.org/officeDocument/2006/relationships/notesMaster" Target="/ppt/notesMasters/notesMaster1.xml" Id="Re546ccec65a24a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df872e3b9e4101" /><Relationship Type="http://schemas.openxmlformats.org/officeDocument/2006/relationships/notesMaster" Target="/ppt/notesMasters/notesMaster1.xml" Id="R1a3e9904c7bc43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efbb45b9c04a7f" /><Relationship Type="http://schemas.openxmlformats.org/officeDocument/2006/relationships/notesMaster" Target="/ppt/notesMasters/notesMaster1.xml" Id="R4a51aa24e0c241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9e90144a56486e" /><Relationship Type="http://schemas.openxmlformats.org/officeDocument/2006/relationships/notesMaster" Target="/ppt/notesMasters/notesMaster1.xml" Id="R6c44d37326ce4b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b38c84ae48416e" /><Relationship Type="http://schemas.openxmlformats.org/officeDocument/2006/relationships/notesMaster" Target="/ppt/notesMasters/notesMaster1.xml" Id="R9cc27230e85d4b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f41784c219415a" /><Relationship Type="http://schemas.openxmlformats.org/officeDocument/2006/relationships/notesMaster" Target="/ppt/notesMasters/notesMaster1.xml" Id="R52f940f62fd24ff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8865759f1b4c2e" /><Relationship Type="http://schemas.openxmlformats.org/officeDocument/2006/relationships/notesMaster" Target="/ppt/notesMasters/notesMaster1.xml" Id="R1eebc7268f3d4b9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3711c01ca8c4114" /><Relationship Type="http://schemas.openxmlformats.org/officeDocument/2006/relationships/notesMaster" Target="/ppt/notesMasters/notesMaster1.xml" Id="R4fec3399fd33429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af3ccd3c7954a42" /><Relationship Type="http://schemas.openxmlformats.org/officeDocument/2006/relationships/notesMaster" Target="/ppt/notesMasters/notesMaster1.xml" Id="R5237c99b9a1440b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01f1e47bf084006" /><Relationship Type="http://schemas.openxmlformats.org/officeDocument/2006/relationships/notesMaster" Target="/ppt/notesMasters/notesMaster1.xml" Id="R7e49c62f317e42b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80a4653f0c42a7" /><Relationship Type="http://schemas.openxmlformats.org/officeDocument/2006/relationships/notesMaster" Target="/ppt/notesMasters/notesMaster1.xml" Id="R1b8d5fd698b0411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1f7966fb39e482e" /><Relationship Type="http://schemas.openxmlformats.org/officeDocument/2006/relationships/notesMaster" Target="/ppt/notesMasters/notesMaster1.xml" Id="Refd5b2688fd24a5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3e7ce571f5e4642" /><Relationship Type="http://schemas.openxmlformats.org/officeDocument/2006/relationships/notesMaster" Target="/ppt/notesMasters/notesMaster1.xml" Id="R7978a108f5bd49a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a3e2bbef4684c0d" /><Relationship Type="http://schemas.openxmlformats.org/officeDocument/2006/relationships/notesMaster" Target="/ppt/notesMasters/notesMaster1.xml" Id="Rfab09576812b4e7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fdef6b68593488e" /><Relationship Type="http://schemas.openxmlformats.org/officeDocument/2006/relationships/notesMaster" Target="/ppt/notesMasters/notesMaster1.xml" Id="Rf2b3b67dc29e4f0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e689cdfff644cdd" /><Relationship Type="http://schemas.openxmlformats.org/officeDocument/2006/relationships/notesMaster" Target="/ppt/notesMasters/notesMaster1.xml" Id="Rae8facde8bff420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b7c0d2fee0b45b5" /><Relationship Type="http://schemas.openxmlformats.org/officeDocument/2006/relationships/notesMaster" Target="/ppt/notesMasters/notesMaster1.xml" Id="R8083dcb8a3874e1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dae579da7464972" /><Relationship Type="http://schemas.openxmlformats.org/officeDocument/2006/relationships/notesMaster" Target="/ppt/notesMasters/notesMaster1.xml" Id="R77fdacc0258b49c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c5dfcc11f0b42ca" /><Relationship Type="http://schemas.openxmlformats.org/officeDocument/2006/relationships/notesMaster" Target="/ppt/notesMasters/notesMaster1.xml" Id="R9a603d5b5c624b7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a48309941a14bd9" /><Relationship Type="http://schemas.openxmlformats.org/officeDocument/2006/relationships/notesMaster" Target="/ppt/notesMasters/notesMaster1.xml" Id="Re99b0e99123d40a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d0c169eb23b44a7" /><Relationship Type="http://schemas.openxmlformats.org/officeDocument/2006/relationships/notesMaster" Target="/ppt/notesMasters/notesMaster1.xml" Id="R61687fe0bad14ad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e0408c920c04e47" /><Relationship Type="http://schemas.openxmlformats.org/officeDocument/2006/relationships/notesMaster" Target="/ppt/notesMasters/notesMaster1.xml" Id="R28e2049302274d3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fe4ea91711d4e27" /><Relationship Type="http://schemas.openxmlformats.org/officeDocument/2006/relationships/notesMaster" Target="/ppt/notesMasters/notesMaster1.xml" Id="Rf7ea3a2dd8904dd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3bb32c81c0a427e" /><Relationship Type="http://schemas.openxmlformats.org/officeDocument/2006/relationships/notesMaster" Target="/ppt/notesMasters/notesMaster1.xml" Id="R2e03d4299447440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6967dc1631e405b" /><Relationship Type="http://schemas.openxmlformats.org/officeDocument/2006/relationships/notesMaster" Target="/ppt/notesMasters/notesMaster1.xml" Id="R6b930cf7a189405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b1a741c175a4e22" /><Relationship Type="http://schemas.openxmlformats.org/officeDocument/2006/relationships/notesMaster" Target="/ppt/notesMasters/notesMaster1.xml" Id="Rbce74e7590ac43b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2cb7b65ca6c4c45" /><Relationship Type="http://schemas.openxmlformats.org/officeDocument/2006/relationships/notesMaster" Target="/ppt/notesMasters/notesMaster1.xml" Id="R67ffe5342586484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5f36a7d87b94e48" /><Relationship Type="http://schemas.openxmlformats.org/officeDocument/2006/relationships/notesMaster" Target="/ppt/notesMasters/notesMaster1.xml" Id="R296cb43984454c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Imagen de portada original generada para esta presentación; sin marcas ni texto incrustado.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https://ethereum.org/developers/docs/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https://nakamotoinstitute.org/library/time-stamp-digital-document/</a:t>
            </a:r>
          </a:p>
          <a:p xmlns:a="http://schemas.openxmlformats.org/drawingml/2006/main">
            <a:r>
              <a:t>- https://www.microsoft.com/en-us/research/publication/byzantine-generals-problem/</a:t>
            </a:r>
          </a:p>
          <a:p xmlns:a="http://schemas.openxmlformats.org/drawingml/2006/main">
            <a:r>
              <a:t>- https://www.hashcash.org/papers/hashcash.pdf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https://ethereum.org/whitepaper/</a:t>
            </a:r>
          </a:p>
          <a:p xmlns:a="http://schemas.openxmlformats.org/drawingml/2006/main">
            <a:r>
              <a:t>- https://eips.ethereum.org/EIPS/eip-4844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- https://hyperledger-fabric.readthedocs.io/en/latest/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https://www.microsoft.com/en-us/research/publication/byzantine-generals-problem/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https://ethereum.org/developers/docs/consensus-mechanisms/pos/</a:t>
            </a:r>
          </a:p>
          <a:p xmlns:a="http://schemas.openxmlformats.org/drawingml/2006/main">
            <a:r>
              <a:t>- https://hyperledger-fabric.readthedocs.io/en/latest/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https://www.cs.princeton.edu/courses/archive/spr22/cos418/papers/cap.pdf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https://ethereum.org/developers/docs/</a:t>
            </a:r>
          </a:p>
          <a:p xmlns:a="http://schemas.openxmlformats.org/drawingml/2006/main">
            <a:r>
              <a:t>- https://hyperledger-fabric.readthedocs.io/en/latest/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Cálculo reproducible: SHA-256 de “Bloque 42 | Alice→Bob: 1” y “Bloque 42 | Alice→Bob: 2”; distancia de Hamming = 137 bits.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https://doi.org/10.6028/NIST.FIPS.180-4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https://doi.org/10.6028/NIST.FIPS.186-5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Cálculo del gráfico: tamaño de prueba = log2(n) para n potencia de dos.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https://ethereum.org/developers/docs/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https://ethereum.org/developers/docs/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https://ethereum.org/developers/docs/mev/</a:t>
            </a:r>
          </a:p>
          <a:p xmlns:a="http://schemas.openxmlformats.org/drawingml/2006/main">
            <a:r>
              <a:t>- https://ethereum.org/developers/docs/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https://www.microsoft.com/en-us/research/publication/byzantine-generals-problem/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https://hyperledger-fabric.readthedocs.io/en/latest/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Probabilidades calculadas con la aproximación de Poisson de la sección 11 del white paper de Bitcoin.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https://ethereum.org/developers/docs/consensus-mechanisms/pos/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https://ethereum.org/developers/docs/consensus-mechanisms/pos/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https://www.microsoft.com/en-us/research/publication/byzantine-generals-problem/</a:t>
            </a:r>
          </a:p>
          <a:p xmlns:a="http://schemas.openxmlformats.org/drawingml/2006/main">
            <a:r>
              <a:t>- https://hyperledger-fabric.readthedocs.io/en/latest/fabric_model.html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https://ethereum.org/developers/docs/consensus-mechanisms/pos/</a:t>
            </a:r>
          </a:p>
          <a:p xmlns:a="http://schemas.openxmlformats.org/drawingml/2006/main">
            <a:r>
              <a:t>- https://hyperledger-fabric.readthedocs.io/en/latest/fabric_model.html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- https://hyperledger-fabric.readthedocs.io/en/latest/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https://ethereum.org/developers/docs/smart-contracts/</a:t>
            </a:r>
          </a:p>
          <a:p xmlns:a="http://schemas.openxmlformats.org/drawingml/2006/main">
            <a:r>
              <a:t>- https://ethereum.org/developers/docs/oracles/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https://ethereum.org/developers/docs/smart-contracts/</a:t>
            </a:r>
          </a:p>
          <a:p xmlns:a="http://schemas.openxmlformats.org/drawingml/2006/main">
            <a:r>
              <a:t>- https://ethereum.org/developers/docs/smart-contracts/security/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https://ethereum.org/developers/docs/smart-contracts/</a:t>
            </a:r>
          </a:p>
          <a:p xmlns:a="http://schemas.openxmlformats.org/drawingml/2006/main">
            <a:r>
              <a:t>- https://ethereum.org/developers/docs/oracles/</a:t>
            </a:r>
          </a:p>
          <a:p xmlns:a="http://schemas.openxmlformats.org/drawingml/2006/main">
            <a:r>
              <a:t>- https://ethereum.org/developers/docs/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https://ethereum.org/developers/docs/oracles/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- https://ethereum.org/developers/docs/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https://ethereum.org/developers/docs/scaling/</a:t>
            </a:r>
          </a:p>
          <a:p xmlns:a="http://schemas.openxmlformats.org/drawingml/2006/main">
            <a:r>
              <a:t>- https://ethereum.org/developers/docs/scaling/optimistic-rollups/</a:t>
            </a:r>
          </a:p>
          <a:p xmlns:a="http://schemas.openxmlformats.org/drawingml/2006/main">
            <a:r>
              <a:t>- https://ethereum.org/developers/docs/scaling/zk-rollups/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https://ethereum.org/developers/docs/scaling/</a:t>
            </a:r>
          </a:p>
          <a:p xmlns:a="http://schemas.openxmlformats.org/drawingml/2006/main">
            <a:r>
              <a:t>- https://eips.ethereum.org/EIPS/eip-4844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https://ethereum.org/developers/docs/smart-contracts/security/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- https://www.w3.org/TR/vc-data-model-2.0/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https://www.bis.org/about/bisih/topics/fmis/agora.htm</a:t>
            </a:r>
          </a:p>
          <a:p xmlns:a="http://schemas.openxmlformats.org/drawingml/2006/main">
            <a:r>
              <a:t>- https://www.bis.org/publ/arpdf/ar2026e3.htm</a:t>
            </a:r>
          </a:p>
          <a:p xmlns:a="http://schemas.openxmlformats.org/drawingml/2006/main">
            <a:r>
              <a:t>- https://www.esma.europa.eu/esmas-activities/digital-finance-and-innovation/dlt-pilot-regime</a:t>
            </a:r>
          </a:p>
          <a:p xmlns:a="http://schemas.openxmlformats.org/drawingml/2006/main">
            <a:r>
              <a:t>- https://eur-lex.europa.eu/eli/reg/2022/858/oj/eng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https://www.w3.org/TR/vc-data-model-2.0/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Actividad didáctica: usar dificultad reducida; aclarar que no reproduce economía, latencia ni escala de una red real.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https://ethereum.org/developers/docs/</a:t>
            </a:r>
          </a:p>
          <a:p xmlns:a="http://schemas.openxmlformats.org/drawingml/2006/main">
            <a:r>
              <a:t>- https://hyperledger-fabric.readthedocs.io/en/latest/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https://doi.org/10.6028/NIST.IR.8202</a:t>
            </a:r>
          </a:p>
          <a:p xmlns:a="http://schemas.openxmlformats.org/drawingml/2006/main">
            <a:r>
              <a:t>- https://bitcoin.org/bitcoin.pdf</a:t>
            </a:r>
          </a:p>
          <a:p xmlns:a="http://schemas.openxmlformats.org/drawingml/2006/main">
            <a:r>
              <a:t>- https://www.microsoft.com/en-us/research/publication/byzantine-generals-problem/</a:t>
            </a:r>
          </a:p>
          <a:p xmlns:a="http://schemas.openxmlformats.org/drawingml/2006/main">
            <a:r>
              <a:t>- https://www.cs.princeton.edu/courses/archive/spr22/cos418/papers/cap.pdf</a:t>
            </a:r>
          </a:p>
          <a:p xmlns:a="http://schemas.openxmlformats.org/drawingml/2006/main">
            <a:r>
              <a:t>- https://nakamotoinstitute.org/library/time-stamp-digital-document/</a:t>
            </a:r>
          </a:p>
          <a:p xmlns:a="http://schemas.openxmlformats.org/drawingml/2006/main">
            <a:r>
              <a:t>- https://www.hashcash.org/papers/hashcash.pdf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https://doi.org/10.6028/NIST.FIPS.180-4</a:t>
            </a:r>
          </a:p>
          <a:p xmlns:a="http://schemas.openxmlformats.org/drawingml/2006/main">
            <a:r>
              <a:t>- https://doi.org/10.6028/NIST.FIPS.186-5</a:t>
            </a:r>
          </a:p>
          <a:p xmlns:a="http://schemas.openxmlformats.org/drawingml/2006/main">
            <a:r>
              <a:t>- https://ethereum.org/whitepaper/</a:t>
            </a:r>
          </a:p>
          <a:p xmlns:a="http://schemas.openxmlformats.org/drawingml/2006/main">
            <a:r>
              <a:t>- https://ethereum.org/developers/docs/</a:t>
            </a:r>
          </a:p>
          <a:p xmlns:a="http://schemas.openxmlformats.org/drawingml/2006/main">
            <a:r>
              <a:t>- https://ethereum.org/developers/docs/scaling/</a:t>
            </a:r>
          </a:p>
          <a:p xmlns:a="http://schemas.openxmlformats.org/drawingml/2006/main">
            <a:r>
              <a:t>- https://eips.ethereum.org/EIPS/eip-4844</a:t>
            </a:r>
          </a:p>
          <a:p xmlns:a="http://schemas.openxmlformats.org/drawingml/2006/main">
            <a:r>
              <a:t>- https://hyperledger-fabric.readthedocs.io/en/latest/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https://www.w3.org/TR/vc-data-model-2.0/</a:t>
            </a:r>
          </a:p>
          <a:p xmlns:a="http://schemas.openxmlformats.org/drawingml/2006/main">
            <a:r>
              <a:t>- https://www.bis.org/about/bisih/topics/fmis/agora.htm</a:t>
            </a:r>
          </a:p>
          <a:p xmlns:a="http://schemas.openxmlformats.org/drawingml/2006/main">
            <a:r>
              <a:t>- https://www.bis.org/publ/arpdf/ar2026e3.htm</a:t>
            </a:r>
          </a:p>
          <a:p xmlns:a="http://schemas.openxmlformats.org/drawingml/2006/main">
            <a:r>
              <a:t>- https://eur-lex.europa.eu/eli/reg/2022/858/oj/eng</a:t>
            </a:r>
          </a:p>
          <a:p xmlns:a="http://schemas.openxmlformats.org/drawingml/2006/main">
            <a:r>
              <a:t>- https://www.esma.europa.eu/esmas-activities/digital-finance-and-innovation/dlt-pilot-regime</a:t>
            </a:r>
          </a:p>
          <a:p xmlns:a="http://schemas.openxmlformats.org/drawingml/2006/main">
            <a:r>
              <a:t>- https://ethereum.org/developers/docs/smart-contracts/security/</a:t>
            </a:r>
          </a:p>
          <a:p xmlns:a="http://schemas.openxmlformats.org/drawingml/2006/main">
            <a:r>
              <a:t>- https://ethereum.org/developers/docs/oracles/</a:t>
            </a:r>
          </a:p>
          <a:p xmlns:a="http://schemas.openxmlformats.org/drawingml/2006/main">
            <a:r>
              <a:t>- https://ethereum.org/developers/docs/mev/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47c5d597b4d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1c28adbad14566" /><Relationship Type="http://schemas.openxmlformats.org/officeDocument/2006/relationships/slideLayout" Target="/ppt/slideLayouts/slideLayout1.xml" Id="Rf8b77a9beedd45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b77a9beedd45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lockchain Academic">
      <a:dk1>
        <a:srgbClr val="000000"/>
      </a:dk1>
      <a:lt1>
        <a:srgbClr val="FFFFFF"/>
      </a:lt1>
      <a:dk2>
        <a:srgbClr val="071A2D"/>
      </a:dk2>
      <a:lt2>
        <a:srgbClr val="D6DEE6"/>
      </a:lt2>
      <a:accent1>
        <a:srgbClr val="2D6BFF"/>
      </a:accent1>
      <a:accent2>
        <a:srgbClr val="19BFA7"/>
      </a:accent2>
      <a:accent3>
        <a:srgbClr val="7458FF"/>
      </a:accent3>
      <a:accent4>
        <a:srgbClr val="F59E0B"/>
      </a:accent4>
      <a:accent5>
        <a:srgbClr val="E74C3C"/>
      </a:accent5>
      <a:accent6>
        <a:srgbClr val="1C9C72"/>
      </a:accent6>
      <a:hlink>
        <a:srgbClr val="2D6BFF"/>
      </a:hlink>
      <a:folHlink>
        <a:srgbClr val="7458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ockchain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290e359904dbd" /><Relationship Type="http://schemas.openxmlformats.org/officeDocument/2006/relationships/image" Target="/ppt/media/image.png" Id="Re22c187b710b4ed5" /><Relationship Type="http://schemas.openxmlformats.org/officeDocument/2006/relationships/notesSlide" Target="/ppt/notesSlides/notesSlide1.xml" Id="Rb591e1c0db0040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b9cdf76f04c5d" /><Relationship Type="http://schemas.openxmlformats.org/officeDocument/2006/relationships/notesSlide" Target="/ppt/notesSlides/notesSlide2.xml" Id="R9a7804c4c1fc44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a28a62f1146a8" /><Relationship Type="http://schemas.openxmlformats.org/officeDocument/2006/relationships/notesSlide" Target="/ppt/notesSlides/notesSlide3.xml" Id="Rd8eeac3b656248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935f036c44b7e" /><Relationship Type="http://schemas.openxmlformats.org/officeDocument/2006/relationships/notesSlide" Target="/ppt/notesSlides/notesSlide4.xml" Id="R59439fef92c842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11e52d3d54b31" /><Relationship Type="http://schemas.openxmlformats.org/officeDocument/2006/relationships/notesSlide" Target="/ppt/notesSlides/notesSlide5.xml" Id="R83df1c4822a14d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83e92d4e241f5" /><Relationship Type="http://schemas.openxmlformats.org/officeDocument/2006/relationships/notesSlide" Target="/ppt/notesSlides/notesSlide6.xml" Id="R60fa8ce652d346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3e1d943ca4890" /><Relationship Type="http://schemas.openxmlformats.org/officeDocument/2006/relationships/notesSlide" Target="/ppt/notesSlides/notesSlide7.xml" Id="R0310821daf0745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6aae7e1844af0" /><Relationship Type="http://schemas.openxmlformats.org/officeDocument/2006/relationships/notesSlide" Target="/ppt/notesSlides/notesSlide8.xml" Id="R4ad5c7a86c674d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47dcf1de6414a" /><Relationship Type="http://schemas.openxmlformats.org/officeDocument/2006/relationships/notesSlide" Target="/ppt/notesSlides/notesSlide9.xml" Id="Rd3c3b6126cc548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5b177d2494f34" /><Relationship Type="http://schemas.openxmlformats.org/officeDocument/2006/relationships/notesSlide" Target="/ppt/notesSlides/notesSlide10.xml" Id="R840261c4aa8547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45dccb39f4d8b" /><Relationship Type="http://schemas.openxmlformats.org/officeDocument/2006/relationships/notesSlide" Target="/ppt/notesSlides/notesSlide11.xml" Id="R4135f25fabfd49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18b4b38114977" /><Relationship Type="http://schemas.openxmlformats.org/officeDocument/2006/relationships/notesSlide" Target="/ppt/notesSlides/notesSlide12.xml" Id="R7015d16165f14a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0f35eb13646d9" /><Relationship Type="http://schemas.openxmlformats.org/officeDocument/2006/relationships/chart" Target="/ppt/slides/charts/chart1.xml" Id="R04063c50ead14453" /><Relationship Type="http://schemas.openxmlformats.org/officeDocument/2006/relationships/notesSlide" Target="/ppt/notesSlides/notesSlide13.xml" Id="Rb399f13cb3f84e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174a8f3514835" /><Relationship Type="http://schemas.openxmlformats.org/officeDocument/2006/relationships/notesSlide" Target="/ppt/notesSlides/notesSlide14.xml" Id="Rf2f2a5139e1c4e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e0fc76a994e5b" /><Relationship Type="http://schemas.openxmlformats.org/officeDocument/2006/relationships/notesSlide" Target="/ppt/notesSlides/notesSlide15.xml" Id="R68c8fdff103144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bf8652db340d9" /><Relationship Type="http://schemas.openxmlformats.org/officeDocument/2006/relationships/notesSlide" Target="/ppt/notesSlides/notesSlide16.xml" Id="R2d7d41307d8f41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3e6abc31443f2" /><Relationship Type="http://schemas.openxmlformats.org/officeDocument/2006/relationships/notesSlide" Target="/ppt/notesSlides/notesSlide17.xml" Id="Rb9b0b16b59e04a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5a93f0af6495a" /><Relationship Type="http://schemas.openxmlformats.org/officeDocument/2006/relationships/notesSlide" Target="/ppt/notesSlides/notesSlide18.xml" Id="R092868a0a8c04c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43b3c75cc4715" /><Relationship Type="http://schemas.openxmlformats.org/officeDocument/2006/relationships/notesSlide" Target="/ppt/notesSlides/notesSlide19.xml" Id="Rbaa54097321743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5b57d413d4db2" /><Relationship Type="http://schemas.openxmlformats.org/officeDocument/2006/relationships/chart" Target="/ppt/slides/charts/chart2.xml" Id="Rbe07e38fb74446ff" /><Relationship Type="http://schemas.openxmlformats.org/officeDocument/2006/relationships/notesSlide" Target="/ppt/notesSlides/notesSlide20.xml" Id="Rdfc4ca36abc046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4ef2ee43c44bd" /><Relationship Type="http://schemas.openxmlformats.org/officeDocument/2006/relationships/notesSlide" Target="/ppt/notesSlides/notesSlide21.xml" Id="R79ba7b21601d46c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b1808b7f54fcd" /><Relationship Type="http://schemas.openxmlformats.org/officeDocument/2006/relationships/notesSlide" Target="/ppt/notesSlides/notesSlide22.xml" Id="Rbd0f0b1f7796463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1d7e7b7fa4a48" /><Relationship Type="http://schemas.openxmlformats.org/officeDocument/2006/relationships/notesSlide" Target="/ppt/notesSlides/notesSlide23.xml" Id="Rccf36728465c4c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98c779df9435d" /><Relationship Type="http://schemas.openxmlformats.org/officeDocument/2006/relationships/notesSlide" Target="/ppt/notesSlides/notesSlide24.xml" Id="R6bfc798fb6db4a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4eaf4befa4aeb" /><Relationship Type="http://schemas.openxmlformats.org/officeDocument/2006/relationships/notesSlide" Target="/ppt/notesSlides/notesSlide25.xml" Id="R5267b14b393a4fa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66ce479034052" /><Relationship Type="http://schemas.openxmlformats.org/officeDocument/2006/relationships/notesSlide" Target="/ppt/notesSlides/notesSlide26.xml" Id="R81c54e80b2854d0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51d0ef9d44539" /><Relationship Type="http://schemas.openxmlformats.org/officeDocument/2006/relationships/notesSlide" Target="/ppt/notesSlides/notesSlide27.xml" Id="R7fec62befe88453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d6162bd6c414f" /><Relationship Type="http://schemas.openxmlformats.org/officeDocument/2006/relationships/notesSlide" Target="/ppt/notesSlides/notesSlide28.xml" Id="R34a2c6f98e3d412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05ba5e23d4d6a" /><Relationship Type="http://schemas.openxmlformats.org/officeDocument/2006/relationships/notesSlide" Target="/ppt/notesSlides/notesSlide29.xml" Id="Re1a58198e79d4b9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66bd0d42a4dd6" /><Relationship Type="http://schemas.openxmlformats.org/officeDocument/2006/relationships/notesSlide" Target="/ppt/notesSlides/notesSlide30.xml" Id="R9d1b425a8bde413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f711894744a7d" /><Relationship Type="http://schemas.openxmlformats.org/officeDocument/2006/relationships/notesSlide" Target="/ppt/notesSlides/notesSlide31.xml" Id="R1cb150b66e84409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e773054f04428" /><Relationship Type="http://schemas.openxmlformats.org/officeDocument/2006/relationships/notesSlide" Target="/ppt/notesSlides/notesSlide32.xml" Id="R26e992100002450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3e528f7bd4f6f" /><Relationship Type="http://schemas.openxmlformats.org/officeDocument/2006/relationships/notesSlide" Target="/ppt/notesSlides/notesSlide33.xml" Id="Rf4e57b52ba1e43a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e4afbe0f54726" /><Relationship Type="http://schemas.openxmlformats.org/officeDocument/2006/relationships/notesSlide" Target="/ppt/notesSlides/notesSlide34.xml" Id="R925c34ef32334c9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79c14547541b2" /><Relationship Type="http://schemas.openxmlformats.org/officeDocument/2006/relationships/notesSlide" Target="/ppt/notesSlides/notesSlide35.xml" Id="R132526f7703d410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2c2acdbda431a" /><Relationship Type="http://schemas.openxmlformats.org/officeDocument/2006/relationships/notesSlide" Target="/ppt/notesSlides/notesSlide36.xml" Id="Rf535a90ba8e446d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22598cb6e476b" /><Relationship Type="http://schemas.openxmlformats.org/officeDocument/2006/relationships/notesSlide" Target="/ppt/notesSlides/notesSlide37.xml" Id="R49c23ae96c38422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c5c4e2d2b4e06" /><Relationship Type="http://schemas.openxmlformats.org/officeDocument/2006/relationships/notesSlide" Target="/ppt/notesSlides/notesSlide38.xml" Id="R0a6c0e21cd74428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3621e74524746" /><Relationship Type="http://schemas.openxmlformats.org/officeDocument/2006/relationships/notesSlide" Target="/ppt/notesSlides/notesSlide39.xml" Id="R4bb21aca499e4d2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ceff699e64196" /><Relationship Type="http://schemas.openxmlformats.org/officeDocument/2006/relationships/notesSlide" Target="/ppt/notesSlides/notesSlide40.xml" Id="R03116573c10d452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901d2314c4318" /><Relationship Type="http://schemas.openxmlformats.org/officeDocument/2006/relationships/notesSlide" Target="/ppt/notesSlides/notesSlide41.xml" Id="Rc617c983c9474ed8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Hashes hermanos</c:v>
          </c:tx>
          <c:spPr>
            <a:ln xmlns:a="http://schemas.openxmlformats.org/drawingml/2006/main" w="38100">
              <a:solidFill>
                <a:srgbClr val="2D6B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2D6BFF"/>
              </a:solidFill>
            </c:spPr>
          </c:marker>
          <c:cat>
            <c:strLit>
              <c:ptCount val="5"/>
              <c:pt idx="0">
                <c:v>8</c:v>
              </c:pt>
              <c:pt idx="1">
                <c:v>16</c:v>
              </c:pt>
              <c:pt idx="2">
                <c:v>256</c:v>
              </c:pt>
              <c:pt idx="3">
                <c:v>65.536</c:v>
              </c:pt>
              <c:pt idx="4">
                <c:v>1.048.576</c:v>
              </c:pt>
            </c:strLit>
          </c:cat>
          <c:val>
            <c:numLit>
              <c:formatCode>General</c:formatCode>
              <c:ptCount val="5"/>
              <c:pt idx="0">
                <c:v>3</c:v>
              </c:pt>
              <c:pt idx="1">
                <c:v>4</c:v>
              </c:pt>
              <c:pt idx="2">
                <c:v>8</c:v>
              </c:pt>
              <c:pt idx="3">
                <c:v>16</c:v>
              </c:pt>
              <c:pt idx="4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B1F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477"/>
                    </a:solidFill>
                  </a:rPr>
                  <a:t>Cantidad de hojas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477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E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47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477"/>
                    </a:solidFill>
                  </a:rPr>
                  <a:t>Hashes en la prueba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477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477"/>
                </a:solidFill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Atacante q=10%</c:v>
          </c:tx>
          <c:spPr>
            <a:ln xmlns:a="http://schemas.openxmlformats.org/drawingml/2006/main" w="30480">
              <a:solidFill>
                <a:srgbClr val="19BFA7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19BFA7"/>
              </a:solidFill>
            </c:spPr>
          </c:marker>
          <c:cat>
            <c:numLit>
              <c:formatCode>General</c:formatCode>
              <c:ptCount val="12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0%</c:formatCode>
              <c:ptCount val="12"/>
              <c:pt idx="0">
                <c:v>0.20458727394278242</c:v>
              </c:pt>
              <c:pt idx="1">
                <c:v>0.05097789283933862</c:v>
              </c:pt>
              <c:pt idx="2">
                <c:v>0.013172241678896746</c:v>
              </c:pt>
              <c:pt idx="3">
                <c:v>0.0034552434664854026</c:v>
              </c:pt>
              <c:pt idx="4">
                <c:v>0.0009136821879279777</c:v>
              </c:pt>
              <c:pt idx="5">
                <c:v>0.00024280274536292445</c:v>
              </c:pt>
              <c:pt idx="6">
                <c:v>6.473531692718915E-05</c:v>
              </c:pt>
              <c:pt idx="7">
                <c:v>1.729980418707644E-05</c:v>
              </c:pt>
              <c:pt idx="8">
                <c:v>4.6311639726459575E-06</c:v>
              </c:pt>
              <c:pt idx="9">
                <c:v>1.2414021748341497E-06</c:v>
              </c:pt>
              <c:pt idx="10">
                <c:v>3.3310847558087886E-07</c:v>
              </c:pt>
              <c:pt idx="11">
                <c:v>8.945841367680174E-08</c:v>
              </c:pt>
            </c:numLit>
          </c:val>
        </c:ser>
        <c:ser>
          <c:idx val="1"/>
          <c:order val="1"/>
          <c:tx>
            <c:v>Atacante q=20%</c:v>
          </c:tx>
          <c:spPr>
            <a:ln xmlns:a="http://schemas.openxmlformats.org/drawingml/2006/main" w="30480">
              <a:solidFill>
                <a:srgbClr val="2D6BF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D6BFF"/>
              </a:solidFill>
            </c:spPr>
          </c:marker>
          <c:cat>
            <c:numLit>
              <c:formatCode>General</c:formatCode>
              <c:ptCount val="12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0%</c:formatCode>
              <c:ptCount val="12"/>
              <c:pt idx="0">
                <c:v>0.41589941269644637</c:v>
              </c:pt>
              <c:pt idx="1">
                <c:v>0.20392850912716864</c:v>
              </c:pt>
              <c:pt idx="2">
                <c:v>0.10324162253072999</c:v>
              </c:pt>
              <c:pt idx="3">
                <c:v>0.05299784479695124</c:v>
              </c:pt>
              <c:pt idx="4">
                <c:v>0.02741554005309732</c:v>
              </c:pt>
              <c:pt idx="5">
                <c:v>0.014250610363794713</c:v>
              </c:pt>
              <c:pt idx="6">
                <c:v>0.00743191273205146</c:v>
              </c:pt>
              <c:pt idx="7">
                <c:v>0.0038850709098574576</c:v>
              </c:pt>
              <c:pt idx="8">
                <c:v>0.0020345663201656317</c:v>
              </c:pt>
              <c:pt idx="9">
                <c:v>0.001066952797483145</c:v>
              </c:pt>
              <c:pt idx="10">
                <c:v>0.00056013910916064</c:v>
              </c:pt>
              <c:pt idx="11">
                <c:v>0.00029432957317665487</c:v>
              </c:pt>
            </c:numLit>
          </c:val>
        </c:ser>
        <c:ser>
          <c:idx val="2"/>
          <c:order val="2"/>
          <c:tx>
            <c:v>Atacante q=30%</c:v>
          </c:tx>
          <c:spPr>
            <a:ln xmlns:a="http://schemas.openxmlformats.org/drawingml/2006/main" w="30480">
              <a:solidFill>
                <a:srgbClr val="E74C3C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E74C3C"/>
              </a:solidFill>
            </c:spPr>
          </c:marker>
          <c:cat>
            <c:numLit>
              <c:formatCode>General</c:formatCode>
              <c:ptCount val="12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0%</c:formatCode>
              <c:ptCount val="12"/>
              <c:pt idx="0">
                <c:v>0.627749109982254</c:v>
              </c:pt>
              <c:pt idx="1">
                <c:v>0.44571709952398375</c:v>
              </c:pt>
              <c:pt idx="2">
                <c:v>0.32458410182048125</c:v>
              </c:pt>
              <c:pt idx="3">
                <c:v>0.2391268577972392</c:v>
              </c:pt>
              <c:pt idx="4">
                <c:v>0.1773523113609451</c:v>
              </c:pt>
              <c:pt idx="5">
                <c:v>0.13211116871353512</c:v>
              </c:pt>
              <c:pt idx="6">
                <c:v>0.09871249872696997</c:v>
              </c:pt>
              <c:pt idx="7">
                <c:v>0.0739243957008825</c:v>
              </c:pt>
              <c:pt idx="8">
                <c:v>0.05545720175749069</c:v>
              </c:pt>
              <c:pt idx="9">
                <c:v>0.04166047996897959</c:v>
              </c:pt>
              <c:pt idx="10">
                <c:v>0.031330875666920166</c:v>
              </c:pt>
              <c:pt idx="11">
                <c:v>0.023584016616764014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477"/>
                    </a:solidFill>
                  </a:rPr>
                  <a:t>Confirmaciones z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477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E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47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477"/>
                    </a:solidFill>
                  </a:rPr>
                  <a:t>Probabilidad estimada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477"/>
                  </a:solidFill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477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2647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c187b710b4ed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52CAB-00F2-441F-BDFA-CCB1A4D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BLOCKCHAIN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AFC56-A84B-4213-B3D5-B5A1BC64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D9D1"/>
                </a:solidFill>
              </a:defRPr>
            </a:pPr>
            <a:r>
              <a:rPr sz="2025" b="1">
                <a:solidFill>
                  <a:srgbClr val="5AD9D1"/>
                </a:solidFill>
              </a:rPr>
              <a:t>Fundamentos, arquitectura y aplicaciones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04020-73DF-4E8F-B4CB-6BA76C91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6E3EF"/>
                </a:solidFill>
              </a:defRPr>
            </a:pPr>
            <a:r>
              <a:rPr sz="1500" b="0">
                <a:solidFill>
                  <a:srgbClr val="D6E3EF"/>
                </a:solidFill>
              </a:rPr>
              <a:t>Criptografía, redes distribuidas, consenso, contratos inteligentes y criterios de adopción.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BD804-3129-4812-9FE3-084E2E98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AD9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AB574-3F8D-4D59-B8C6-1132D873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FB3C7"/>
                </a:solidFill>
              </a:defRPr>
            </a:pPr>
            <a:r>
              <a:rPr sz="1200" b="0">
                <a:solidFill>
                  <a:srgbClr val="9FB3C7"/>
                </a:solidFill>
              </a:rPr>
              <a:t>Material elaborado por el profesor Sergio Gevatschnaider.</a:t>
            </a:r>
          </a:p>
        </p:txBody>
      </p:sp>
    </p:spTree>
    <p:extLst>
      <p:ext uri="{BB962C8B-B14F-4D97-AF65-F5344CB8AC3E}">
        <p14:creationId xmlns:p14="http://schemas.microsoft.com/office/powerpoint/2010/main" val="26177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2">
            <a:extLst xmlns:a="http://schemas.openxmlformats.org/drawingml/2006/main">
              <a:ext uri="{FF2B5EF4-FFF2-40B4-BE49-F238E27FC236}">
                <a16:creationId xmlns:a16="http://schemas.microsoft.com/office/drawing/2014/main" id="{01463353-49AA-4DD4-854C-CCA5FCAA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MAPA DE APRENDIZAJE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F37CBC0-C3C6-4796-A9AC-064693BE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La clase avanza desde el problema hasta la decisión de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4ECEA-44BD-4C3D-99BC-5E6D836D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CCEF6572-77AE-4FE9-B7C5-65A6A811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C8E9B-6A79-4C7E-8AA2-405FF2EE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390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8DF6B-5EA8-4FFB-995B-4960283E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90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ED254-89BA-4BEA-8B34-84D6F6EA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2390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C2B8F-15E5-4738-8F5C-4BA58451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586038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6DB38-9ABB-4A62-8D52-9EAAFC07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3A2CF-1103-4083-989A-51370D07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76450"/>
            <a:ext cx="193833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Problema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BAEAF-1284-4A12-9A28-F945A54F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28123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Acordar un estado común entre partes que no comparten una autoridad única.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B50AC-F147-450E-B469-F9F139FF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952625"/>
            <a:ext cx="2586038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65089-76A6-40D3-92AA-72A3AF25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20859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9EE8C-B230-4B8E-AD1A-1B295E6C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2076450"/>
            <a:ext cx="193833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Mecanismos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719B2-3797-43E2-85C5-F7025462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2543175"/>
            <a:ext cx="228123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Hash, firmas, bloques, red P2P y modelos de consenso.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1EC59-E936-49DA-ABA6-7D7D457A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2586038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84E72-25CF-4736-A030-A403D4A0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859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050CA-15AC-4869-8187-A108BC59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76450"/>
            <a:ext cx="193833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Ejecución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163E0-D1E5-4241-ADA6-2E020B6A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43175"/>
            <a:ext cx="228123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Transacciones, contratos inteligentes, tokens y capas de escalado.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387AC3-358E-438A-B7AC-DCF0811F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952625"/>
            <a:ext cx="2586038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AC621-74B4-4FF8-A22F-A7CD495F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0859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6E1921-F0A0-4897-B1BA-CE7B50FE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0713" y="2076450"/>
            <a:ext cx="193833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Criterio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B47FB-2222-48AF-9AFA-838E1BB6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543175"/>
            <a:ext cx="228123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Evaluar seguridad, gobernanza, costo y alternativas tradicionales.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B4CA1-BC8E-47A8-A38E-1442E88A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38625"/>
            <a:ext cx="98298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E3617C-9F9F-408E-B1F4-BCA1D26F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AD9D1"/>
                </a:solidFill>
              </a:defRPr>
            </a:pPr>
            <a:r>
              <a:rPr sz="1350" b="1">
                <a:solidFill>
                  <a:srgbClr val="5AD9D1"/>
                </a:solidFill>
              </a:rPr>
              <a:t>Resultado esperado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67FFE-FDF9-4F92-83E7-8B652FCF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14875"/>
            <a:ext cx="891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Explicar blockchain como infraestructura de coordinación verificable, no como una base de datos rápida ni como sinónimo de criptomoneda.</a:t>
            </a:r>
          </a:p>
        </p:txBody>
      </p:sp>
    </p:spTree>
    <p:extLst>
      <p:ext uri="{BB962C8B-B14F-4D97-AF65-F5344CB8AC3E}">
        <p14:creationId xmlns:p14="http://schemas.microsoft.com/office/powerpoint/2010/main" val="677651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3">
            <a:extLst xmlns:a="http://schemas.openxmlformats.org/drawingml/2006/main">
              <a:ext uri="{FF2B5EF4-FFF2-40B4-BE49-F238E27FC236}">
                <a16:creationId xmlns:a16="http://schemas.microsoft.com/office/drawing/2014/main" id="{EE9FFD20-199D-4BD7-BB72-EA9F51F7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D9D1"/>
                </a:solidFill>
              </a:defRPr>
            </a:pPr>
            <a:r>
              <a:rPr sz="1050" b="1">
                <a:solidFill>
                  <a:srgbClr val="5AD9D1"/>
                </a:solidFill>
              </a:rPr>
              <a:t>1 · PROBLEMA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C8E3C27-58B9-48D4-AB83-0AA1F79E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El desafío es impedir el doble gasto sin un árbitro único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1C9D8-04D8-4F16-8E8C-90F6A6EB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9425C"/>
            </a:solidFill>
            <a:prstDash val="solid"/>
          </a:ln>
        </p:spPr>
      </p:sp>
      <p:sp>
        <p:nvSpPr>
          <p:cNvPr id="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CF31F3AB-67BD-4A9B-8597-0CF84517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FB3C7"/>
                </a:solidFill>
              </a:defRPr>
            </a:pPr>
            <a:r>
              <a:rPr sz="975" b="0">
                <a:solidFill>
                  <a:srgbClr val="9FB3C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DF3E4-7C63-403B-A03C-34B4923F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90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6E3EF"/>
                </a:solidFill>
              </a:defRPr>
            </a:pPr>
            <a:r>
              <a:rPr sz="1725" b="0">
                <a:solidFill>
                  <a:srgbClr val="D6E3EF"/>
                </a:solidFill>
              </a:rPr>
              <a:t>Una firma digital demuestra quién autorizó un mensaje, pero no decide cuál de dos transacciones incompatibles debe quedar en el historial compartido.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2F240-2681-4DCA-9D78-D264880E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95450"/>
            <a:ext cx="4095750" cy="2076450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102A45"/>
          </a:solidFill>
          <a:ln xmlns:a="http://schemas.openxmlformats.org/drawingml/2006/main" w="11430">
            <a:solidFill>
              <a:srgbClr val="2942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E44B1-AE0A-4F88-81C0-A0E356CA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52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AD9D1"/>
                </a:solidFill>
              </a:defRPr>
            </a:pPr>
            <a:r>
              <a:rPr sz="1350" b="1">
                <a:solidFill>
                  <a:srgbClr val="5AD9D1"/>
                </a:solidFill>
              </a:rPr>
              <a:t>Mismo activo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94400-8B00-4F00-8FF0-479224E6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1066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4E3B4-67BF-4242-A53B-2D69D816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81350"/>
            <a:ext cx="1066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58FF"/>
          </a:solidFill>
          <a:ln xmlns:a="http://schemas.openxmlformats.org/drawingml/2006/main" w="0">
            <a:solidFill>
              <a:srgbClr val="745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34552-332B-40CF-9144-F418490F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Pago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E73EF-8037-4185-8D94-E2CE6634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Pago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CF825-5F09-45CD-9738-C0BAE001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38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¿Cuál se acepta?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13CFF-09CE-4588-8836-66CAAD60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5918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A45"/>
          </a:solidFill>
          <a:ln xmlns:a="http://schemas.openxmlformats.org/drawingml/2006/main" w="11430">
            <a:solidFill>
              <a:srgbClr val="2942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36FEB-BC50-4E96-B09F-E4801CEE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998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Blockchain combina orden, verificación y una regla de consenso para que la red converja en un historial canónico bajo supuestos de seguridad explícitos.</a:t>
            </a:r>
          </a:p>
        </p:txBody>
      </p:sp>
    </p:spTree>
    <p:extLst>
      <p:ext uri="{BB962C8B-B14F-4D97-AF65-F5344CB8AC3E}">
        <p14:creationId xmlns:p14="http://schemas.microsoft.com/office/powerpoint/2010/main" val="10282639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4">
            <a:extLst xmlns:a="http://schemas.openxmlformats.org/drawingml/2006/main">
              <a:ext uri="{FF2B5EF4-FFF2-40B4-BE49-F238E27FC236}">
                <a16:creationId xmlns:a16="http://schemas.microsoft.com/office/drawing/2014/main" id="{D99FA249-99D8-4696-B7EE-94B6C61E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DEFINICIÓN TÉCNICA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3EBD22A-0F43-4A27-9B31-09B36F2C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Blockchain es un ledger distribuido resistente a alteraciones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F3D8F-CEE0-4720-88DA-F1D55497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4AE7C393-3904-4DED-BA26-18E67BF4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5CF0D-D057-452F-99F9-3260F5E7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477"/>
                </a:solidFill>
              </a:defRPr>
            </a:pPr>
            <a:r>
              <a:rPr sz="1575" b="0">
                <a:solidFill>
                  <a:srgbClr val="526477"/>
                </a:solidFill>
              </a:rPr>
              <a:t>Una definición útil debe describir propiedades y mecanismos, sin prometer una “inmutabilidad” absoluta.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D5E62-2D76-4F11-B3D3-F45ECEAB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1054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B76D3-8B5A-4BFE-8F42-605215B3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34233-BAAC-4E56-B97D-55A7A8D2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Ledger replicado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FEAD8-52DB-487A-AAAC-F9653DA2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70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Varios nodos mantienen y verifican copias del estado.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A2650-D3F8-43B7-8F06-7D9EF652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28850"/>
            <a:ext cx="51054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D8CAA-8CF3-40BF-A8B5-DBAF9DA1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288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2D4A5-08FD-4DDE-9220-283C607B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Registros enlazados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99690-3F63-4F07-9459-FCD2AD8C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470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Hash y estructuras de datos hacen visibles las modificaciones.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613C6-7355-4D32-807B-316B862F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1054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F7F7C-6E64-4E20-9586-FDAB5ED6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8FF"/>
          </a:solidFill>
          <a:ln xmlns:a="http://schemas.openxmlformats.org/drawingml/2006/main" w="0">
            <a:solidFill>
              <a:srgbClr val="745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08855-4D0D-42D5-AC7B-9123A6E4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Reglas de actualización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1C87D-A38A-48EC-8EA4-A7C41B07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470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Las transacciones válidas siguen reglas comunes de ejecución.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51349-33FD-4620-B0E7-6FCA355E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90950"/>
            <a:ext cx="51054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4B247-5376-4747-B479-7F8A8712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909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00658-AF62-4652-8858-73334661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Consenso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6BD94-8B35-4A5E-961D-8C03C276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43400"/>
            <a:ext cx="470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La red decide el orden y el estado aceptado ante fallas o competencia.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39FA3-27AF-487A-A5E7-EA2B97A5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Mejor término: tamper-evident y tamper-resistant. Cambiar el pasado puede ser posible, pero debe superar barreras criptográficas, económicas y de gobernanza.</a:t>
            </a:r>
          </a:p>
        </p:txBody>
      </p:sp>
    </p:spTree>
    <p:extLst>
      <p:ext uri="{BB962C8B-B14F-4D97-AF65-F5344CB8AC3E}">
        <p14:creationId xmlns:p14="http://schemas.microsoft.com/office/powerpoint/2010/main" val="1606075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ection-5">
            <a:extLst xmlns:a="http://schemas.openxmlformats.org/drawingml/2006/main">
              <a:ext uri="{FF2B5EF4-FFF2-40B4-BE49-F238E27FC236}">
                <a16:creationId xmlns:a16="http://schemas.microsoft.com/office/drawing/2014/main" id="{76CCB286-6F75-4F0B-9BE3-9BB464D3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EVOLUCIÓN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B5FC405-EAE8-49F3-AB39-981014AF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Bitcoin integró décadas de innovación previa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AD3F4-81EA-4DEB-8F6C-210344C2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C6DE05DA-156F-4C43-853A-C684C3BF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8CF8B-AD08-4875-B2D3-6F4356F1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A8557-86A2-4587-805B-C9C7E814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DFE38-318A-4E62-8DF4-656A2DCF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CD5D4-89A3-4F51-B221-D1983E2A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D6BFF"/>
                </a:solidFill>
              </a:defRPr>
            </a:pPr>
            <a:r>
              <a:rPr sz="1125" b="1">
                <a:solidFill>
                  <a:srgbClr val="2D6BFF"/>
                </a:solidFill>
              </a:rPr>
              <a:t>1979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556D6-5818-40E9-A0D3-907FF04E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171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0B1F33"/>
                </a:solidFill>
              </a:defRPr>
            </a:pPr>
            <a:r>
              <a:rPr sz="1088" b="1">
                <a:solidFill>
                  <a:srgbClr val="0B1F33"/>
                </a:solidFill>
              </a:rPr>
              <a:t>Merkle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1711F-5D45-4773-9D44-304B9E85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95550"/>
            <a:ext cx="129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526477"/>
                </a:solidFill>
              </a:defRPr>
            </a:pPr>
            <a:r>
              <a:rPr sz="1013" b="0">
                <a:solidFill>
                  <a:srgbClr val="526477"/>
                </a:solidFill>
              </a:rPr>
              <a:t>árboles de hash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F1CA2-35AE-4888-8221-487C8052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3ED1F-6029-4817-9B7F-55598E20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099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EC6CD-A3F6-4ABA-B39E-D9A87947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385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D6BFF"/>
                </a:solidFill>
              </a:defRPr>
            </a:pPr>
            <a:r>
              <a:rPr sz="1125" b="1">
                <a:solidFill>
                  <a:srgbClr val="2D6BFF"/>
                </a:solidFill>
              </a:rPr>
              <a:t>1982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2E7FB-0266-437D-A943-06460DF4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0B1F33"/>
                </a:solidFill>
              </a:defRPr>
            </a:pPr>
            <a:r>
              <a:rPr sz="1088" b="1">
                <a:solidFill>
                  <a:srgbClr val="0B1F33"/>
                </a:solidFill>
              </a:rPr>
              <a:t>Lamport et 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85F27-38A6-4283-A3A8-26FD485D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129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526477"/>
                </a:solidFill>
              </a:defRPr>
            </a:pPr>
            <a:r>
              <a:rPr sz="1013" b="0">
                <a:solidFill>
                  <a:srgbClr val="526477"/>
                </a:solidFill>
              </a:rPr>
              <a:t>fallas bizantinas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9897A-B31E-4174-9F48-A75DB6AA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39B3E-FBBA-4991-A17E-5BBF8DC0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3024A-55C8-45AD-9832-14C83313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050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D6BFF"/>
                </a:solidFill>
              </a:defRPr>
            </a:pPr>
            <a:r>
              <a:rPr sz="1125" b="1">
                <a:solidFill>
                  <a:srgbClr val="2D6BFF"/>
                </a:solidFill>
              </a:rPr>
              <a:t>1991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53DF5F-24D1-4B8F-8C0D-A6A10D25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0B1F33"/>
                </a:solidFill>
              </a:defRPr>
            </a:pPr>
            <a:r>
              <a:rPr sz="1088" b="1">
                <a:solidFill>
                  <a:srgbClr val="0B1F33"/>
                </a:solidFill>
              </a:rPr>
              <a:t>Haber–Stornetta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B6787-0FB1-4F1E-ACE4-6733AD85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95550"/>
            <a:ext cx="129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526477"/>
                </a:solidFill>
              </a:defRPr>
            </a:pPr>
            <a:r>
              <a:rPr sz="1013" b="0">
                <a:solidFill>
                  <a:srgbClr val="526477"/>
                </a:solidFill>
              </a:rPr>
              <a:t>sellado temporal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5CC03-5EB7-42BB-9F8A-3922E83C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088709-0873-4A0A-82F2-530937EE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099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FB42A-339F-4AC3-A093-C9BCF29F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D6BFF"/>
                </a:solidFill>
              </a:defRPr>
            </a:pPr>
            <a:r>
              <a:rPr sz="1125" b="1">
                <a:solidFill>
                  <a:srgbClr val="2D6BFF"/>
                </a:solidFill>
              </a:rPr>
              <a:t>1997/2002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5358B-620F-4635-A443-D899E7A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0B1F33"/>
                </a:solidFill>
              </a:defRPr>
            </a:pPr>
            <a:r>
              <a:rPr sz="1088" b="1">
                <a:solidFill>
                  <a:srgbClr val="0B1F33"/>
                </a:solidFill>
              </a:rPr>
              <a:t>Hashcash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6CF80D-B600-4248-B523-1A12A438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29100"/>
            <a:ext cx="129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526477"/>
                </a:solidFill>
              </a:defRPr>
            </a:pPr>
            <a:r>
              <a:rPr sz="1013" b="0">
                <a:solidFill>
                  <a:srgbClr val="526477"/>
                </a:solidFill>
              </a:rPr>
              <a:t>prueba de trabajo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6B2B16-AAEB-460F-97AD-1698F16C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24AE3-9F41-498E-B52F-BA66CF54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679DD6-9F86-4079-89F1-6BC730C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050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D6BFF"/>
                </a:solidFill>
              </a:defRPr>
            </a:pPr>
            <a:r>
              <a:rPr sz="1125" b="1">
                <a:solidFill>
                  <a:srgbClr val="2D6BFF"/>
                </a:solidFill>
              </a:rPr>
              <a:t>1998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93EED3-AE0C-40F3-95C9-D49E8A47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0B1F33"/>
                </a:solidFill>
              </a:defRPr>
            </a:pPr>
            <a:r>
              <a:rPr sz="1088" b="1">
                <a:solidFill>
                  <a:srgbClr val="0B1F33"/>
                </a:solidFill>
              </a:rPr>
              <a:t>b-money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534502-DB00-45C6-A2ED-62B9F4E8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129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526477"/>
                </a:solidFill>
              </a:defRPr>
            </a:pPr>
            <a:r>
              <a:rPr sz="1013" b="0">
                <a:solidFill>
                  <a:srgbClr val="526477"/>
                </a:solidFill>
              </a:rPr>
              <a:t>dinero digital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469436-9810-473A-9E62-B8658915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06FF87-5E54-481B-92F4-FFF3A53A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099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5FDC52-9B90-4780-860D-D9EDF45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385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D6BFF"/>
                </a:solidFill>
              </a:defRPr>
            </a:pPr>
            <a:r>
              <a:rPr sz="1125" b="1">
                <a:solidFill>
                  <a:srgbClr val="2D6BFF"/>
                </a:solidFill>
              </a:rPr>
              <a:t>2008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1CE143-48F9-4BC9-B099-1CB79938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052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0B1F33"/>
                </a:solidFill>
              </a:defRPr>
            </a:pPr>
            <a:r>
              <a:rPr sz="1088" b="1">
                <a:solidFill>
                  <a:srgbClr val="0B1F33"/>
                </a:solidFill>
              </a:rPr>
              <a:t>Bitcoin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C2DF0E-B63F-4CED-AFC9-638E2086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29100"/>
            <a:ext cx="129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526477"/>
                </a:solidFill>
              </a:defRPr>
            </a:pPr>
            <a:r>
              <a:rPr sz="1013" b="0">
                <a:solidFill>
                  <a:srgbClr val="526477"/>
                </a:solidFill>
              </a:rPr>
              <a:t>PoW + red P2P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514347-26A1-4C52-9B1D-9E55FC43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53B2C5-4425-41D6-9724-8BD41E6D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622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605183-9055-4714-8396-788A99FF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050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9BFA7"/>
                </a:solidFill>
              </a:defRPr>
            </a:pPr>
            <a:r>
              <a:rPr sz="1125" b="1">
                <a:solidFill>
                  <a:srgbClr val="19BFA7"/>
                </a:solidFill>
              </a:rPr>
              <a:t>2014/2015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7AA424-2D19-4F2B-8660-D7E4F56F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71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0B1F33"/>
                </a:solidFill>
              </a:defRPr>
            </a:pPr>
            <a:r>
              <a:rPr sz="1088" b="1">
                <a:solidFill>
                  <a:srgbClr val="0B1F33"/>
                </a:solidFill>
              </a:rPr>
              <a:t>Ethereum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099B2D-DE49-425C-A703-81CF852A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95550"/>
            <a:ext cx="129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526477"/>
                </a:solidFill>
              </a:defRPr>
            </a:pPr>
            <a:r>
              <a:rPr sz="1013" b="0">
                <a:solidFill>
                  <a:srgbClr val="526477"/>
                </a:solidFill>
              </a:rPr>
              <a:t>estado programable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DEBB18-4B52-42B5-9C7C-65B40282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EF3EB4-C25B-4C74-B2AC-4F0E83D4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099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CEDB3B-47BB-4246-8F13-6D7BA62B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385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9BFA7"/>
                </a:solidFill>
              </a:defRPr>
            </a:pPr>
            <a:r>
              <a:rPr sz="1125" b="1">
                <a:solidFill>
                  <a:srgbClr val="19BFA7"/>
                </a:solidFill>
              </a:rPr>
              <a:t>2022/2024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E4FCDF-06A9-458E-880E-7DE8772B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052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0B1F33"/>
                </a:solidFill>
              </a:defRPr>
            </a:pPr>
            <a:r>
              <a:rPr sz="1088" b="1">
                <a:solidFill>
                  <a:srgbClr val="0B1F33"/>
                </a:solidFill>
              </a:rPr>
              <a:t>PoS + blobs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0A0D60-B996-4215-B5A0-F8D252C1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29100"/>
            <a:ext cx="129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526477"/>
                </a:solidFill>
              </a:defRPr>
            </a:pPr>
            <a:r>
              <a:rPr sz="1013" b="0">
                <a:solidFill>
                  <a:srgbClr val="526477"/>
                </a:solidFill>
              </a:rPr>
              <a:t>finalidad y escalado L2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82147F-CCEF-461B-96A8-9E79A4BA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La historia no es lineal: varias piezas fueron creadas para problemas distintos y luego combinadas en nuevos modelos de coordinación.</a:t>
            </a:r>
          </a:p>
        </p:txBody>
      </p:sp>
    </p:spTree>
    <p:extLst>
      <p:ext uri="{BB962C8B-B14F-4D97-AF65-F5344CB8AC3E}">
        <p14:creationId xmlns:p14="http://schemas.microsoft.com/office/powerpoint/2010/main" val="1104493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6">
            <a:extLst xmlns:a="http://schemas.openxmlformats.org/drawingml/2006/main">
              <a:ext uri="{FF2B5EF4-FFF2-40B4-BE49-F238E27FC236}">
                <a16:creationId xmlns:a16="http://schemas.microsoft.com/office/drawing/2014/main" id="{064BCFE6-2E5F-4D51-AA27-1B0A9ABD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ARQUITECTURAS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330C30E-2C61-4108-8117-0385F3C7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Distribución no implica descentralización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0C465-8F6D-4EB4-9E20-12A628F0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CF22625A-FB16-4211-A178-7E3D0ACD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460D1-D2E5-4BB7-BD64-5563D1AC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477"/>
                </a:solidFill>
              </a:defRPr>
            </a:pPr>
            <a:r>
              <a:rPr sz="1500" b="0">
                <a:solidFill>
                  <a:srgbClr val="526477"/>
                </a:solidFill>
              </a:rPr>
              <a:t>Son dos dimensiones diferentes: dónde se ejecuta el sistema y quién puede decidir sus reglas.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2DCA4-C593-41EC-847D-15C6AFA7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86375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71D86-8092-4ED9-958F-73892A22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33600"/>
            <a:ext cx="0" cy="3152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5D766-37E4-47BE-9DA3-836EAB0D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91125"/>
            <a:ext cx="590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F6412-F7BA-486D-876C-C023A361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190500" cy="4572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3A713-F751-4822-B53D-B38663D8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768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Control concentrado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F71C0-8672-4A85-81C0-F93AD8C6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768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Control distribuido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54AA0-FA01-4C98-8DBA-843C571A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9550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Infraestructura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distribuida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E4A79-D1DF-40A7-B3B0-D3E370B3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863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Una sola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instancia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14D45-CC70-444E-AB5D-F3EFD441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81250"/>
            <a:ext cx="3333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61C35-AA57-473B-AA11-70425E50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81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5B8D0-4A4A-4811-9C2A-BFA89B66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527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Cloud centralizada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4B38A-BB39-4434-9F2C-2F7345ED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3370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Muchos servidores, una organización controla identidad, reglas y datos.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CECDA-DD95-4EAA-9F63-C9B768D6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3333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3140B-3315-49D2-A91D-214EC89C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C63D7-FD43-419C-8F73-95779E7D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527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Red pública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3ED20-5F99-42F5-9D55-9BD7690C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Muchos operadores y reglas abiertas; la descentralización real depende de concentración y gobernanza.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253D7-8717-4133-8E47-5FC3B27D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86200"/>
            <a:ext cx="3333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323A3C-DF14-4974-A6EA-3F338BEE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86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033AEC-A0CB-41DF-B25C-D6C778F6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576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Base local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2D080-2831-4A4F-A12B-12C3C86E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386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Una instancia y una autoridad: simple, eficiente y apropiada para muchos casos.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41D1DF-AF36-43BB-8B09-2E09C165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3333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459B84-20F8-4FA8-9C86-BD213636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8FF"/>
          </a:solidFill>
          <a:ln xmlns:a="http://schemas.openxmlformats.org/drawingml/2006/main" w="0">
            <a:solidFill>
              <a:srgbClr val="7458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3C95DB-8F0D-4E2D-B555-77ECDDAB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Consorcio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959269-F4ED-4CA5-A1BA-CC26E193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Varias entidades gobiernan un ledger con identidades y permisos conocidos.</a:t>
            </a:r>
          </a:p>
        </p:txBody>
      </p:sp>
    </p:spTree>
    <p:extLst>
      <p:ext uri="{BB962C8B-B14F-4D97-AF65-F5344CB8AC3E}">
        <p14:creationId xmlns:p14="http://schemas.microsoft.com/office/powerpoint/2010/main" val="1154641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7">
            <a:extLst xmlns:a="http://schemas.openxmlformats.org/drawingml/2006/main">
              <a:ext uri="{FF2B5EF4-FFF2-40B4-BE49-F238E27FC236}">
                <a16:creationId xmlns:a16="http://schemas.microsoft.com/office/drawing/2014/main" id="{97C9EACB-6B68-44F2-827E-0DB188E5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MODELOS DE ADVERSARIO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6173D31C-6DB5-405A-9534-6B2C3F2E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Blockchain enfrenta fallas bizantinas y, además, identidades falsas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0F219-1264-47EC-A35C-566AEBBC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9D1AC05F-A9AD-42EB-AC1A-1C91EC2A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0FB68-809F-415F-8CD7-4EA73C35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0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2ED72-E00A-42ED-B362-559754EB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68E4D-589A-4691-8F98-A5CB4427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Falla bizantina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73A22-E864-4C13-A153-09777897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43624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Un proceso puede detenerse, enviar mensajes contradictorios o actuar estratégicamente. El consenso debe preservar seguridad y, bajo condiciones adecuadas, progreso.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9448A-40BC-415D-943F-86F4C22B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476250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9C3AA-18E3-4759-BAD3-9705509F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38A1C-FAAF-4701-B070-C5790292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812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Ataque Sybil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350F9-37B9-4302-9996-C5BFDAA5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62200"/>
            <a:ext cx="43624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Un actor crea múltiples identidades para aparentar más participantes. En redes abiertas, contar nodos o votos sin costo no alcanza.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A942F-9346-4927-B218-84E0FFBF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81300"/>
            <a:ext cx="12192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8346E-F2E4-4D1F-8CD9-1F6A3134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62500"/>
            <a:ext cx="65913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983CF-482D-47A8-B626-14DEC1FF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149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Red abierta = consenso + resistencia Sybil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71B02-0FAD-4FA9-BAA1-8B73D0C0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768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6E3EF"/>
                </a:solidFill>
              </a:defRPr>
            </a:pPr>
            <a:r>
              <a:rPr sz="1200" b="0">
                <a:solidFill>
                  <a:srgbClr val="D6E3EF"/>
                </a:solidFill>
              </a:rPr>
              <a:t>PoW pondera trabajo; PoS pondera capital en riesgo; una red permisionada usa identidad y gobernanza de membresía.</a:t>
            </a:r>
          </a:p>
        </p:txBody>
      </p:sp>
    </p:spTree>
    <p:extLst>
      <p:ext uri="{BB962C8B-B14F-4D97-AF65-F5344CB8AC3E}">
        <p14:creationId xmlns:p14="http://schemas.microsoft.com/office/powerpoint/2010/main" val="285607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8">
            <a:extLst xmlns:a="http://schemas.openxmlformats.org/drawingml/2006/main">
              <a:ext uri="{FF2B5EF4-FFF2-40B4-BE49-F238E27FC236}">
                <a16:creationId xmlns:a16="http://schemas.microsoft.com/office/drawing/2014/main" id="{97FFA31C-4698-480B-A12C-5CA1B901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SISTEMAS DISTRIBUIDOS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2B734992-6D4F-4E4C-83C1-88360E04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CAP obliga a elegir durante una partición, no todo el tiempo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13E21-7230-44BE-BE8E-CB2950D5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66720F83-20EC-4BA6-9461-CC842243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928EB-FA14-457C-978F-7A87DFE2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4290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12766-F6DD-49F8-B24D-98184611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FCE32-4FA3-495B-9242-AF2FA2C7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C · Consistencia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CF19D-0F39-46F8-B5F7-F9B61918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Cada lectura observa la escritura más reciente o falla.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F4BDF-2F54-4059-9787-2749A6A4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34290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E73FE-99C1-406D-BA9F-D5319F10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FD80D-C92D-4F08-BC92-CD03F434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A · Disponibilidad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91B9B-C383-49E4-B5BF-8D37CE3C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479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Cada nodo no fallado responde a toda solicitud.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53CBC-AA24-4296-BF42-CF672264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95450"/>
            <a:ext cx="34290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70AC0-C55A-4D32-AD96-9323DF90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954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8FF"/>
          </a:solidFill>
          <a:ln xmlns:a="http://schemas.openxmlformats.org/drawingml/2006/main" w="0">
            <a:solidFill>
              <a:srgbClr val="7458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A4C3C-8F17-4250-9718-C368447E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P · Partición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3F134-BE11-456D-8D51-F3032858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79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La red puede perder o demorar mensajes entre grupos.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AD25F-6691-4851-BCFD-2295C7A2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9486900" cy="16573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9C9F8-1315-4D5D-93A2-03BEEBBB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814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Si ocurre una partición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7CF8E-A584-4D2D-949D-8431B42F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57600"/>
            <a:ext cx="762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275FE-4504-40DA-B172-F90EB292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67100"/>
            <a:ext cx="2190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5BB13-89C1-4D77-83BA-91CDA573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623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D6BFF"/>
                </a:solidFill>
              </a:defRPr>
            </a:pPr>
            <a:r>
              <a:rPr sz="1500" b="1">
                <a:solidFill>
                  <a:srgbClr val="2D6BFF"/>
                </a:solidFill>
              </a:rPr>
              <a:t>priorizar 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90ECA-3CB3-43E3-8717-F3E577D4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29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rechazar / esperar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BB625-073C-497E-9546-7173FFA3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67100"/>
            <a:ext cx="2190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FBF84-B13A-4D38-ACDF-845B8A1D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BFA7"/>
                </a:solidFill>
              </a:defRPr>
            </a:pPr>
            <a:r>
              <a:rPr sz="1500" b="1">
                <a:solidFill>
                  <a:srgbClr val="19BFA7"/>
                </a:solidFill>
              </a:rPr>
              <a:t>priorizar 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BDE83-0643-498D-8ED9-EB83AF4D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responder con riesgo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B51702-065C-4F52-B1CF-9A56E047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62450"/>
            <a:ext cx="851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No conviene etiquetar a “blockchain” como AP o CP sin especificar protocolo, modelo de consistencia, reglas de fork y noción de finalidad.</a:t>
            </a:r>
          </a:p>
        </p:txBody>
      </p:sp>
    </p:spTree>
    <p:extLst>
      <p:ext uri="{BB962C8B-B14F-4D97-AF65-F5344CB8AC3E}">
        <p14:creationId xmlns:p14="http://schemas.microsoft.com/office/powerpoint/2010/main" val="1505793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9">
            <a:extLst xmlns:a="http://schemas.openxmlformats.org/drawingml/2006/main">
              <a:ext uri="{FF2B5EF4-FFF2-40B4-BE49-F238E27FC236}">
                <a16:creationId xmlns:a16="http://schemas.microsoft.com/office/drawing/2014/main" id="{7895E203-6EAC-4C63-B133-CE3CEA48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ARQUITECTURA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C553E711-42E2-4BE4-B139-B4EEAAC3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La seguridad aparece cuando seis capas funcionan juntas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39A05-8322-4044-83B7-E223DACE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2B7DAB2D-6E15-4246-B970-B1B79DB8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9E609-E6F6-4C57-88B6-91BC942F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6858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1430">
            <a:solidFill>
              <a:srgbClr val="745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50E04-07CF-4E02-845E-32A901AB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478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Aplicación y gobernanza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66E8B-B69C-4A8B-A6C2-2FEA23F8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478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wallets · dApps · DAOs · políticas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53260-97F8-401D-A73B-289240BF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57425"/>
            <a:ext cx="6858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5966E-4594-4EEB-A8B9-B9186A8D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33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Ejecución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1BC59-68DF-4740-8B92-E6DCB576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336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transacciones · contratos · tarifas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43276-9ECB-45DC-937F-8D487249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6858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5264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3D3C9-00A4-482E-8474-6E8C6D29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194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Datos y estado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0CE9D-7883-4C85-8ED1-A80EA4A7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194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bloques · Merkle · UTXO / cuentas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0EB2F-CD60-440C-9C0C-4F6271EF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29025"/>
            <a:ext cx="6858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52FE0-6354-4EF1-BE04-89921E68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052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Consenso y finalidad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4DF50-0A7A-40B2-9D10-883993B6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052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PoW · PoS · BFT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50A75-098D-4C46-847C-D12575F3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14825"/>
            <a:ext cx="6858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52647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5D591-D43D-4B8B-8959-EC970A86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910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Red P2P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2CF107-AE57-4F76-A109-86BA39C0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910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propagación · validación · mempool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D8948-A632-4CE5-8C8C-B0B60FA1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6858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6B423-FE15-4097-B8E5-CD3AA492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Criptografía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67DC0-E498-4101-A77C-3A752386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768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D6E3EF"/>
                </a:solidFill>
              </a:defRPr>
            </a:pPr>
            <a:r>
              <a:rPr sz="1275" b="0">
                <a:solidFill>
                  <a:srgbClr val="D6E3EF"/>
                </a:solidFill>
              </a:rPr>
              <a:t>hash · firmas · compromisos / ZK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FDBC84-8F66-42FB-BBD7-27F30BAF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2667000" cy="39814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013F3-34F9-480D-A222-243857B0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097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AD9D1"/>
                </a:solidFill>
              </a:defRPr>
            </a:pPr>
            <a:r>
              <a:rPr sz="1575" b="1">
                <a:solidFill>
                  <a:srgbClr val="5AD9D1"/>
                </a:solidFill>
              </a:rPr>
              <a:t>Pregunta de seguridad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D897B-400E-4D29-9FC6-B038B370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05050"/>
            <a:ext cx="205740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¿Qué supone cada capa?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¿Quién puede fallar?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¿Qué recurso limita al atacante?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¿Qué componente está fuera de la cadena?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¿Quién cambia las reglas?</a:t>
            </a:r>
          </a:p>
        </p:txBody>
      </p:sp>
    </p:spTree>
    <p:extLst>
      <p:ext uri="{BB962C8B-B14F-4D97-AF65-F5344CB8AC3E}">
        <p14:creationId xmlns:p14="http://schemas.microsoft.com/office/powerpoint/2010/main" val="7138075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0">
            <a:extLst xmlns:a="http://schemas.openxmlformats.org/drawingml/2006/main">
              <a:ext uri="{FF2B5EF4-FFF2-40B4-BE49-F238E27FC236}">
                <a16:creationId xmlns:a16="http://schemas.microsoft.com/office/drawing/2014/main" id="{451366A3-07D6-4BA5-BBD9-27C095D7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CRIPTOGRAFÍA · HASH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7D2B468F-ADE8-4F3F-9D0A-4ECE2876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Un cambio pequeño produce una huella completamente distinta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CC38F-D795-4D61-844E-44397EF9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65917BAD-5A10-4FA7-8792-6B00C9F7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C2373-1F69-4E5C-B73F-8E19C98E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477"/>
                </a:solidFill>
              </a:defRPr>
            </a:pPr>
            <a:r>
              <a:rPr sz="1500" b="0">
                <a:solidFill>
                  <a:srgbClr val="526477"/>
                </a:solidFill>
              </a:rPr>
              <a:t>Una función hash no cifra: resume datos de longitud arbitraria en una salida fija y hace evidentes las modificaciones.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8B0EF-D098-40CB-B970-48C574B1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1054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ECC75-9B2C-4920-B8F1-63A6E1AF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6E7EF-5082-4C08-9FF6-CBA98EFC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Entrada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1A09B-C594-4494-9950-72A10B1D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Bloque 42 | Alice→Bob: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C74D6-799F-4289-BCE5-9C025DF3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ba034b00a2f70ec343c64161e3342613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33a29bd25fbb5e2b1be72255e8228efb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6F61A-2B5E-44B2-816C-D1F755B6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51054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96767-9272-4F63-B6E4-5889400B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1430">
            <a:solidFill>
              <a:srgbClr val="745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4FF47-E46A-4B34-A81B-7F7B7160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458FF"/>
                </a:solidFill>
              </a:defRPr>
            </a:pPr>
            <a:r>
              <a:rPr sz="1050" b="1">
                <a:solidFill>
                  <a:srgbClr val="7458FF"/>
                </a:solidFill>
              </a:rPr>
              <a:t>Entrada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25368-C917-4D56-80A6-B669818F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Bloque 42 | Alice→Bob: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DF03D-4509-4C9F-94E1-4A272EB8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bfcf31a70d1204597635c41e744d29b6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8238775e8a3e3d852f7d7e23bd1eb09d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8F67A-6761-460D-BFDB-AB0195AC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43400"/>
            <a:ext cx="3429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E1F98-511B-47D4-AAE0-F3FB44F3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95800"/>
            <a:ext cx="308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BFF"/>
                </a:solidFill>
              </a:defRPr>
            </a:pPr>
            <a:r>
              <a:rPr sz="2550" b="1">
                <a:solidFill>
                  <a:srgbClr val="2D6BFF"/>
                </a:solidFill>
              </a:rPr>
              <a:t>137 / 256 bits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6E546-01E3-41D7-8320-C5FDA075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292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diferentes en este ejemplo SHA-256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73E25-7CE3-4DD1-B56D-B7E29FFD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3400"/>
            <a:ext cx="3429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6575B-878E-4857-B922-03F8BD6C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95800"/>
            <a:ext cx="308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9BFA7"/>
                </a:solidFill>
              </a:defRPr>
            </a:pPr>
            <a:r>
              <a:rPr sz="2550" b="1">
                <a:solidFill>
                  <a:srgbClr val="19BFA7"/>
                </a:solidFill>
              </a:rPr>
              <a:t>53.5%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C4777-84B3-4611-B06C-06C9E3CF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292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distancia de Hamming observada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427D3-57DC-4A33-AF1F-591173B6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1025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Propiedades esperadas: resistencia a preimagen, segunda preimagen y colisiones; el “efecto avalancha” no reemplaza esas definiciones.</a:t>
            </a:r>
          </a:p>
        </p:txBody>
      </p:sp>
    </p:spTree>
    <p:extLst>
      <p:ext uri="{BB962C8B-B14F-4D97-AF65-F5344CB8AC3E}">
        <p14:creationId xmlns:p14="http://schemas.microsoft.com/office/powerpoint/2010/main" val="6410592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11">
            <a:extLst xmlns:a="http://schemas.openxmlformats.org/drawingml/2006/main">
              <a:ext uri="{FF2B5EF4-FFF2-40B4-BE49-F238E27FC236}">
                <a16:creationId xmlns:a16="http://schemas.microsoft.com/office/drawing/2014/main" id="{98734578-E4A3-4D63-A20C-BB66C722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CRIPTOGRAFÍA · FIRMAS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78479018-103C-4004-969B-85A6C3E6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Una firma vincula clave y mensaje; no prueba identidad legal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6937B-EB3A-44B7-BB2E-37F44E26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23C4A6F9-1F33-4366-9EA3-D960C09E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50C1A-F0CE-4243-9DC7-156A6DC4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952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0ECAA-40DF-43AE-B090-B32A399D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952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A9125-3B67-4AD1-8747-7A995220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62250"/>
            <a:ext cx="952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E1562-B789-497A-9E4B-A9E26132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4E32F-8486-4A17-835E-7FBA54D6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050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Transacción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56289-2897-4F40-815A-C4DDAC91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datos + reglas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que se desean ejecutar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1279E-1FDF-4000-87A2-7C28FBA0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3360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A19F7-2867-4A6A-8E45-682B183E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050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Hash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D9FB5-95E2-43E7-8975-B9D19E15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003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resumen exacto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de la transacción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C13B7-6EB9-4668-B97B-F6CF5653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3360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FA815-70C6-4333-81A4-F4F2D9EC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050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Firma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6A4E6-42D7-42A4-AB91-11C58FC1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03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clave privada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produce la evidencia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97E35-74FE-4054-AE14-58977E0D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3360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1430">
            <a:solidFill>
              <a:srgbClr val="7458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C1ABC-3496-411F-8FDF-BF24A07E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050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Verificación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199B8-FC0F-4E78-BD51-3A196D10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003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clave pública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acepta o rechaza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C5F58-EE4E-46B6-B6DD-D3F10D27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47625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4968AE-78B9-4AAB-BD07-8B020390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C72"/>
          </a:solidFill>
          <a:ln xmlns:a="http://schemas.openxmlformats.org/drawingml/2006/main" w="0">
            <a:solidFill>
              <a:srgbClr val="1C9C7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3B1073-BF0B-4E5E-BDDE-81E22C44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958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Sí demuestra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22F9EA-B63B-494A-9E1D-EF321DC0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Que alguien con acceso a la clave privada produjo una firma válida sobre ese mensaje.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E6C75-D899-4AC1-8BE5-45BD00E5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47625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7918A-D866-4377-A31E-D36005C3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C1DCA7-431E-40E1-90A1-8C5F2702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No demuestra automáticamente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FAA38D-E795-4412-8A85-51C339F6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Identidad legal, consentimiento informado, titularidad del dispositivo ni ausencia de coerción.</a:t>
            </a:r>
          </a:p>
        </p:txBody>
      </p:sp>
    </p:spTree>
    <p:extLst>
      <p:ext uri="{BB962C8B-B14F-4D97-AF65-F5344CB8AC3E}">
        <p14:creationId xmlns:p14="http://schemas.microsoft.com/office/powerpoint/2010/main" val="9866115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ection-12">
            <a:extLst xmlns:a="http://schemas.openxmlformats.org/drawingml/2006/main">
              <a:ext uri="{FF2B5EF4-FFF2-40B4-BE49-F238E27FC236}">
                <a16:creationId xmlns:a16="http://schemas.microsoft.com/office/drawing/2014/main" id="{4271DE42-D747-4A4D-8BCF-26AECAC8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ESTRUCTURAS DE DATOS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DC7D17C4-DD5D-40EC-A73B-1C54772E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Un árbol de Merkle permite probar inclusión con pocos hashes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60916-20DB-4A2C-B48F-51D54C64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19DE7F7D-4E68-4AF5-9720-C4318A68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8AEE1-0028-4EA8-85F6-97AEE316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477"/>
                </a:solidFill>
              </a:defRPr>
            </a:pPr>
            <a:r>
              <a:rPr sz="1500" b="0">
                <a:solidFill>
                  <a:srgbClr val="526477"/>
                </a:solidFill>
              </a:rPr>
              <a:t>Para demostrar que T3 pertenece al bloque solo se necesitan los hashes hermanos a lo largo del camino hasta la raíz.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5EB8D-4AC3-4A13-A263-4CD4DC3A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19500" y="2495550"/>
            <a:ext cx="247650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6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2485E-DE47-4F8C-B168-CE27E26C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495550"/>
            <a:ext cx="247650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6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C976A-9B95-4349-B3FB-C44E0372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190750" y="3429000"/>
            <a:ext cx="142875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6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A0609-8D53-41C4-9A70-4F69C11E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19500" y="3429000"/>
            <a:ext cx="114300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BB130-640F-4178-8155-8CFD39B3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34250" y="3429000"/>
            <a:ext cx="123825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6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E4B28-A763-4811-A040-9E56AD89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0" y="3429000"/>
            <a:ext cx="133350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6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A0E52-4FC0-43EE-906D-3404FD69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476375" y="4438650"/>
            <a:ext cx="71437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1859B-A2FB-4718-803C-BC06F453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0750" y="4438650"/>
            <a:ext cx="47625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BE62B-D1C3-4FB1-B0F4-E4BA08E2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048125" y="4438650"/>
            <a:ext cx="71437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31ECA-3492-43B1-9A1E-FE1C6150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62500" y="4438650"/>
            <a:ext cx="47625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5AE58-0C0B-43C2-ABF6-D3CCE9F5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619875" y="4438650"/>
            <a:ext cx="71437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B971F-EA1A-477C-8432-6F70C2DF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4438650"/>
            <a:ext cx="47625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5C003-7F30-4B14-97A8-E93C40D2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191625" y="4438650"/>
            <a:ext cx="71437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BA4CB-1CB7-4A18-B49D-CBCA07C3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4438650"/>
            <a:ext cx="47625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37E795-5389-41FE-A176-3299084B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81200"/>
            <a:ext cx="1524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2D6BFF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CFCC9-07A4-4329-A6C2-554E2A1B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478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Raíz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21212-7728-4E6E-8413-C76619BF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14650"/>
            <a:ext cx="1524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6F753-7ACF-4F9E-AA0F-E78261E2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813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H1234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2C6877-799E-4901-800D-AC8640FD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1524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2B7276-3E84-4656-B36F-F5F63D86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813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H5678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EEF9FC-C0CA-4A51-B882-3BB25FF6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13335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9256F1-A084-4EBA-8BB9-BBAE2758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00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H12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39E08E-4863-4F1F-93BD-DA93108C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62400"/>
            <a:ext cx="13335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AD9538-31D8-404E-8B10-48FC7035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00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H34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FD6E5D-37B8-4CBE-A389-B26FE2C8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13335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A522C4-F6AD-4034-B266-D34021F9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00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H56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388AAA-3C6F-4619-BA90-BD3616B7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62400"/>
            <a:ext cx="13335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9C4B8D-184E-43D6-A38C-FC3CF820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100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H78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14E131-0042-4369-8D12-796267C9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857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99AC8D-C499-47EA-8E55-F95BAEEA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783BB5-E55B-4D81-A618-5D8A1FE9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48250"/>
            <a:ext cx="857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43627B-12D9-4E20-BB2A-7223DC68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958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53E8AC-0058-4917-AAEE-5FFF68C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48250"/>
            <a:ext cx="857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D060F9-5A68-413E-930A-351D7F29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958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3279E5-BEBB-4A66-9142-08796809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48250"/>
            <a:ext cx="857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DCB9D5-B708-4A67-ABF6-9ED91196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958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378577-D95D-4003-94BB-25FD8991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857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531884-CAFA-404A-A05C-56B380EB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7999E7-216A-4AA1-8BB6-0BAE085A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48250"/>
            <a:ext cx="857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FA8502-B563-4584-A111-7199A5E1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958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592396-D7FD-4258-A5B6-6777105A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48250"/>
            <a:ext cx="857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B69DA2-0FCE-4C3A-8699-D429530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958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0983DE-A1D5-4413-9A6C-9352F3D3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48250"/>
            <a:ext cx="857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418FA1-F4EA-43A0-9775-95D7C19A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958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24991C-5135-46F9-8131-F2ADA78F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293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Prueba para T3: T4 + H12 + H5678</a:t>
            </a:r>
          </a:p>
        </p:txBody>
      </p:sp>
    </p:spTree>
    <p:extLst>
      <p:ext uri="{BB962C8B-B14F-4D97-AF65-F5344CB8AC3E}">
        <p14:creationId xmlns:p14="http://schemas.microsoft.com/office/powerpoint/2010/main" val="14834026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13">
            <a:extLst xmlns:a="http://schemas.openxmlformats.org/drawingml/2006/main">
              <a:ext uri="{FF2B5EF4-FFF2-40B4-BE49-F238E27FC236}">
                <a16:creationId xmlns:a16="http://schemas.microsoft.com/office/drawing/2014/main" id="{C017F943-EDB9-4E36-9569-EF607B8A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VISUALIZACIÓN · MERKLE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AA7F4E10-0ABD-45E4-BAF8-E2B6E8DF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La prueba crece logarítmicamente con el número de hojas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0F629-826D-4098-A64A-E263A617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387EDE5C-F4EE-4CEB-8701-309A2463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13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90550" y="1581150"/>
          <a:ext xmlns:a="http://schemas.openxmlformats.org/drawingml/2006/main" cx="7429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063c50ead1445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82C52-F5C8-46D3-9C9A-94F3D58F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724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BE2D9-FFED-4BBE-8858-258939DC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33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9BFA7"/>
                </a:solidFill>
              </a:defRPr>
            </a:pPr>
            <a:r>
              <a:rPr sz="2550" b="1">
                <a:solidFill>
                  <a:srgbClr val="19BFA7"/>
                </a:solidFill>
              </a:rPr>
              <a:t>20 hashes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020AD-14ED-4C46-8FC2-5DD5A84F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670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para una prueba en un árbol balanceado con 1.048.576 hojas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0F3C8-583F-4CD5-82C3-CA4A52D8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724150" cy="1504950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73E92-F801-4FB3-AC36-00595001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69FD1-DCA2-4F48-A617-E604302E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86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Interpretación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75484-AE26-4E31-B7D1-A1BBE3D4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67200"/>
            <a:ext cx="2324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El verificador no descarga todas las transacciones: combina la hoja con sus hermanos y reconstruye la raíz.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C1EE5-438E-4CD3-8C4B-3F0871F5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67400"/>
            <a:ext cx="1017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Modelo didáctico: árbol binario balanceado; el formato exacto depende del protocolo y de la estructura empleada.</a:t>
            </a:r>
          </a:p>
        </p:txBody>
      </p:sp>
    </p:spTree>
    <p:extLst>
      <p:ext uri="{BB962C8B-B14F-4D97-AF65-F5344CB8AC3E}">
        <p14:creationId xmlns:p14="http://schemas.microsoft.com/office/powerpoint/2010/main" val="18785579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14">
            <a:extLst xmlns:a="http://schemas.openxmlformats.org/drawingml/2006/main">
              <a:ext uri="{FF2B5EF4-FFF2-40B4-BE49-F238E27FC236}">
                <a16:creationId xmlns:a16="http://schemas.microsoft.com/office/drawing/2014/main" id="{91523B23-6768-4669-B3E9-C1903C4B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ANATOMÍA DE UN BLOQUE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30BB2C75-F2AD-4FF9-A731-910216F0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Bitcoin enlaza cabeceras y compromete transacciones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D17F1-A5A4-47F9-81EE-28946884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14">
            <a:extLst xmlns:a="http://schemas.openxmlformats.org/drawingml/2006/main">
              <a:ext uri="{FF2B5EF4-FFF2-40B4-BE49-F238E27FC236}">
                <a16:creationId xmlns:a16="http://schemas.microsoft.com/office/drawing/2014/main" id="{4692D400-9D00-4581-B127-8A63FE64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EB55C-57EF-42DD-9C6A-6BEE5087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477"/>
                </a:solidFill>
              </a:defRPr>
            </a:pPr>
            <a:r>
              <a:rPr sz="1425" b="0">
                <a:solidFill>
                  <a:srgbClr val="526477"/>
                </a:solidFill>
              </a:rPr>
              <a:t>La estructura varía entre protocolos. Este esquema es deliberadamente Bitcoin-específico.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3D6B4-C2BD-4F7E-B0AF-508DEF9D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38475"/>
            <a:ext cx="762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21C2C-9B6F-4799-B59D-26B03205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38475"/>
            <a:ext cx="762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17AF2-A0FA-42B3-957D-0E743AB4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3431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9E052-FF0A-4A01-A2EE-85FAFA63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477"/>
          </a:solidFill>
          <a:ln xmlns:a="http://schemas.openxmlformats.org/drawingml/2006/main" w="0">
            <a:solidFill>
              <a:srgbClr val="5264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32DE1-2B0A-4A82-A957-6D3B77D2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Bloque n−1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E2571-F322-486A-A35A-B6CB6C33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943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cabecera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+ transacciones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7D492-726F-42C3-B82F-197BEB87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62150"/>
            <a:ext cx="453390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04AEF-5D19-4BC1-B7BF-322F0F0D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D6BFF"/>
                </a:solidFill>
              </a:defRPr>
            </a:pPr>
            <a:r>
              <a:rPr sz="1725" b="1">
                <a:solidFill>
                  <a:srgbClr val="2D6BFF"/>
                </a:solidFill>
              </a:rPr>
              <a:t>BLOQUE 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DD575-41E1-44EC-8776-3D23A724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90800"/>
            <a:ext cx="19431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3D24E-DF7C-4487-8DC3-697E0430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051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CABECERA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3F380-2065-4918-A1D6-85AB9699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1409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versión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hash previo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raíz de Merkle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tiempo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target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nonce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46B79-740C-4E7F-8EC0-F2F2CEFF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19240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45561-B218-43AA-9DF4-F988139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CUERPO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2D148-4686-45B9-9C75-02E3AA2C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466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contador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transacciones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F2C38-8B19-40ED-8723-1B729417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23431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3F742-53F4-4072-8C08-FF97A5F1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7253D-BD81-46D5-AF39-24A2502E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Bloque n+1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E0143-2190-4BB4-8A31-A774D775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95600"/>
            <a:ext cx="1943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incluye el hash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de la cabecera 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F2303-7369-46A1-B5C7-D955C771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19700"/>
            <a:ext cx="92964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94CE04-C725-46EF-B0E9-F7BC642B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81625"/>
            <a:ext cx="868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Cambiar una transacción cambia la raíz de Merkle, luego la cabecera y el hash del bloque; los descendientes dejan de enlazar con ese historial.</a:t>
            </a:r>
          </a:p>
        </p:txBody>
      </p:sp>
    </p:spTree>
    <p:extLst>
      <p:ext uri="{BB962C8B-B14F-4D97-AF65-F5344CB8AC3E}">
        <p14:creationId xmlns:p14="http://schemas.microsoft.com/office/powerpoint/2010/main" val="7808778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15">
            <a:extLst xmlns:a="http://schemas.openxmlformats.org/drawingml/2006/main">
              <a:ext uri="{FF2B5EF4-FFF2-40B4-BE49-F238E27FC236}">
                <a16:creationId xmlns:a16="http://schemas.microsoft.com/office/drawing/2014/main" id="{E25FEA5A-F57B-4C06-BEBB-7065588C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MODELOS DE ESTADO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02111697-958B-4E1A-8254-0CFFB5BA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UTXO y cuentas representan el estado de maneras diferentes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449F7-7CAA-4220-87A5-B6F7D60C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15">
            <a:extLst xmlns:a="http://schemas.openxmlformats.org/drawingml/2006/main">
              <a:ext uri="{FF2B5EF4-FFF2-40B4-BE49-F238E27FC236}">
                <a16:creationId xmlns:a16="http://schemas.microsoft.com/office/drawing/2014/main" id="{BFA079F7-403B-4F72-AE39-AC2564DF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52F9A-73B3-489B-9C93-00B97F1D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477"/>
                </a:solidFill>
              </a:defRPr>
            </a:pPr>
            <a:r>
              <a:rPr sz="1500" b="0">
                <a:solidFill>
                  <a:srgbClr val="526477"/>
                </a:solidFill>
              </a:rPr>
              <a:t>Ambos modelos pueden expresar transferencias, pero cambian la validación, la concurrencia y la forma de razonar sobre saldos.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248150"/>
                <a:gridCol w="4248150"/>
              </a:tblGrid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Dimensión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UTXO · Bitcoin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Cuentas · Ethereum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Unidad de estado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Salidas no gastadas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Saldo, nonce, código y storage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Transacción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Consume inputs y crea outputs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Actualiza cuentas mediante una transición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Paralelismo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Inputs independientes facilitan análisis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Conflictos sobre el mismo estado requieren orden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Cambio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Puede generar una salida de vuelto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El saldo se modifica directamente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Fortaleza didáctica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Trazabilidad de monedas y doble gasto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Contratos y estado programable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A9A29-6A62-4298-901B-BDF34B2D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No es una jerarquía: cada diseño optimiza una forma distinta de verificar y ejecutar cambios de estado.</a:t>
            </a:r>
          </a:p>
        </p:txBody>
      </p:sp>
    </p:spTree>
    <p:extLst>
      <p:ext uri="{BB962C8B-B14F-4D97-AF65-F5344CB8AC3E}">
        <p14:creationId xmlns:p14="http://schemas.microsoft.com/office/powerpoint/2010/main" val="8108274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16">
            <a:extLst xmlns:a="http://schemas.openxmlformats.org/drawingml/2006/main">
              <a:ext uri="{FF2B5EF4-FFF2-40B4-BE49-F238E27FC236}">
                <a16:creationId xmlns:a16="http://schemas.microsoft.com/office/drawing/2014/main" id="{9AEDDCC6-3492-434A-AD73-25287C40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CICLO DE VIDA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6205B7E7-9283-41B0-81E8-35DF04BA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Una transacción pasa de intención firmada a estado finalizado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86D14-6294-4AB3-8271-2B3547F4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16">
            <a:extLst xmlns:a="http://schemas.openxmlformats.org/drawingml/2006/main">
              <a:ext uri="{FF2B5EF4-FFF2-40B4-BE49-F238E27FC236}">
                <a16:creationId xmlns:a16="http://schemas.microsoft.com/office/drawing/2014/main" id="{AA86F454-2AA6-4BF9-9D6D-D2AC51AC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F5286-72C6-4500-B4E1-A41A36E6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295525"/>
            <a:ext cx="95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84179-A735-4EEA-AE5A-C3F221E4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550" y="2295525"/>
            <a:ext cx="95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41026-8CA1-43DE-9380-9731D2B6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95525"/>
            <a:ext cx="95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E76E6-C061-418F-8CF0-521BDBD1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295525"/>
            <a:ext cx="95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232D0-6ECE-452F-BDEF-01014E3E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025" y="2295525"/>
            <a:ext cx="95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E6B38-4340-4EFF-AF4E-B665AB98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1768475" cy="1866900"/>
          </a:xfrm>
          <a:prstGeom xmlns:a="http://schemas.openxmlformats.org/drawingml/2006/main" prst="roundRect">
            <a:avLst>
              <a:gd name="adj" fmla="val 646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56FBF-F2F2-4C40-9F43-041A12A7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6C033-E64B-4CF8-B33F-E3D54D5E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1120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Construir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1C4DF-481B-4267-BF74-8CE0F81A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463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wallet arma inputs, destinatario, valor, nonce o fee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DA734-206E-40AA-847B-D375C9D6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025" y="1857375"/>
            <a:ext cx="1768475" cy="1866900"/>
          </a:xfrm>
          <a:prstGeom xmlns:a="http://schemas.openxmlformats.org/drawingml/2006/main" prst="roundRect">
            <a:avLst>
              <a:gd name="adj" fmla="val 646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05811-966A-4800-BC9A-8F8E85E8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25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5B677-38ED-466B-B385-6D5B1EA7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375" y="1981200"/>
            <a:ext cx="1120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E0176-8478-4A0E-B0D1-3A6D99FA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25" y="2447925"/>
            <a:ext cx="1463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la clave privada autoriza el mensaje exacto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0D91F-E47C-4F21-AE2F-A26FE0A7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1857375"/>
            <a:ext cx="1768475" cy="1866900"/>
          </a:xfrm>
          <a:prstGeom xmlns:a="http://schemas.openxmlformats.org/drawingml/2006/main" prst="roundRect">
            <a:avLst>
              <a:gd name="adj" fmla="val 646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C0C56-8BE3-4407-B761-FFBE1457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F9404-D76F-4F24-AA86-77A6D715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1981200"/>
            <a:ext cx="1120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Propagar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726C1-DFC5-4D79-BBD2-4297EFAE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447925"/>
            <a:ext cx="1463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la red P2P distribuye la transacción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B8AF7-94A9-4278-8645-52E82057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857375"/>
            <a:ext cx="1768475" cy="1866900"/>
          </a:xfrm>
          <a:prstGeom xmlns:a="http://schemas.openxmlformats.org/drawingml/2006/main" prst="roundRect">
            <a:avLst>
              <a:gd name="adj" fmla="val 646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03B691-B887-460E-865E-A5744E9D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55CCD-F4DE-45E9-BF7A-0922A53D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981200"/>
            <a:ext cx="1120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Validar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5313C-DBEE-48F7-9BDB-C034B235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47925"/>
            <a:ext cx="1463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nodos verifican firma, saldo y reglas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704540-B86F-456A-A314-FFD4EA9F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857375"/>
            <a:ext cx="1768475" cy="1866900"/>
          </a:xfrm>
          <a:prstGeom xmlns:a="http://schemas.openxmlformats.org/drawingml/2006/main" prst="roundRect">
            <a:avLst>
              <a:gd name="adj" fmla="val 646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A013B0-A59B-4FFF-980E-E06C1E6E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581679-9D3A-45B7-8030-B22B00EC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8850" y="1981200"/>
            <a:ext cx="1120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Ordenar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432AD8-B2CC-4108-9F2B-4729FACE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47925"/>
            <a:ext cx="1463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productor arma un bloque candidato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0C3295-4C6C-4EF4-8E8E-1400FEC9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325" y="1857375"/>
            <a:ext cx="1768475" cy="1866900"/>
          </a:xfrm>
          <a:prstGeom xmlns:a="http://schemas.openxmlformats.org/drawingml/2006/main" prst="roundRect">
            <a:avLst>
              <a:gd name="adj" fmla="val 646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0615C5-9A3B-4DF3-9A0E-6F7B5E37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725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2E2244-564D-404A-9F95-B4514A9C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0675" y="1981200"/>
            <a:ext cx="1120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Finalizar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68E2F1-F9E5-4B13-B64B-073A2104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725" y="2447925"/>
            <a:ext cx="1463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confirmaciones o checkpoints reducen reversión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2B11D5-6CE6-4914-8CA7-6AAD58EF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67200"/>
            <a:ext cx="89916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8BC0BC-4432-4AFC-9A69-D0158E77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D6BFF"/>
                </a:solidFill>
              </a:defRPr>
            </a:pPr>
            <a:r>
              <a:rPr sz="1650" b="1">
                <a:solidFill>
                  <a:srgbClr val="2D6BFF"/>
                </a:solidFill>
              </a:rPr>
              <a:t>Inclusión ≠ finalidad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3FE24D-7B88-4A1F-A3CC-A0260FF6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81550"/>
            <a:ext cx="815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3"/>
                </a:solidFill>
              </a:defRPr>
            </a:pPr>
            <a:r>
              <a:rPr sz="1350" b="0">
                <a:solidFill>
                  <a:srgbClr val="0B1F33"/>
                </a:solidFill>
              </a:rPr>
              <a:t>Una transacción incluida puede quedar en una rama que luego pierde. La aplicación debe definir cuánta finalidad necesita según el valor y el protocolo.</a:t>
            </a:r>
          </a:p>
        </p:txBody>
      </p:sp>
    </p:spTree>
    <p:extLst>
      <p:ext uri="{BB962C8B-B14F-4D97-AF65-F5344CB8AC3E}">
        <p14:creationId xmlns:p14="http://schemas.microsoft.com/office/powerpoint/2010/main" val="18331190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17">
            <a:extLst xmlns:a="http://schemas.openxmlformats.org/drawingml/2006/main">
              <a:ext uri="{FF2B5EF4-FFF2-40B4-BE49-F238E27FC236}">
                <a16:creationId xmlns:a16="http://schemas.microsoft.com/office/drawing/2014/main" id="{15107839-787A-495F-9CD2-A6FC7536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MEMPOOL Y MEV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C903B25B-9C58-49E8-AF32-340DEA8B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El orden de transacciones crea poder y MEV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3B280-17EF-4407-9990-CE3C322B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17">
            <a:extLst xmlns:a="http://schemas.openxmlformats.org/drawingml/2006/main">
              <a:ext uri="{FF2B5EF4-FFF2-40B4-BE49-F238E27FC236}">
                <a16:creationId xmlns:a16="http://schemas.microsoft.com/office/drawing/2014/main" id="{990A4ED3-233A-4437-A0BD-F8399E49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D9D87-901C-45D5-A11A-2143E2E6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477"/>
                </a:solidFill>
              </a:defRPr>
            </a:pPr>
            <a:r>
              <a:rPr sz="1500" b="0">
                <a:solidFill>
                  <a:srgbClr val="526477"/>
                </a:solidFill>
              </a:rPr>
              <a:t>No todas las redes usan una mempool pública, pero en cualquier caso alguien selecciona y ordena transacciones.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DFD71-D816-411D-B028-CDD3C056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B554B-35B0-4FBB-9ED2-95FF3B8D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Tx A · swap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69CD8-A56D-40B4-B1D1-B1CFF76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28850"/>
            <a:ext cx="809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37971-2CF7-444E-9DEE-E1F48289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4BEA0-BF0A-4B7B-923C-EA5C843E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Tx B · arbitraje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3CC4F-8F2C-4B7B-ABD2-22FBFD47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19400"/>
            <a:ext cx="809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7C927-C257-4B47-9413-5B614A98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016A3-F36B-4707-A54F-C9EA323A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2325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Tx C · pago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DDBAD-E447-49FB-860D-3ADFB4C9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809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E31FE-6D02-429F-BAA2-3F518D9C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55B76-0F75-436A-AF02-CAAE5B52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Tx D · liquidación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65DA8-7743-43F2-AB4E-86F59BDA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809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CD503-640A-4F92-97AA-D826B977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2857500" cy="2305050"/>
          </a:xfrm>
          <a:prstGeom xmlns:a="http://schemas.openxmlformats.org/drawingml/2006/main" prst="roundRect">
            <a:avLst>
              <a:gd name="adj" fmla="val 57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FB822-077F-4CAC-911C-A632C622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D6BFF"/>
                </a:solidFill>
              </a:defRPr>
            </a:pPr>
            <a:r>
              <a:rPr sz="1650" b="1">
                <a:solidFill>
                  <a:srgbClr val="2D6BFF"/>
                </a:solidFill>
              </a:rPr>
              <a:t>Constructor / productor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E7CDF-C887-4463-9BCC-6C42EE03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1790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observa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selecciona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ordena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puede reordenar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5449C-0B45-4FE0-9009-FFFC85C0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914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7AC77A-3CB8-4360-8C7E-384C19AC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2952750" cy="20574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3586A-924D-4239-BFB9-B5B4FFB5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Bloque ordenado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BF1672-3FEE-46F7-B215-3A73A76E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95600"/>
            <a:ext cx="1352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AD9D1"/>
                </a:solidFill>
              </a:defRPr>
            </a:pPr>
            <a:r>
              <a:rPr sz="1500" b="1">
                <a:solidFill>
                  <a:srgbClr val="5AD9D1"/>
                </a:solidFill>
              </a:rPr>
              <a:t>1 · B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5AD9D1"/>
                </a:solidFill>
              </a:defRPr>
            </a:pPr>
            <a:r>
              <a:rPr sz="1500" b="1">
                <a:solidFill>
                  <a:srgbClr val="5AD9D1"/>
                </a:solidFill>
              </a:rPr>
              <a:t>2 · A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5AD9D1"/>
                </a:solidFill>
              </a:defRPr>
            </a:pPr>
            <a:r>
              <a:rPr sz="1500" b="1">
                <a:solidFill>
                  <a:srgbClr val="5AD9D1"/>
                </a:solidFill>
              </a:rPr>
              <a:t>3 · C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5AD9D1"/>
                </a:solidFill>
              </a:defRPr>
            </a:pPr>
            <a:r>
              <a:rPr sz="1500" b="1">
                <a:solidFill>
                  <a:srgbClr val="5AD9D1"/>
                </a:solidFill>
              </a:rPr>
              <a:t>4 · 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2D722E-4223-45D9-930C-7A6F40D5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4767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DE2115-28A4-4524-9551-6E080F09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1B3C48-1DF6-407C-B74D-191A223E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244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Riesgos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0A7DA2-4F38-42BE-BB88-93E7F433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0545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front-running, sandwiching, censura y concentración del constructor.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496E7A-26D2-4B32-ADBE-574B7BE1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4767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E0BD46-AB11-44DF-AA19-3901BA8C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C72"/>
          </a:solidFill>
          <a:ln xmlns:a="http://schemas.openxmlformats.org/drawingml/2006/main" w="0">
            <a:solidFill>
              <a:srgbClr val="1C9C7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CA51BA-0973-4464-B9BA-20605A9C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244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Mitigaciones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99AD13-B1A0-4E32-8B8C-ED185AFA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subastas, separación proposer–builder, lotes y privacidad del flujo.</a:t>
            </a:r>
          </a:p>
        </p:txBody>
      </p:sp>
    </p:spTree>
    <p:extLst>
      <p:ext uri="{BB962C8B-B14F-4D97-AF65-F5344CB8AC3E}">
        <p14:creationId xmlns:p14="http://schemas.microsoft.com/office/powerpoint/2010/main" val="4266798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18">
            <a:extLst xmlns:a="http://schemas.openxmlformats.org/drawingml/2006/main">
              <a:ext uri="{FF2B5EF4-FFF2-40B4-BE49-F238E27FC236}">
                <a16:creationId xmlns:a16="http://schemas.microsoft.com/office/drawing/2014/main" id="{C1FFCE45-A9F0-482F-835C-BCBF37CF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D9D1"/>
                </a:solidFill>
              </a:defRPr>
            </a:pPr>
            <a:r>
              <a:rPr sz="1050" b="1">
                <a:solidFill>
                  <a:srgbClr val="5AD9D1"/>
                </a:solidFill>
              </a:rPr>
              <a:t>3 · CONSENSO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BBA5DBC0-C24D-4E23-8EE2-4DBA31DF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Consenso no es “votar”: es sostener seguridad y progreso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898AA-E27E-443C-9C08-F0E09860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9425C"/>
            </a:solidFill>
            <a:prstDash val="solid"/>
          </a:ln>
        </p:spPr>
      </p:sp>
      <p:sp>
        <p:nvSpPr>
          <p:cNvPr id="4" name="slide-number-18">
            <a:extLst xmlns:a="http://schemas.openxmlformats.org/drawingml/2006/main">
              <a:ext uri="{FF2B5EF4-FFF2-40B4-BE49-F238E27FC236}">
                <a16:creationId xmlns:a16="http://schemas.microsoft.com/office/drawing/2014/main" id="{91A0DC1B-6961-49C8-8FE5-B3121268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FB3C7"/>
                </a:solidFill>
              </a:defRPr>
            </a:pPr>
            <a:r>
              <a:rPr sz="975" b="0">
                <a:solidFill>
                  <a:srgbClr val="9FB3C7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5CB59-EC34-410D-B1DC-4E32DE21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143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C748F-BA56-480A-A1C5-A0CF08D1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05025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5AD9D1"/>
                </a:solidFill>
              </a:defRPr>
            </a:pPr>
            <a:r>
              <a:rPr sz="2550" b="1">
                <a:solidFill>
                  <a:srgbClr val="5AD9D1"/>
                </a:solidFill>
              </a:rPr>
              <a:t>Seguridad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481B5-E8A3-4D6F-8A4A-BF8CCB72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dos nodos honestos no finalizan estados incompatibles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5CBA1-EFE2-4C0A-9327-4B3AF454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3143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EF11B-C9B5-4AF3-B87E-34254A87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05025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9BFA7"/>
                </a:solidFill>
              </a:defRPr>
            </a:pPr>
            <a:r>
              <a:rPr sz="2550" b="1">
                <a:solidFill>
                  <a:srgbClr val="19BFA7"/>
                </a:solidFill>
              </a:rPr>
              <a:t>Progreso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A414B-E3CD-4CD2-8FD1-ABCAE533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38425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las transacciones válidas pueden seguir avanzando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D6AAA-B2D5-4A82-97F1-272CADAA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143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B1D35-4357-4E42-90EC-BE6963E0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05025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7458FF"/>
                </a:solidFill>
              </a:defRPr>
            </a:pPr>
            <a:r>
              <a:rPr sz="2550" b="1">
                <a:solidFill>
                  <a:srgbClr val="7458FF"/>
                </a:solidFill>
              </a:rPr>
              <a:t>Supuestos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C27C6-3A2B-4729-9903-E25430BE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38425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límites de fallas, sincronía, recursos y membresía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0EEF7-F937-4CD6-9BAE-7A68C923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38625"/>
            <a:ext cx="914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A45"/>
          </a:solidFill>
          <a:ln xmlns:a="http://schemas.openxmlformats.org/drawingml/2006/main" w="11430">
            <a:solidFill>
              <a:srgbClr val="2942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EC83E-48FD-41BE-B2F6-C574618B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196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El algoritmo correcto depende del entorno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D1F07-006A-4D0F-9E7F-9B706596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6E3EF"/>
                </a:solidFill>
              </a:defRPr>
            </a:pPr>
            <a:r>
              <a:rPr sz="1350" b="0">
                <a:solidFill>
                  <a:srgbClr val="D6E3EF"/>
                </a:solidFill>
              </a:rPr>
              <a:t>Una red abierta necesita resistencia Sybil; una red permisionada puede apoyarse en identidades y quórums conocidos.</a:t>
            </a:r>
          </a:p>
        </p:txBody>
      </p:sp>
    </p:spTree>
    <p:extLst>
      <p:ext uri="{BB962C8B-B14F-4D97-AF65-F5344CB8AC3E}">
        <p14:creationId xmlns:p14="http://schemas.microsoft.com/office/powerpoint/2010/main" val="10755925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19">
            <a:extLst xmlns:a="http://schemas.openxmlformats.org/drawingml/2006/main">
              <a:ext uri="{FF2B5EF4-FFF2-40B4-BE49-F238E27FC236}">
                <a16:creationId xmlns:a16="http://schemas.microsoft.com/office/drawing/2014/main" id="{0F538CC5-2502-4EA7-9032-DFF3A32D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CONSENSO · POW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10D4DF44-9318-429E-B551-2B01615F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Proof of Work convierte energía y cómputo en un costo verificable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E11A8-1499-4CDB-AF71-74276A56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19">
            <a:extLst xmlns:a="http://schemas.openxmlformats.org/drawingml/2006/main">
              <a:ext uri="{FF2B5EF4-FFF2-40B4-BE49-F238E27FC236}">
                <a16:creationId xmlns:a16="http://schemas.microsoft.com/office/drawing/2014/main" id="{D3AB435E-D690-49E9-A7D3-EFD06BCC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F2FDF-2103-4D0A-A2A4-A6D51619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28925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42E38-9A81-4524-B348-01C3425C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28925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502C8-3E96-4315-897F-3AE701A3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28925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3D85C-D209-418D-8180-6B8D8567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190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85567-F7A9-4757-A072-D3F2D5A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Cabecera candidata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EEC4A-2A18-4A48-BA8A-5B02F3C2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transacciones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+ hash previo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2853A-D906-4787-BB47-5794B4BB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2190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D179A-33B1-4EAD-89E8-23F33B39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622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Variar nonce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82340-2AD8-43C7-9230-D3A445C1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0, 1, 2, 3…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y otros campos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09386-A9F2-49B5-97FE-BF2A6A37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2190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EFFCE-8E74-4E58-B86C-DABE48F9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622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Calcular hash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AFE78-753D-4106-A646-5A418DCF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SHA-256d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en Bitcoin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11BAF-0237-48D0-8F59-B0347118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90750"/>
            <a:ext cx="2190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42AFE-08A6-419D-B31F-2B955C96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622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Comparar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02068-2065-4ACD-89FA-69CFC3DC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146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hash &lt; target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¿válido?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BD2790-E171-4C7A-9617-EEBE8ED4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47625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58D67-D55D-4852-9E17-699F8D29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28D107-E564-4AF4-A3ED-0835480E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Costoso producir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3D5D1B-32D3-4745-B60C-0B5235E9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Encontrar una salida bajo el target requiere intentos; la dificultad ajusta el costo esperado.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62426-CDBE-4C61-AF8B-29569ECF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47625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63F0AC-70B6-4ABC-ADED-8A9880C9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C72"/>
          </a:solidFill>
          <a:ln xmlns:a="http://schemas.openxmlformats.org/drawingml/2006/main" w="0">
            <a:solidFill>
              <a:srgbClr val="1C9C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B9A15E-F6DE-48D2-833C-35E2360E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Barato verificar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84F026-3677-4058-A10B-E3641D65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911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Cualquier nodo recalcula el hash y comprueba reglas, trabajo acumulado y transacciones.</a:t>
            </a:r>
          </a:p>
        </p:txBody>
      </p:sp>
    </p:spTree>
    <p:extLst>
      <p:ext uri="{BB962C8B-B14F-4D97-AF65-F5344CB8AC3E}">
        <p14:creationId xmlns:p14="http://schemas.microsoft.com/office/powerpoint/2010/main" val="145418550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20">
            <a:extLst xmlns:a="http://schemas.openxmlformats.org/drawingml/2006/main">
              <a:ext uri="{FF2B5EF4-FFF2-40B4-BE49-F238E27FC236}">
                <a16:creationId xmlns:a16="http://schemas.microsoft.com/office/drawing/2014/main" id="{7C657486-AA17-41A1-8A2A-5B22E273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VISUALIZACIÓN · POW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14920B40-7777-47B6-9390-B061FB23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Más confirmaciones reducen el riesgo, pero nunca lo vuelven cero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9416B-9E58-4999-A891-521663A4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20">
            <a:extLst xmlns:a="http://schemas.openxmlformats.org/drawingml/2006/main">
              <a:ext uri="{FF2B5EF4-FFF2-40B4-BE49-F238E27FC236}">
                <a16:creationId xmlns:a16="http://schemas.microsoft.com/office/drawing/2014/main" id="{099F8EB5-8C18-4489-BCA9-2F7E1158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20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90550" y="1562100"/>
          <a:ext xmlns:a="http://schemas.openxmlformats.org/drawingml/2006/main" cx="7810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07e38fb74446f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565DC-86C9-4D2A-8AF3-3B8920D4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A1EE3-7DCC-4E6C-B0DD-A741FE55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0502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9BFA7"/>
                </a:solidFill>
              </a:defRPr>
            </a:pPr>
            <a:r>
              <a:rPr sz="2550" b="1">
                <a:solidFill>
                  <a:srgbClr val="19BFA7"/>
                </a:solidFill>
              </a:rPr>
              <a:t>0.024%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3CA48-3E78-436C-A064-504205AB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384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q=10% y 6 confirmaciones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DB78B-9529-42AA-B955-DE949B95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13AC4-7C51-43DC-B2D1-D151368B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2902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74C3C"/>
                </a:solidFill>
              </a:defRPr>
            </a:pPr>
            <a:r>
              <a:rPr sz="2550" b="1">
                <a:solidFill>
                  <a:srgbClr val="E74C3C"/>
                </a:solidFill>
              </a:rPr>
              <a:t>13.2%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22A72-E646-4C46-BAE8-ABE37BE9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624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q=30% y 6 confirmaciones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4F5F2-D9B9-4402-B247-D5F068E0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864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Modelo simplificado del white paper: supone potencia relativa constante e independencia aproximada. No sustituye el análisis real de red, latencia o incentivos.</a:t>
            </a:r>
          </a:p>
        </p:txBody>
      </p:sp>
    </p:spTree>
    <p:extLst>
      <p:ext uri="{BB962C8B-B14F-4D97-AF65-F5344CB8AC3E}">
        <p14:creationId xmlns:p14="http://schemas.microsoft.com/office/powerpoint/2010/main" val="17475668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ection-21">
            <a:extLst xmlns:a="http://schemas.openxmlformats.org/drawingml/2006/main">
              <a:ext uri="{FF2B5EF4-FFF2-40B4-BE49-F238E27FC236}">
                <a16:creationId xmlns:a16="http://schemas.microsoft.com/office/drawing/2014/main" id="{AAFBBF31-7BEC-45E3-9E91-5B3CF7A4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CONSENSO · POS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27E8E14E-70DE-4C75-87FF-38E4AF01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Ethereum PoS vincula seguridad y stake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BB12F-56AD-4A6D-AB26-D551826D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21">
            <a:extLst xmlns:a="http://schemas.openxmlformats.org/drawingml/2006/main">
              <a:ext uri="{FF2B5EF4-FFF2-40B4-BE49-F238E27FC236}">
                <a16:creationId xmlns:a16="http://schemas.microsoft.com/office/drawing/2014/main" id="{4244ECD0-80AD-4358-8E88-F0CEBFE2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E6678-62DC-4067-8A6B-43691287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477"/>
                </a:solidFill>
              </a:defRPr>
            </a:pPr>
            <a:r>
              <a:rPr sz="1425" b="0">
                <a:solidFill>
                  <a:srgbClr val="526477"/>
                </a:solidFill>
              </a:rPr>
              <a:t>Este ejemplo describe Ethereum; otros protocolos PoS usan reglas, comités y penalizaciones diferentes.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375AF-3C01-407E-A5FC-7465FABF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0" y="3476625"/>
            <a:ext cx="2000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9BF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2CBBC-8DD8-4D5A-8EEF-9E9A836E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0" y="3476625"/>
            <a:ext cx="1414390" cy="10102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9BF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450B0-AB3A-46CA-9C49-7F179BE2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0" y="3476625"/>
            <a:ext cx="953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9BF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6BEF0-7614-4152-A4B4-633C9D16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586110" y="3476625"/>
            <a:ext cx="1414390" cy="10102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9BF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1361F-E82E-44A0-9BA0-4B0E4507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000250" y="3476625"/>
            <a:ext cx="2000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9BF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7C3A4-DF6C-46E1-AB20-9F18C0F1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586110" y="2466346"/>
            <a:ext cx="1414390" cy="10102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9BF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24843-208F-43DA-AACB-2D65EA6B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000500" y="2047875"/>
            <a:ext cx="953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74C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91E2D-FAD1-4C7A-8D95-28C6B8A2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00500" y="2466346"/>
            <a:ext cx="1414390" cy="10102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74C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7150E-9B85-45F2-93B6-3644A4C3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19425"/>
            <a:ext cx="17526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1599D-DA05-4CB1-815E-B42E45AD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71825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Bloque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propuesto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A1DC6-01D5-49C5-A780-BA812E36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48025"/>
            <a:ext cx="609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6938F-F63E-4D1D-8A00-2E056FE4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051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V1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BA1E0-CA04-4A39-8651-9B7E0BB2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090" y="4258304"/>
            <a:ext cx="609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D2A05-3A8C-4F53-AAA5-0C9D4D99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090" y="4315454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V2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08E7D-E219-4A47-89A0-1CF3BA21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76775"/>
            <a:ext cx="609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82869-4D5D-47F0-89A9-DA3CF863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339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V3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DB6DB-2E76-46CD-8202-5D82005B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310" y="4258304"/>
            <a:ext cx="609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E31C48-AA7B-4745-B6FE-CFE7E3F2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310" y="4315454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V4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A3206A-D6DF-4792-BB30-ACB0D11A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48025"/>
            <a:ext cx="609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9CD8F0-5EB1-430C-8A58-50C92929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051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V5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5FD39F-9541-4E48-BCAA-F71E9553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310" y="2237746"/>
            <a:ext cx="609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B5E860-1043-41C6-9A42-B3E962C9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310" y="2294896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V6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E0EFA7-DC0A-4E6D-82F9-D10FD36A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19275"/>
            <a:ext cx="609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11430">
            <a:solidFill>
              <a:srgbClr val="E74C3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2A698F-0EF0-469E-853F-D2F3041F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764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V7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F464EA-1669-4B3B-A95D-2703358C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090" y="2237746"/>
            <a:ext cx="609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11430">
            <a:solidFill>
              <a:srgbClr val="E74C3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68994B-6DF1-418B-9F2A-8E09C2D2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090" y="2294896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V8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5AD987-F987-461A-A3CD-2E619C01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0005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4F000A-2D82-45E0-B20D-D8649CD5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D7F5B9-42F9-4014-90E4-5D8061B4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717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Propuesta y atestaciones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97CD4D-62FE-44AE-84CF-FAAA7B5A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5270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26477"/>
                </a:solidFill>
              </a:defRPr>
            </a:pPr>
            <a:r>
              <a:rPr sz="1238" b="0">
                <a:solidFill>
                  <a:srgbClr val="526477"/>
                </a:solidFill>
              </a:rPr>
              <a:t>Validadores seleccionados proponen bloques y votan por checkpoints y cabezas de cadena.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5330F2-36F0-410D-B8EF-FB2B2A36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40005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D272E7-725A-462D-8143-F156A49F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36A73E-B6A9-44C1-98D7-4E5A0794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052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Recompensas y penalizaciones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FC2453-2DFF-4F91-BFE5-695A9825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8620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26477"/>
                </a:solidFill>
              </a:defRPr>
            </a:pPr>
            <a:r>
              <a:rPr sz="1238" b="0">
                <a:solidFill>
                  <a:srgbClr val="526477"/>
                </a:solidFill>
              </a:rPr>
              <a:t>Participar correctamente recibe recompensas; inactividad o equivocar votos reduce retornos.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199858-B6CC-498F-A247-8F05B6FD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40005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E2B498-E42C-41F9-929D-88E2C26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778FEE-689F-4F5B-B4B7-B12E4817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387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Slashing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7F1424-8510-4767-B261-08F97A30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1970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26477"/>
                </a:solidFill>
              </a:defRPr>
            </a:pPr>
            <a:r>
              <a:rPr sz="1238" b="0">
                <a:solidFill>
                  <a:srgbClr val="526477"/>
                </a:solidFill>
              </a:rPr>
              <a:t>Ciertas conductas contradictorias pueden destruir parte del stake y expulsar al validador.</a:t>
            </a:r>
          </a:p>
        </p:txBody>
      </p:sp>
    </p:spTree>
    <p:extLst>
      <p:ext uri="{BB962C8B-B14F-4D97-AF65-F5344CB8AC3E}">
        <p14:creationId xmlns:p14="http://schemas.microsoft.com/office/powerpoint/2010/main" val="4379802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22">
            <a:extLst xmlns:a="http://schemas.openxmlformats.org/drawingml/2006/main">
              <a:ext uri="{FF2B5EF4-FFF2-40B4-BE49-F238E27FC236}">
                <a16:creationId xmlns:a16="http://schemas.microsoft.com/office/drawing/2014/main" id="{4B0C9551-E09D-4E63-9747-D5BA496A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FORKS Y FINALIDAD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71480DA2-6543-468F-8E14-EDE53258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Finalidad significa reducir o cerrar la posibilidad de reorganización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808B1-B32A-42C1-B388-CFC9F6E7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22">
            <a:extLst xmlns:a="http://schemas.openxmlformats.org/drawingml/2006/main">
              <a:ext uri="{FF2B5EF4-FFF2-40B4-BE49-F238E27FC236}">
                <a16:creationId xmlns:a16="http://schemas.microsoft.com/office/drawing/2014/main" id="{D7277DB8-6C86-4D72-AF5E-C3E0DA28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E4EE1-276E-4777-BAFF-229D8E2C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477"/>
                </a:solidFill>
              </a:defRPr>
            </a:pPr>
            <a:r>
              <a:rPr sz="1500" b="0">
                <a:solidFill>
                  <a:srgbClr val="526477"/>
                </a:solidFill>
              </a:rPr>
              <a:t>La palabra “confirmado” depende del protocolo y del nivel de riesgo aceptable.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6EFD9-7455-4036-98BE-1E1CA02E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1435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53F07-62C7-4021-953B-72AC4277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970EE-AD44-4E39-8973-A44417AC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Probabilística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1B6ED-54D8-41BA-8932-AD5F83A2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7434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La cadena con más trabajo acumulado domina, pero una rama competidora puede revertir bloques recientes. Cada confirmación reduce la probabilidad bajo ciertos supuestos.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1C5A7-F58E-4943-BD99-A01C6733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51435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93F83-FE8B-4154-9BDB-CC39D051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2E6A4-D060-4B10-B165-E28AC55B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Económica / protocolar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6838D-9D40-43A6-BA1A-88EAD364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47434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Un quórum de stake o validadores justifica y finaliza checkpoints. Revertirlos requiere violar supuestos y puede activar penalizaciones o intervención social.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27404-53C8-4176-8B55-E2079C39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53000"/>
            <a:ext cx="9258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5CB9F-9DBE-4F93-8EF5-19C1CC6A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05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AD9D1"/>
                </a:solidFill>
              </a:defRPr>
            </a:pPr>
            <a:r>
              <a:rPr sz="1650" b="1">
                <a:solidFill>
                  <a:srgbClr val="5AD9D1"/>
                </a:solidFill>
              </a:rPr>
              <a:t>Finalidad no es solo 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884DC-4FC7-4B7D-AEAF-3C28CF02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482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Es una propiedad del protocolo, sus quórums, la red y el modelo económico. La aplicación debe definir cuándo considera irreversible una operación.</a:t>
            </a:r>
          </a:p>
        </p:txBody>
      </p:sp>
    </p:spTree>
    <p:extLst>
      <p:ext uri="{BB962C8B-B14F-4D97-AF65-F5344CB8AC3E}">
        <p14:creationId xmlns:p14="http://schemas.microsoft.com/office/powerpoint/2010/main" val="1189631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-23">
            <a:extLst xmlns:a="http://schemas.openxmlformats.org/drawingml/2006/main">
              <a:ext uri="{FF2B5EF4-FFF2-40B4-BE49-F238E27FC236}">
                <a16:creationId xmlns:a16="http://schemas.microsoft.com/office/drawing/2014/main" id="{C9C342DD-E0DD-41B8-852D-87CBF517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CONSENSO · BFT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20F4279E-0FF9-4060-B8E3-587A0B74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Un protocolo BFT clásico tolera f fallas con al menos 3f + 1 nodos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DE243-B598-4DC3-8CDA-5688B8EA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23">
            <a:extLst xmlns:a="http://schemas.openxmlformats.org/drawingml/2006/main">
              <a:ext uri="{FF2B5EF4-FFF2-40B4-BE49-F238E27FC236}">
                <a16:creationId xmlns:a16="http://schemas.microsoft.com/office/drawing/2014/main" id="{8DEDC8D7-B87B-4EE7-86FD-985710C6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36FC8-0D6B-455E-8E6D-0B3FA571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762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538FA-D35E-48A1-9EF2-6CF9BB83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BFF"/>
                </a:solidFill>
              </a:defRPr>
            </a:pPr>
            <a:r>
              <a:rPr sz="2550" b="1">
                <a:solidFill>
                  <a:srgbClr val="2D6BFF"/>
                </a:solidFill>
              </a:rPr>
              <a:t>n ≥ 3f + 1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A56BC-567B-41F2-8A41-AD4D070D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241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condición clásica para tolerar f fallas bizantinas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5E970-A4C9-4953-A552-3A28C1C1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762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916C2-532D-40E6-A92A-318B3520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9BFA7"/>
                </a:solidFill>
              </a:defRPr>
            </a:pPr>
            <a:r>
              <a:rPr sz="2550" b="1">
                <a:solidFill>
                  <a:srgbClr val="19BFA7"/>
                </a:solidFill>
              </a:rPr>
              <a:t>2f + 1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DE3F7-9C66-44C7-9225-2C6E39D5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41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quórum que intersecta en suficientes nodos honestos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BC855-CA14-42BA-BC17-54EFF8A6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762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B0DFB-C040-4652-854F-4E9350A3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7458FF"/>
                </a:solidFill>
              </a:defRPr>
            </a:pPr>
            <a:r>
              <a:rPr sz="2550" b="1">
                <a:solidFill>
                  <a:srgbClr val="7458FF"/>
                </a:solidFill>
              </a:rPr>
              <a:t>n = 7 → f =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2AD00-15FA-4385-BE2E-086516EB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ejemplo: cinco votos forman el quórum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0DFEA-286A-4411-A690-9EF0B3AB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24750" y="2095500"/>
            <a:ext cx="953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7BDF4-8CA8-459E-A720-477130A0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24750" y="2705164"/>
            <a:ext cx="1638328" cy="10095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D7D62-BA21-42F6-85C3-A3F7951B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3714750"/>
            <a:ext cx="2042961" cy="3603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D14FE-4253-4415-9111-997DE271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3714750"/>
            <a:ext cx="909203" cy="14588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1ED7D-2438-4B0C-AD59-2B333E61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615547" y="3714750"/>
            <a:ext cx="909203" cy="14588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38807-00E6-45A8-AC53-67CBC9B5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481789" y="3714750"/>
            <a:ext cx="2042961" cy="3603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79D5A-0A1D-47DC-988C-64C0A548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886422" y="2705164"/>
            <a:ext cx="1638328" cy="10095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091A1-988C-4A89-99AF-8E5529BF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14700"/>
            <a:ext cx="1638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3A9B5-7B25-4219-87D0-077A0CF2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Propuesta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4FAEB-FC6B-4761-B287-A349B377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7239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F85550-7A82-4AE6-93BA-02DFCBC2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14525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V1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9FB80-156A-49DE-BAC9-F1823454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28" y="2419414"/>
            <a:ext cx="7239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6879D7-98D8-4D15-8700-C50AEC11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28" y="2524189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V2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F7B2C7-F5F3-44E2-9518-DBC1D68E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61" y="3789317"/>
            <a:ext cx="7239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7FE8BD-6954-48E6-85CD-3383A82C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61" y="3894092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V3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EEE066-18BA-4B38-B958-8919C6EC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003" y="4887894"/>
            <a:ext cx="7239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D22E49-49E9-4AD0-B5F7-8DC23914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003" y="4992669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V4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7D77E9-CEFC-453E-B6C0-4175F004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597" y="4887894"/>
            <a:ext cx="7239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21403D-9FEF-47CA-9B07-C39B3CF4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597" y="4992669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V5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1A7C02-1172-48C0-99CD-9427E8DD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839" y="3789317"/>
            <a:ext cx="7239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11430">
            <a:solidFill>
              <a:srgbClr val="E74C3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3E6ED8-C08E-457A-853F-79CE03B3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839" y="3894092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74C3C"/>
                </a:solidFill>
              </a:defRPr>
            </a:pPr>
            <a:r>
              <a:rPr sz="1200" b="1">
                <a:solidFill>
                  <a:srgbClr val="E74C3C"/>
                </a:solidFill>
              </a:rPr>
              <a:t>Falla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EC5E25-C07F-42F6-AB7B-638D99F4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472" y="2419414"/>
            <a:ext cx="7239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11430">
            <a:solidFill>
              <a:srgbClr val="E74C3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C75D96-076A-4C0E-8BEC-BF2C272D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472" y="2524189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74C3C"/>
                </a:solidFill>
              </a:defRPr>
            </a:pPr>
            <a:r>
              <a:rPr sz="1200" b="1">
                <a:solidFill>
                  <a:srgbClr val="E74C3C"/>
                </a:solidFill>
              </a:rPr>
              <a:t>Falla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367A7D-396C-42FF-9739-B2DE30C3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85787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En redes permisionadas, la identidad y la gobernanza de miembros sustituyen el problema Sybil por un modelo de confianza organizacional explícito.</a:t>
            </a:r>
          </a:p>
        </p:txBody>
      </p:sp>
    </p:spTree>
    <p:extLst>
      <p:ext uri="{BB962C8B-B14F-4D97-AF65-F5344CB8AC3E}">
        <p14:creationId xmlns:p14="http://schemas.microsoft.com/office/powerpoint/2010/main" val="21037278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24">
            <a:extLst xmlns:a="http://schemas.openxmlformats.org/drawingml/2006/main">
              <a:ext uri="{FF2B5EF4-FFF2-40B4-BE49-F238E27FC236}">
                <a16:creationId xmlns:a16="http://schemas.microsoft.com/office/drawing/2014/main" id="{79F7FC2E-A9EE-4CD8-A1BE-BCDE99B2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COMPARACIÓN DE CONSENSO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912EBEB6-A7EC-4B13-A43B-B75C751E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PoW, PoS y BFT optimizan amenazas y entornos distintos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D1797-3B43-41B9-8EB0-E2E7BBE8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24">
            <a:extLst xmlns:a="http://schemas.openxmlformats.org/drawingml/2006/main">
              <a:ext uri="{FF2B5EF4-FFF2-40B4-BE49-F238E27FC236}">
                <a16:creationId xmlns:a16="http://schemas.microsoft.com/office/drawing/2014/main" id="{7F8BA3E2-475E-406A-B6D8-B4A2AE0B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24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76250" y="1619250"/>
          <a:ext xmlns:a="http://schemas.openxmlformats.org/drawingml/2006/main" cx="11239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857500"/>
                <a:gridCol w="2857500"/>
                <a:gridCol w="3238500"/>
              </a:tblGrid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Dimensión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Proof of Work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Proof of Stake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BFT permisionado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Membresía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Abierta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Abierta o delegada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Conocida / autorizada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Recurso Sybil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Trabajo y energía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Capital bloqueado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Identidad + gobierno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Finalidad típica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Probabilística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Protocolar / económica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Determinística tras quórum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Latencia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Mayor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Media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Baja en redes acotadas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Principal riesgo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concentración de hash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concentración de stake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captura del consorcio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Uso ilustrativo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Bitcoin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Ethereum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Fabric / BFT empresarial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02D64-BB20-4E03-832D-42F51048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245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La comparación es conceptual: implementaciones concretas agregan reglas de fork, comités, penalizaciones, gobernanza y supuestos de red propios.</a:t>
            </a:r>
          </a:p>
        </p:txBody>
      </p:sp>
    </p:spTree>
    <p:extLst>
      <p:ext uri="{BB962C8B-B14F-4D97-AF65-F5344CB8AC3E}">
        <p14:creationId xmlns:p14="http://schemas.microsoft.com/office/powerpoint/2010/main" val="13402993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25">
            <a:extLst xmlns:a="http://schemas.openxmlformats.org/drawingml/2006/main">
              <a:ext uri="{FF2B5EF4-FFF2-40B4-BE49-F238E27FC236}">
                <a16:creationId xmlns:a16="http://schemas.microsoft.com/office/drawing/2014/main" id="{C5EA8814-F4F0-4F51-B169-A84B6043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DISEÑO DE RED</a:t>
            </a:r>
          </a:p>
        </p:txBody>
      </p:sp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6C3C00E7-99D8-48EF-BB49-5EFF9D63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Acceso, validación y token son decisiones independientes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076C2-36AB-4594-AC87-E5E7DFFD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25">
            <a:extLst xmlns:a="http://schemas.openxmlformats.org/drawingml/2006/main">
              <a:ext uri="{FF2B5EF4-FFF2-40B4-BE49-F238E27FC236}">
                <a16:creationId xmlns:a16="http://schemas.microsoft.com/office/drawing/2014/main" id="{71E7C24B-3897-477A-B2B0-1ECC65B4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C7CDB-BD87-4C2D-B03C-5153EE76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477"/>
                </a:solidFill>
              </a:defRPr>
            </a:pPr>
            <a:r>
              <a:rPr sz="1500" b="0">
                <a:solidFill>
                  <a:srgbClr val="526477"/>
                </a:solidFill>
              </a:rPr>
              <a:t>“Pública”, “privada” y “con token” no forman una única escala. Conviene describir cuatro preguntas separadas.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6CB1A-F815-4324-8749-38C1EED8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51435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FA7B3-137D-41B7-9FE1-8D3490EC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3E829-0B02-4528-8B9A-16656A1A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¿Quién lee?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E2B79-8C49-49B8-9F4B-62E4BFEB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474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526477"/>
                </a:solidFill>
              </a:defRPr>
            </a:pPr>
            <a:r>
              <a:rPr sz="1313" b="0">
                <a:solidFill>
                  <a:srgbClr val="526477"/>
                </a:solidFill>
              </a:rPr>
              <a:t>público · restringido · canales privados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AD061-FAC5-4C06-98D3-48AC32D1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1435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C2B8F-6F40-4A4D-BAD8-F6F692F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3D736-57FE-4057-A445-7C5A28CE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¿Quién escribe?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A1E0C-8ACA-4477-B561-DB8E6E94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474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526477"/>
                </a:solidFill>
              </a:defRPr>
            </a:pPr>
            <a:r>
              <a:rPr sz="1313" b="0">
                <a:solidFill>
                  <a:srgbClr val="526477"/>
                </a:solidFill>
              </a:rPr>
              <a:t>cualquiera · usuarios autorizados · aplicaciones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4AC0E-972E-475A-B977-776A05E3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51435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4F6E6-B1B4-4F17-A5B8-298AFC3F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8FF"/>
          </a:solidFill>
          <a:ln xmlns:a="http://schemas.openxmlformats.org/drawingml/2006/main" w="0">
            <a:solidFill>
              <a:srgbClr val="745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B206E-9AA9-455A-B6FF-26724EFB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¿Quién valida?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055F1-5084-4DB4-A8B0-8694878D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474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526477"/>
                </a:solidFill>
              </a:defRPr>
            </a:pPr>
            <a:r>
              <a:rPr sz="1313" b="0">
                <a:solidFill>
                  <a:srgbClr val="526477"/>
                </a:solidFill>
              </a:rPr>
              <a:t>permisionless · comité · consorcio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518C8-9939-4544-ADBE-95669C8A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1435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47FC8-A1EB-4273-8F6D-981F5234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8AD97-EE93-4570-AE34-9F3B3D59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¿Para qué sirve el token?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3506E-8483-4396-8F6E-ADF1EE65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4743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526477"/>
                </a:solidFill>
              </a:defRPr>
            </a:pPr>
            <a:r>
              <a:rPr sz="1313" b="0">
                <a:solidFill>
                  <a:srgbClr val="526477"/>
                </a:solidFill>
              </a:rPr>
              <a:t>seguridad · tarifas · activo · gobierno · ninguno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5322C5-5717-46FE-87C1-DBBA21EC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43550"/>
            <a:ext cx="79248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ABD83A-877E-42FC-AC5A-B10C5F06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48325"/>
            <a:ext cx="735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 token nativo puede ser esencial para la seguridad de una red abierta, pero no toda DLT empresarial lo necesita.</a:t>
            </a:r>
          </a:p>
        </p:txBody>
      </p:sp>
    </p:spTree>
    <p:extLst>
      <p:ext uri="{BB962C8B-B14F-4D97-AF65-F5344CB8AC3E}">
        <p14:creationId xmlns:p14="http://schemas.microsoft.com/office/powerpoint/2010/main" val="20145453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26">
            <a:extLst xmlns:a="http://schemas.openxmlformats.org/drawingml/2006/main">
              <a:ext uri="{FF2B5EF4-FFF2-40B4-BE49-F238E27FC236}">
                <a16:creationId xmlns:a16="http://schemas.microsoft.com/office/drawing/2014/main" id="{C9A6D018-554E-42AA-9CD9-CA5E3AC6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D9D1"/>
                </a:solidFill>
              </a:defRPr>
            </a:pPr>
            <a:r>
              <a:rPr sz="1050" b="1">
                <a:solidFill>
                  <a:srgbClr val="5AD9D1"/>
                </a:solidFill>
              </a:rPr>
              <a:t>4 · EJECUCIÓN</a:t>
            </a:r>
          </a:p>
        </p:txBody>
      </p:sp>
      <p:sp>
        <p:nvSpPr>
          <p:cNvPr id="2" name="title-26">
            <a:extLst xmlns:a="http://schemas.openxmlformats.org/drawingml/2006/main">
              <a:ext uri="{FF2B5EF4-FFF2-40B4-BE49-F238E27FC236}">
                <a16:creationId xmlns:a16="http://schemas.microsoft.com/office/drawing/2014/main" id="{0EE1211D-210B-4891-A0AE-430B61D9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Un smart contract replica una transición de estado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012FB-5084-4211-9B8F-89B9DDE3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9425C"/>
            </a:solidFill>
            <a:prstDash val="solid"/>
          </a:ln>
        </p:spPr>
      </p:sp>
      <p:sp>
        <p:nvSpPr>
          <p:cNvPr id="4" name="slide-number-26">
            <a:extLst xmlns:a="http://schemas.openxmlformats.org/drawingml/2006/main">
              <a:ext uri="{FF2B5EF4-FFF2-40B4-BE49-F238E27FC236}">
                <a16:creationId xmlns:a16="http://schemas.microsoft.com/office/drawing/2014/main" id="{10871113-22C8-49FC-9C17-3C7A1AC8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FB3C7"/>
                </a:solidFill>
              </a:defRPr>
            </a:pPr>
            <a:r>
              <a:rPr sz="975" b="0">
                <a:solidFill>
                  <a:srgbClr val="9FB3C7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64BD8-4F68-4253-98B1-3E0AB198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907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estado anterior  +  transacción  +  entorno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492E8-55DE-417E-A585-DDD2F080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145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5AD9D1"/>
                </a:solidFill>
              </a:defRPr>
            </a:pPr>
            <a:r>
              <a:rPr sz="3150" b="1">
                <a:solidFill>
                  <a:srgbClr val="5AD9D1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D8B49-9F87-485D-B28B-5FFD2E88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nuevo estado  +  eventos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B93FA-AB77-4F85-9D6D-09D0BFBC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8953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02A45"/>
          </a:solidFill>
          <a:ln xmlns:a="http://schemas.openxmlformats.org/drawingml/2006/main" w="11430">
            <a:solidFill>
              <a:srgbClr val="2942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B07CE-8639-4047-9B65-5205A1C3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09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AD9D1"/>
                </a:solidFill>
              </a:defRPr>
            </a:pPr>
            <a:r>
              <a:rPr sz="1650" b="1">
                <a:solidFill>
                  <a:srgbClr val="5AD9D1"/>
                </a:solidFill>
              </a:rPr>
              <a:t>Determinismo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02BCA-5D02-4936-AD61-63304ACC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33750"/>
            <a:ext cx="611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Todos los nodos que ejecutan la misma transición válida deben obtener el mismo resultado. El contrato no observa internet ni el mundo físico por sí solo.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A71A3-BC76-48A5-B65E-BDB1B925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1490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6E3EF"/>
                </a:solidFill>
              </a:defRPr>
            </a:pPr>
            <a:r>
              <a:rPr sz="1500" b="1">
                <a:solidFill>
                  <a:srgbClr val="D6E3EF"/>
                </a:solidFill>
              </a:rPr>
              <a:t>Automatizar reglas no elimina el riesgo: concentra la atención en código, datos de entrada, permisos, actualizaciones y gobernanza.</a:t>
            </a:r>
          </a:p>
        </p:txBody>
      </p:sp>
    </p:spTree>
    <p:extLst>
      <p:ext uri="{BB962C8B-B14F-4D97-AF65-F5344CB8AC3E}">
        <p14:creationId xmlns:p14="http://schemas.microsoft.com/office/powerpoint/2010/main" val="18076330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27">
            <a:extLst xmlns:a="http://schemas.openxmlformats.org/drawingml/2006/main">
              <a:ext uri="{FF2B5EF4-FFF2-40B4-BE49-F238E27FC236}">
                <a16:creationId xmlns:a16="http://schemas.microsoft.com/office/drawing/2014/main" id="{8F41FBEB-D08D-41F6-9269-787AF73C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EJECUCIÓN Y TARIFAS</a:t>
            </a:r>
          </a:p>
        </p:txBody>
      </p:sp>
      <p:sp>
        <p:nvSpPr>
          <p:cNvPr id="2" name="title-27">
            <a:extLst xmlns:a="http://schemas.openxmlformats.org/drawingml/2006/main">
              <a:ext uri="{FF2B5EF4-FFF2-40B4-BE49-F238E27FC236}">
                <a16:creationId xmlns:a16="http://schemas.microsoft.com/office/drawing/2014/main" id="{35657AF0-5727-412C-8711-562D290E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Gas limita el cómputo y acota las ejecuciones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AF8AA-50C0-4113-9E33-EDDEF63D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27">
            <a:extLst xmlns:a="http://schemas.openxmlformats.org/drawingml/2006/main">
              <a:ext uri="{FF2B5EF4-FFF2-40B4-BE49-F238E27FC236}">
                <a16:creationId xmlns:a16="http://schemas.microsoft.com/office/drawing/2014/main" id="{2FCFFC42-0EF9-4EA1-BD9E-1319A33F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2B827-8899-4DE5-8586-E1907C51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337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51143-BD6E-4989-A980-EF07C69D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9F8CF-A80C-4011-9A04-DB45E87B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Medición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FD72A-0980-4FCF-9EA3-1C61E0D4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Cada operación consume unidades de gas según el esfuerzo computacional y el acceso a estado.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DA6DF-2ABA-4C32-A641-C8BDB72F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33550"/>
            <a:ext cx="33337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2894A-CA39-44F0-9D49-C63E71F9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335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AF63B-BA1C-4F2E-90C4-8ABC285A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050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Precio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4272E-9FAA-4950-A4DD-38A30CE1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El usuario define cuánto paga por unidad; el protocolo puede separar tarifa base y propina.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1F951-E377-4661-AB05-EA768A76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3337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EA26B-9399-4095-A8EA-1A4C5BD7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6AB55-1ACB-4033-8792-CF42870E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Límite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DE041-4FFF-4B98-AFE1-C7442A46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Si se agota, la transición revierte, aunque el trabajo ya realizado puede consumir tarifa.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1143000" y="3857625"/>
          <a:ext xmlns:a="http://schemas.openxmlformats.org/drawingml/2006/main" cx="99060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6858000"/>
              </a:tblGrid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Fuente de riesgo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Pregunta de diseño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Datos externos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¿Qué oráculo, frecuencia y fallback se acepta?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Actualización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¿Quién puede modificar lógica o parámetros?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Permisos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¿Qué claves o roles pueden mover fondos y pausar?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Composición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B1F33"/>
                          </a:solidFill>
                        </a:rPr>
                        <a:t>¿Qué ocurre si otro contrato falla o cambia?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214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28">
            <a:extLst xmlns:a="http://schemas.openxmlformats.org/drawingml/2006/main">
              <a:ext uri="{FF2B5EF4-FFF2-40B4-BE49-F238E27FC236}">
                <a16:creationId xmlns:a16="http://schemas.microsoft.com/office/drawing/2014/main" id="{B9C359AF-3906-4D9E-9241-D799BFE7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APLICACIONES PROGRAMABLES</a:t>
            </a:r>
          </a:p>
        </p:txBody>
      </p:sp>
      <p:sp>
        <p:nvSpPr>
          <p:cNvPr id="2" name="title-28">
            <a:extLst xmlns:a="http://schemas.openxmlformats.org/drawingml/2006/main">
              <a:ext uri="{FF2B5EF4-FFF2-40B4-BE49-F238E27FC236}">
                <a16:creationId xmlns:a16="http://schemas.microsoft.com/office/drawing/2014/main" id="{DA296F68-40BB-4A2B-B56C-1BE9F450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Una dApp combina componentes on-chain y off-chain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BC383-D49B-49A2-A388-2E212389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28">
            <a:extLst xmlns:a="http://schemas.openxmlformats.org/drawingml/2006/main">
              <a:ext uri="{FF2B5EF4-FFF2-40B4-BE49-F238E27FC236}">
                <a16:creationId xmlns:a16="http://schemas.microsoft.com/office/drawing/2014/main" id="{0A7D84AD-57D3-47E7-88DB-E0B4B172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A8AB6-29DF-4891-A2C7-DD00CA34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477"/>
                </a:solidFill>
              </a:defRPr>
            </a:pPr>
            <a:r>
              <a:rPr sz="1500" b="0">
                <a:solidFill>
                  <a:srgbClr val="526477"/>
                </a:solidFill>
              </a:rPr>
              <a:t>La interfaz descentralizada no implica que cada componente lo sea. Hay dependencias de RPC, almacenamiento, oráculos y gobernanza.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53102-BB8F-4176-9855-B723AEE3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527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9F5F3-555F-40FD-B433-4365D58A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41326-51C3-40AD-B84F-AA209EAA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48F94-0FC4-4C6D-A08D-C4680AF9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527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9E5D6-EEF3-4C54-B968-B06A90C5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524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77F66-3440-4F4A-A409-FF478D27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Usuario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24502-BA4D-4D5E-B324-D283E1D5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firma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5D443-A19C-4036-8D69-C8D2394A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479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E7262-2C9A-4EA8-B291-51C3386F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813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Wallet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BBBC4-8DD2-4487-B20B-B2D4241A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242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claves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283B2-2369-43B8-8F4E-663BC243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52647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C9E5F-4F7C-4BE4-BACD-2C6FED58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813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Interfaz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4D346-FC86-4666-8292-16550D36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242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web / móvil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1BB567-76ED-4EF7-A7F6-C0FBC1D9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1430">
            <a:solidFill>
              <a:srgbClr val="745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A52D0-C38D-4AD2-9FA2-09CDF3C6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RPC / nodo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DAA1F9-2DAA-467C-9D08-74A8A374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242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acceso a 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3D9244-7330-4DB7-86B4-71A5BA82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476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7E3F93-9C2E-4747-9BA9-3392EC27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527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Smart contracts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E3A82-7962-4903-8114-F20D48CF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9560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D6E3EF"/>
                </a:solidFill>
              </a:defRPr>
            </a:pPr>
            <a:r>
              <a:rPr sz="1163" b="0">
                <a:solidFill>
                  <a:srgbClr val="D6E3EF"/>
                </a:solidFill>
              </a:rPr>
              <a:t>reglas + estado</a:t>
            </a:r>
          </a:p>
          <a:p xmlns:a="http://schemas.openxmlformats.org/drawingml/2006/main">
            <a:pPr algn="ctr">
              <a:buNone/>
              <a:defRPr sz="1163" b="0">
                <a:solidFill>
                  <a:srgbClr val="D6E3EF"/>
                </a:solidFill>
              </a:defRPr>
            </a:pPr>
            <a:r>
              <a:rPr sz="1163" b="0">
                <a:solidFill>
                  <a:srgbClr val="D6E3EF"/>
                </a:solidFill>
              </a:rPr>
              <a:t>+ tokens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C30DF6-9FF6-47E7-A12B-C9E803EC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909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6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FADE41-4B03-49C9-ACB9-1EFAB4B5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6D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B18E63-A377-4906-AAD7-14DDDF79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577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6DE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1AC3CF-9D2B-44E7-9EB7-4389E23D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86300"/>
            <a:ext cx="285750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58F374-0052-4443-BCCC-397D7871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86300"/>
            <a:ext cx="76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838FD9-29A4-49A1-85C2-CF59BB9C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577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Datos off-chain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F2EC0C-C47D-4C12-8490-167096CF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archivos, índices y analítica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228076-C89C-49F0-B9E0-39016FC6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86300"/>
            <a:ext cx="247650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5856C5-EF5F-43E0-950E-399B26A5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86300"/>
            <a:ext cx="76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EF52CD-2B93-462E-B356-EE8466EA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Oráculos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80E3CB-D3ED-41F7-B6CB-064FAE4D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387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eventos y precios externos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A045EE-EB11-4BB2-812A-04360601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A74A70-F0BD-471B-9961-1087D178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76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8FF"/>
          </a:solidFill>
          <a:ln xmlns:a="http://schemas.openxmlformats.org/drawingml/2006/main" w="0">
            <a:solidFill>
              <a:srgbClr val="7458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51F7B3-30C0-4323-8AFA-C7DE5C9D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DAO / gobernanza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4E4A08-72DF-47A6-9C5D-2E6533B7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436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reglas de actualización, tesorería, voto y mecanismos de emergencia.</a:t>
            </a:r>
          </a:p>
        </p:txBody>
      </p:sp>
    </p:spTree>
    <p:extLst>
      <p:ext uri="{BB962C8B-B14F-4D97-AF65-F5344CB8AC3E}">
        <p14:creationId xmlns:p14="http://schemas.microsoft.com/office/powerpoint/2010/main" val="15346473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29">
            <a:extLst xmlns:a="http://schemas.openxmlformats.org/drawingml/2006/main">
              <a:ext uri="{FF2B5EF4-FFF2-40B4-BE49-F238E27FC236}">
                <a16:creationId xmlns:a16="http://schemas.microsoft.com/office/drawing/2014/main" id="{C0D52D8E-C5E6-4671-8550-79E348F1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DATOS OFF-CHAIN Y ORÁCULOS</a:t>
            </a:r>
          </a:p>
        </p:txBody>
      </p:sp>
      <p:sp>
        <p:nvSpPr>
          <p:cNvPr id="2" name="title-29">
            <a:extLst xmlns:a="http://schemas.openxmlformats.org/drawingml/2006/main">
              <a:ext uri="{FF2B5EF4-FFF2-40B4-BE49-F238E27FC236}">
                <a16:creationId xmlns:a16="http://schemas.microsoft.com/office/drawing/2014/main" id="{6945813E-8D05-4282-9161-BD3A0AC2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Anclar un hash prueba integridad, no verdad ni disponibilidad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895FA-5B80-4446-8798-C7157555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29">
            <a:extLst xmlns:a="http://schemas.openxmlformats.org/drawingml/2006/main">
              <a:ext uri="{FF2B5EF4-FFF2-40B4-BE49-F238E27FC236}">
                <a16:creationId xmlns:a16="http://schemas.microsoft.com/office/drawing/2014/main" id="{F44630AF-3EAF-4E15-8204-915F2CD7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29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495300" y="1790700"/>
          <a:ext xmlns:a="http://schemas.openxmlformats.org/drawingml/2006/main" cx="11201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857500"/>
                <a:gridCol w="3143250"/>
                <a:gridCol w="3200400"/>
              </a:tblGrid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Propiedad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Dato on-chain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Hash anclado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Oráculo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Integridad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verificable por nodos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detecta cambios respecto del original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depende de fuentes y agregación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Disponibilidad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replicada por la red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no conserva el archivo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requiere infraestructura operativa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Confidencialidad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normalmente pública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puede filtrar por diccionario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depende del diseño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Veracidad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solo valida reglas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no prueba que el dato sea cierto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requiere incentivos, reputación o auditoría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634DB-B965-4158-85F5-DE039F05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4762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2785C-268F-488B-B7C5-494C623E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C72"/>
          </a:solidFill>
          <a:ln xmlns:a="http://schemas.openxmlformats.org/drawingml/2006/main" w="0">
            <a:solidFill>
              <a:srgbClr val="1C9C7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B8CB4-17A7-45D2-8A6C-433FE40D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Patrón prudente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671AE-7CAB-4020-9C0D-AE827774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15000"/>
            <a:ext cx="436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Guardar fuera de cadena, preservar disponibilidad y anclar un compromiso cuando aporta valor.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59362-16D3-48E8-B85F-BFFFF7C6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62550"/>
            <a:ext cx="4762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5BE9D-A5DD-42E1-BDAA-9F44F402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625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55C5F-4993-4CCE-AFB5-F4BFC77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340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Pregunta crítica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BE391-B501-4117-8F91-DD71B866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15000"/>
            <a:ext cx="436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¿Quién observa el mundo, quién firma el dato y cómo se corrige un error?</a:t>
            </a:r>
          </a:p>
        </p:txBody>
      </p:sp>
    </p:spTree>
    <p:extLst>
      <p:ext uri="{BB962C8B-B14F-4D97-AF65-F5344CB8AC3E}">
        <p14:creationId xmlns:p14="http://schemas.microsoft.com/office/powerpoint/2010/main" val="172435156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30">
            <a:extLst xmlns:a="http://schemas.openxmlformats.org/drawingml/2006/main">
              <a:ext uri="{FF2B5EF4-FFF2-40B4-BE49-F238E27FC236}">
                <a16:creationId xmlns:a16="http://schemas.microsoft.com/office/drawing/2014/main" id="{7F77B5A2-4723-4778-8DD4-9B13F8AE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ESCALADO · L2</a:t>
            </a:r>
          </a:p>
        </p:txBody>
      </p:sp>
      <p:sp>
        <p:nvSpPr>
          <p:cNvPr id="2" name="title-30">
            <a:extLst xmlns:a="http://schemas.openxmlformats.org/drawingml/2006/main">
              <a:ext uri="{FF2B5EF4-FFF2-40B4-BE49-F238E27FC236}">
                <a16:creationId xmlns:a16="http://schemas.microsoft.com/office/drawing/2014/main" id="{5D5F6471-5CC9-4AB3-B351-E9B76555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Los rollups ejecutan fuera de L1 y publican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FC5B3-9963-4E5C-B3C0-06DACBD3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30">
            <a:extLst xmlns:a="http://schemas.openxmlformats.org/drawingml/2006/main">
              <a:ext uri="{FF2B5EF4-FFF2-40B4-BE49-F238E27FC236}">
                <a16:creationId xmlns:a16="http://schemas.microsoft.com/office/drawing/2014/main" id="{CC750A10-1783-4BF4-9CE9-A73A1643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5C6FF-F865-4FC2-9F85-358790D5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57500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F07C1-1FCD-43EC-95C9-810A78BA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D457A-D18C-427A-9640-F903ABF9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86649-3208-46BE-8ACA-01EBAAC4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286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97A62-EF91-4D01-9DB0-767649CC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Usuarios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E5A68-6D86-4F35-A806-8B742D51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transacciones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60EA2-FD87-4789-990B-B2D0DD60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2286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47E7A-FCD5-4826-A0A2-8D6A8D87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622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Secuenciador L2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B5B92-9AA9-46C3-9B5C-1C3F6055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146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ordena y ejecuta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22D70-C2A6-4596-BE6D-39A0A5F1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2286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1430">
            <a:solidFill>
              <a:srgbClr val="7458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6FD6F-053B-4B64-95EB-9E514356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Lote + evidencia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CBF8D-58FB-4CEB-B5B6-C4A80CD6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46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datos / raíz /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50260-F082-4971-8E44-3DE76C73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5C373-6D94-4B24-83BB-AD75B140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Capa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B14D4-4C9D-4C5A-A8A3-084ACF95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146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6E3EF"/>
                </a:solidFill>
              </a:defRPr>
            </a:pPr>
            <a:r>
              <a:rPr sz="1275" b="0">
                <a:solidFill>
                  <a:srgbClr val="D6E3EF"/>
                </a:solidFill>
              </a:rPr>
              <a:t>consenso + liquidación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D6E3EF"/>
                </a:solidFill>
              </a:defRPr>
            </a:pPr>
            <a:r>
              <a:rPr sz="1275" b="0">
                <a:solidFill>
                  <a:srgbClr val="D6E3EF"/>
                </a:solidFill>
              </a:rPr>
              <a:t>+ disponibilidad de datos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7C596-8144-41FD-8174-0C5ABBDF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47625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87556-1A7B-4545-8117-57ABE9FE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90E751-4F6C-4226-BBA0-E8971D5C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Optimistic rollup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FF4D1E-9C41-4437-B59C-00770902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101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26477"/>
                </a:solidFill>
              </a:defRPr>
            </a:pPr>
            <a:r>
              <a:rPr sz="1238" b="0">
                <a:solidFill>
                  <a:srgbClr val="526477"/>
                </a:solidFill>
              </a:rPr>
              <a:t>Asume ejecución válida y permite impugnar dentro de una ventana mediante pruebas de fraude. Necesita datos disponibles para desafiar.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E044EC-B00C-4F77-BF75-3184AB5D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47625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17A3C0-D008-4580-8ADC-D50EB6B2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947BD-FDBE-4753-B612-7B7DC038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2915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ZK rollup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DBF8EE-4334-43DC-818F-491DD003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26477"/>
                </a:solidFill>
              </a:defRPr>
            </a:pPr>
            <a:r>
              <a:rPr sz="1238" b="0">
                <a:solidFill>
                  <a:srgbClr val="526477"/>
                </a:solidFill>
              </a:rPr>
              <a:t>Publica una prueba de validez que la capa 1 verifica. La ingeniería de circuitos, disponibilidad y puentes sigue siendo crítica.</a:t>
            </a:r>
          </a:p>
        </p:txBody>
      </p:sp>
    </p:spTree>
    <p:extLst>
      <p:ext uri="{BB962C8B-B14F-4D97-AF65-F5344CB8AC3E}">
        <p14:creationId xmlns:p14="http://schemas.microsoft.com/office/powerpoint/2010/main" val="12697087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31">
            <a:extLst xmlns:a="http://schemas.openxmlformats.org/drawingml/2006/main">
              <a:ext uri="{FF2B5EF4-FFF2-40B4-BE49-F238E27FC236}">
                <a16:creationId xmlns:a16="http://schemas.microsoft.com/office/drawing/2014/main" id="{066A9269-1182-4048-B6EC-B341BDEB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ESCALADO Y DISPONIBILIDAD</a:t>
            </a:r>
          </a:p>
        </p:txBody>
      </p:sp>
      <p:sp>
        <p:nvSpPr>
          <p:cNvPr id="2" name="title-31">
            <a:extLst xmlns:a="http://schemas.openxmlformats.org/drawingml/2006/main">
              <a:ext uri="{FF2B5EF4-FFF2-40B4-BE49-F238E27FC236}">
                <a16:creationId xmlns:a16="http://schemas.microsoft.com/office/drawing/2014/main" id="{2F0F5B90-15F4-4318-85E3-D3330778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La arquitectura modular separa ejecución, consenso y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076AC-0C9D-4977-9DB1-FB8F4B5F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31">
            <a:extLst xmlns:a="http://schemas.openxmlformats.org/drawingml/2006/main">
              <a:ext uri="{FF2B5EF4-FFF2-40B4-BE49-F238E27FC236}">
                <a16:creationId xmlns:a16="http://schemas.microsoft.com/office/drawing/2014/main" id="{8635E756-935E-49D4-8367-66C4C5E6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5A1F4-F883-4364-B36B-91855888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6858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F1D31-7458-4274-BCF8-7C0691EA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Ejecución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194E6-844D-42CA-98C9-7C3533A1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478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¿dónde corren las transacciones?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B7FA0-4D12-4118-A44B-C7CB34D8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858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1430">
            <a:solidFill>
              <a:srgbClr val="745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E5A2E-C7DA-4D88-8EC2-1B5FFDDB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Liquidación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4D67F-D0BF-4947-BFF1-6BE0ED22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384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¿dónde se resuelven disputas?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C9E79-9C5C-4A82-999A-695D34C5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858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FF8F4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FF639-35E6-45D2-8ED6-D4F8AFFC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Consenso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ED692-638B-4E61-A736-6540AE13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¿quién ordena y finaliza?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5F063-EBE2-466A-9F14-AC82F6EC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6858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52504-AFFE-4E75-8FDA-B6CE9798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Disponibilidad de datos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F18F6-DFE3-4E33-A7C3-2F29A764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196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¿pueden reconstruirse bloques y estado?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8B6C0-E7C3-48A9-8BE7-3C5CD330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276600" cy="3752850"/>
          </a:xfrm>
          <a:prstGeom xmlns:a="http://schemas.openxmlformats.org/drawingml/2006/main" prst="roundRect">
            <a:avLst>
              <a:gd name="adj" fmla="val 4070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F2BDE-2C56-4CA8-B1E8-82FCEE11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52625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AD9D1"/>
                </a:solidFill>
              </a:defRPr>
            </a:pPr>
            <a:r>
              <a:rPr sz="1725" b="1">
                <a:solidFill>
                  <a:srgbClr val="5AD9D1"/>
                </a:solidFill>
              </a:rPr>
              <a:t>La seguridad no se “hereda” por etiqueta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BD2C8-40D7-4828-BE8E-3638F83B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628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Debe demostrarse cómo fluye la evidencia entre módulos, quién publica los datos, quién puede censurar y qué puente mantiene la relación con L1.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158CB3-7AB9-4556-BD1E-5BFF00D0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4345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6E3EF"/>
                </a:solidFill>
              </a:defRPr>
            </a:pPr>
            <a:r>
              <a:rPr sz="1350" b="1">
                <a:solidFill>
                  <a:srgbClr val="D6E3EF"/>
                </a:solidFill>
              </a:rPr>
              <a:t>Separar funciones mejora capacidad, pero agrega dependencias.</a:t>
            </a:r>
          </a:p>
        </p:txBody>
      </p:sp>
    </p:spTree>
    <p:extLst>
      <p:ext uri="{BB962C8B-B14F-4D97-AF65-F5344CB8AC3E}">
        <p14:creationId xmlns:p14="http://schemas.microsoft.com/office/powerpoint/2010/main" val="87864171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32">
            <a:extLst xmlns:a="http://schemas.openxmlformats.org/drawingml/2006/main">
              <a:ext uri="{FF2B5EF4-FFF2-40B4-BE49-F238E27FC236}">
                <a16:creationId xmlns:a16="http://schemas.microsoft.com/office/drawing/2014/main" id="{2AE86AD4-3BC9-4276-A885-20732B31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SEGURIDAD POR CAPAS</a:t>
            </a:r>
          </a:p>
        </p:txBody>
      </p:sp>
      <p:sp>
        <p:nvSpPr>
          <p:cNvPr id="2" name="title-32">
            <a:extLst xmlns:a="http://schemas.openxmlformats.org/drawingml/2006/main">
              <a:ext uri="{FF2B5EF4-FFF2-40B4-BE49-F238E27FC236}">
                <a16:creationId xmlns:a16="http://schemas.microsoft.com/office/drawing/2014/main" id="{1A780CD2-83A7-4C7A-BE9C-6FCFFE09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Una cadena segura puede sostener una aplicación insegura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0ED12-3FD0-4112-B822-52D26424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32">
            <a:extLst xmlns:a="http://schemas.openxmlformats.org/drawingml/2006/main">
              <a:ext uri="{FF2B5EF4-FFF2-40B4-BE49-F238E27FC236}">
                <a16:creationId xmlns:a16="http://schemas.microsoft.com/office/drawing/2014/main" id="{200473FC-0FC3-44FD-8BD6-68083D4A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32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14350" y="1581150"/>
          <a:ext xmlns:a="http://schemas.openxmlformats.org/drawingml/2006/main" cx="111633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286250"/>
                <a:gridCol w="4591050"/>
              </a:tblGrid>
              <a:tr h="6041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Capa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Falla típica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Control prioritario</a:t>
                      </a:r>
                    </a:p>
                  </a:txBody>
                  <a:tcPr marL="91440" marR="91440" marT="45720" marB="45720" anchor="ctr">
                    <a:solidFill>
                      <a:srgbClr val="0A1930"/>
                    </a:solidFill>
                  </a:tcPr>
                </a:tc>
              </a:tr>
              <a:tr h="6041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Claves y wallet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phishing, pérdida, firma ciega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hardware, recuperación, simulación y límites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1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Smart contracts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reentrancy, permisos, upgrade inseguro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tests, auditoría, invariantes, timelocks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  <a:tr h="6041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Oráculos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dato manipulado o fuente caída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agregación, límites, pausas y fallback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1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Consenso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51%, censura, concentración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diversidad, incentivos y monitoreo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  <a:tr h="6041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Puentes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validación débil entre dominios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minimizar confianza y exposición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1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Gobernanza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captura, voto prestado, reacción lenta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0B1F33"/>
                          </a:solidFill>
                        </a:rPr>
                        <a:t>quórums, delegación, emergencia y transparencia</a:t>
                      </a:r>
                    </a:p>
                  </a:txBody>
                  <a:tcPr marL="91440" marR="91440" marT="45720" marB="45720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14F19-BDED-4627-A528-CC5538AC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817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El modelo de amenazas debe abarcar también infraestructura, personas, dependencias y procesos de actualización.</a:t>
            </a:r>
          </a:p>
        </p:txBody>
      </p:sp>
    </p:spTree>
    <p:extLst>
      <p:ext uri="{BB962C8B-B14F-4D97-AF65-F5344CB8AC3E}">
        <p14:creationId xmlns:p14="http://schemas.microsoft.com/office/powerpoint/2010/main" val="8679973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33">
            <a:extLst xmlns:a="http://schemas.openxmlformats.org/drawingml/2006/main">
              <a:ext uri="{FF2B5EF4-FFF2-40B4-BE49-F238E27FC236}">
                <a16:creationId xmlns:a16="http://schemas.microsoft.com/office/drawing/2014/main" id="{057C293C-11BC-4992-AE4C-B232BB02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PRIVACIDAD</a:t>
            </a:r>
          </a:p>
        </p:txBody>
      </p:sp>
      <p:sp>
        <p:nvSpPr>
          <p:cNvPr id="2" name="title-33">
            <a:extLst xmlns:a="http://schemas.openxmlformats.org/drawingml/2006/main">
              <a:ext uri="{FF2B5EF4-FFF2-40B4-BE49-F238E27FC236}">
                <a16:creationId xmlns:a16="http://schemas.microsoft.com/office/drawing/2014/main" id="{E320F590-8A92-48B5-9E14-8AEA6A7D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Pseudonimia no equivale a anonimato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478BA-BEEB-4663-93B5-3A1BE561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33">
            <a:extLst xmlns:a="http://schemas.openxmlformats.org/drawingml/2006/main">
              <a:ext uri="{FF2B5EF4-FFF2-40B4-BE49-F238E27FC236}">
                <a16:creationId xmlns:a16="http://schemas.microsoft.com/office/drawing/2014/main" id="{62BD5DC5-2751-4CF5-9BEA-37CA44D8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797C1-296D-4CAE-8C08-BD65934C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337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5891E-E1EA-4E89-B9B5-0281F3D1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CBAFD-9C33-4B45-9585-EABEB953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Metadatos públicos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9656C-692B-4EAD-8F4C-D3FF5807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Direcciones, montos, tiempos y patrones de interacción permiten análisis y vinculación.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C34F3-26F0-425A-AA68-87637F0F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33550"/>
            <a:ext cx="33337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9978E-5F72-422E-8B53-0C773F0B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335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1A55E-414A-49C1-958F-144588AC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050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Cifrado y compromisos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BC34F-5472-480E-87F9-6B647561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Protegen contenido o permiten demostrar propiedades sin publicar el dato completo.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EB11C-A5B8-424F-A3C6-DFAF35A5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3337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110FA-52FB-4074-8939-0D76B1F4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8FF"/>
          </a:solidFill>
          <a:ln xmlns:a="http://schemas.openxmlformats.org/drawingml/2006/main" w="0">
            <a:solidFill>
              <a:srgbClr val="7458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3FC4C-0A5A-4580-A36E-46A15047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Pruebas ZK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1483B-5D54-4BE8-A644-1DB1E78E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Demuestran validez de una afirmación sin revelar todos sus testigos, bajo un circuito y supuestos concretos.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47A5D-FFA4-44F8-B392-1DE50E43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953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BC685-7814-40D6-A6DD-BAC1BF94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2F232-CF99-4D1F-8A82-F3220E05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Confidencialidad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861C2A-EC37-45F5-97B4-AB8176C6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45529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¿quién puede leer el dato?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1BFEFB-3CDF-4642-83A7-7607093C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4953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D8719-FF05-4EEC-B25E-5DEA9DD7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ACE058-06F4-450E-B135-24580A92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005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No vinculabilidad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9D6D0-E711-4D73-ADCC-58A07061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81500"/>
            <a:ext cx="45529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¿pueden correlacionarse acciones?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F19950-3628-479D-86A6-BF3DB4EB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4953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79551E-8F83-4CAB-8F6F-62E664E7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D938DA-4156-4327-B03B-F0B10451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101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Divulgación selectiva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E943BF-D15B-441E-95BF-E15F3C6C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91150"/>
            <a:ext cx="45529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¿qué atributo mínimo debe probarse?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89FB0-EB6F-46FE-858F-30C59D57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4953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BC38B5-A99B-4177-AB81-1DB01F2E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8FF"/>
          </a:solidFill>
          <a:ln xmlns:a="http://schemas.openxmlformats.org/drawingml/2006/main" w="0">
            <a:solidFill>
              <a:srgbClr val="7458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28D697-9F7C-45ED-AD22-B140047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101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Cumplimiento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69B2FF-33DD-4F57-B14C-39718D65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91150"/>
            <a:ext cx="45529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¿cómo se corrige, revoca o limita retención?</a:t>
            </a:r>
          </a:p>
        </p:txBody>
      </p:sp>
    </p:spTree>
    <p:extLst>
      <p:ext uri="{BB962C8B-B14F-4D97-AF65-F5344CB8AC3E}">
        <p14:creationId xmlns:p14="http://schemas.microsoft.com/office/powerpoint/2010/main" val="213414193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34">
            <a:extLst xmlns:a="http://schemas.openxmlformats.org/drawingml/2006/main">
              <a:ext uri="{FF2B5EF4-FFF2-40B4-BE49-F238E27FC236}">
                <a16:creationId xmlns:a16="http://schemas.microsoft.com/office/drawing/2014/main" id="{DFAC2C38-1C37-4711-AC9F-A512A28D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AD9D1"/>
                </a:solidFill>
              </a:defRPr>
            </a:pPr>
            <a:r>
              <a:rPr sz="1050" b="1">
                <a:solidFill>
                  <a:srgbClr val="5AD9D1"/>
                </a:solidFill>
              </a:rPr>
              <a:t>5 · DECISIÓN DE USO</a:t>
            </a:r>
          </a:p>
        </p:txBody>
      </p:sp>
      <p:sp>
        <p:nvSpPr>
          <p:cNvPr id="2" name="title-34">
            <a:extLst xmlns:a="http://schemas.openxmlformats.org/drawingml/2006/main">
              <a:ext uri="{FF2B5EF4-FFF2-40B4-BE49-F238E27FC236}">
                <a16:creationId xmlns:a16="http://schemas.microsoft.com/office/drawing/2014/main" id="{5352BDB5-9EF6-44DC-8291-9C490AB8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Use blockchain si la verificación compartida justifica el costo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A192D-87DB-4690-9F3A-9EE02AFE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9425C"/>
            </a:solidFill>
            <a:prstDash val="solid"/>
          </a:ln>
        </p:spPr>
      </p:sp>
      <p:sp>
        <p:nvSpPr>
          <p:cNvPr id="4" name="slide-number-34">
            <a:extLst xmlns:a="http://schemas.openxmlformats.org/drawingml/2006/main">
              <a:ext uri="{FF2B5EF4-FFF2-40B4-BE49-F238E27FC236}">
                <a16:creationId xmlns:a16="http://schemas.microsoft.com/office/drawing/2014/main" id="{387AE6CE-911E-408F-B454-043D4800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FB3C7"/>
                </a:solidFill>
              </a:defRPr>
            </a:pPr>
            <a:r>
              <a:rPr sz="975" b="0">
                <a:solidFill>
                  <a:srgbClr val="9FB3C7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F8167-E769-448D-BD59-094F21DC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9621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2A45"/>
          </a:solidFill>
          <a:ln xmlns:a="http://schemas.openxmlformats.org/drawingml/2006/main" w="11430">
            <a:solidFill>
              <a:srgbClr val="2942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B0EDE-D964-45C2-AA38-36268692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AD9D1"/>
                </a:solidFill>
              </a:defRPr>
            </a:pPr>
            <a:r>
              <a:rPr sz="1500" b="1">
                <a:solidFill>
                  <a:srgbClr val="5AD9D1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D26D1-AB96-4623-A254-E65ECB30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504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¿Varias organizaciones escriben o validan?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B3550-3425-4A6D-B713-42686BB4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432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AA1F5-E254-4B6A-8D91-84A67FFA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81200"/>
            <a:ext cx="19621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2A45"/>
          </a:solidFill>
          <a:ln xmlns:a="http://schemas.openxmlformats.org/drawingml/2006/main" w="11430">
            <a:solidFill>
              <a:srgbClr val="2942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6909E-74A0-4CE7-9CDB-6112BDAD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33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AD9D1"/>
                </a:solidFill>
              </a:defRPr>
            </a:pPr>
            <a:r>
              <a:rPr sz="1500" b="1">
                <a:solidFill>
                  <a:srgbClr val="5AD9D1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3846E-A9A6-4B8C-BCA5-5BB87C7C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50"/>
            <a:ext cx="1504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¿Existe desconfianza o conflicto de intereses?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996A2-1550-4131-99FA-42B2370B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432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D8AE7-ED91-4E3D-8C59-CBEF8342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81200"/>
            <a:ext cx="19621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2A45"/>
          </a:solidFill>
          <a:ln xmlns:a="http://schemas.openxmlformats.org/drawingml/2006/main" w="11430">
            <a:solidFill>
              <a:srgbClr val="2942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43850-7DBB-4E7E-A5EA-CE7754EB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33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AD9D1"/>
                </a:solidFill>
              </a:defRPr>
            </a:pPr>
            <a:r>
              <a:rPr sz="1500" b="1">
                <a:solidFill>
                  <a:srgbClr val="5AD9D1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B3338-7EC7-48C4-83F5-FEFAA1FE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1504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¿Se necesita un historial común resistente a alteraciones?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C4846-BD5E-435A-85AE-F530F3B7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F3482-B3B1-4E5A-A28C-6471B2D0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81200"/>
            <a:ext cx="19621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2A45"/>
          </a:solidFill>
          <a:ln xmlns:a="http://schemas.openxmlformats.org/drawingml/2006/main" w="11430">
            <a:solidFill>
              <a:srgbClr val="2942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0E15A-7FF1-4BD0-9C75-650991F9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33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AD9D1"/>
                </a:solidFill>
              </a:defRPr>
            </a:pPr>
            <a:r>
              <a:rPr sz="1500" b="1">
                <a:solidFill>
                  <a:srgbClr val="5AD9D1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DD3D4-5134-494E-A115-6EC0745F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09850"/>
            <a:ext cx="1504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¿No hay una autoridad aceptable más simple?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F65D2-A7A4-4B60-9699-366EA000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432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0BC4A-0CFD-4588-A8AA-E0706DD6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81200"/>
            <a:ext cx="19621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23B39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5C4FC-C9F2-4A1F-AE6C-DE15BCF4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33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AD9D1"/>
                </a:solidFill>
              </a:defRPr>
            </a:pPr>
            <a:r>
              <a:rPr sz="1500" b="1">
                <a:solidFill>
                  <a:srgbClr val="5AD9D1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09923-FBB1-4DA0-822B-414D9BE2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09850"/>
            <a:ext cx="1504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¿Se acepta costo, latencia y gobernanza distribuida?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F98F5C-028C-4FE7-AD84-DD3C0F36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4381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5"/>
          </a:solidFill>
          <a:ln xmlns:a="http://schemas.openxmlformats.org/drawingml/2006/main" w="11430">
            <a:solidFill>
              <a:srgbClr val="2942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F35AA0-617F-4CAC-8ABA-BFAF135C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Si una respuesta clave es 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17EA14-4AD6-460F-98AB-5711C936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evalúe base de datos, firma digital, API compartida o autoridad neutral.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B4B4A1-00A1-40AA-B7CD-03DF0B69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4381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3B39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2BB412-21B6-4F6F-9700-1CEC4520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AD9D1"/>
                </a:solidFill>
              </a:defRPr>
            </a:pPr>
            <a:r>
              <a:rPr sz="1650" b="1">
                <a:solidFill>
                  <a:srgbClr val="5AD9D1"/>
                </a:solidFill>
              </a:rPr>
              <a:t>Si todas son SÍ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86E1C9-AACF-44C5-9085-81E47DEB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compare protocolos, amenazas, privacidad, operación y gobierno antes de construir.</a:t>
            </a:r>
          </a:p>
        </p:txBody>
      </p:sp>
    </p:spTree>
    <p:extLst>
      <p:ext uri="{BB962C8B-B14F-4D97-AF65-F5344CB8AC3E}">
        <p14:creationId xmlns:p14="http://schemas.microsoft.com/office/powerpoint/2010/main" val="8523517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35">
            <a:extLst xmlns:a="http://schemas.openxmlformats.org/drawingml/2006/main">
              <a:ext uri="{FF2B5EF4-FFF2-40B4-BE49-F238E27FC236}">
                <a16:creationId xmlns:a16="http://schemas.microsoft.com/office/drawing/2014/main" id="{A50FB193-DB84-4FE1-922B-3B81D9B5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APLICACIONES VERIFICABLES</a:t>
            </a:r>
          </a:p>
        </p:txBody>
      </p:sp>
      <p:sp>
        <p:nvSpPr>
          <p:cNvPr id="2" name="title-35">
            <a:extLst xmlns:a="http://schemas.openxmlformats.org/drawingml/2006/main">
              <a:ext uri="{FF2B5EF4-FFF2-40B4-BE49-F238E27FC236}">
                <a16:creationId xmlns:a16="http://schemas.microsoft.com/office/drawing/2014/main" id="{E4DDD400-C413-469E-A8D8-D6312EB1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Instituciones exploran liquidación y tokenización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8D9F4-88CE-442D-B010-63A3F0DD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35">
            <a:extLst xmlns:a="http://schemas.openxmlformats.org/drawingml/2006/main">
              <a:ext uri="{FF2B5EF4-FFF2-40B4-BE49-F238E27FC236}">
                <a16:creationId xmlns:a16="http://schemas.microsoft.com/office/drawing/2014/main" id="{C794BBE7-60C3-43D3-A631-585B0513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321D3-97FB-424A-A944-37197F62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143500" cy="2705100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22FAC-DD6E-4785-A49A-0053A2BF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19CCD-026A-4C52-8157-7BE6D41D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Project Agorá · BIS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C72F4-A823-4C31-8233-C14A3DA7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4743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En mayo de 2026 el proyecto informó que avanzaría a pruebas con valor real para explorar pagos mayoristas transfronterizos tokenizados y la integración de dinero de bancos centrales y comerciales.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ABE49-95CE-44EB-98CF-152535F7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5143500" cy="2705100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D8E73-50C6-48C8-949B-51D7065C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762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988EE-0295-4919-9325-87E04A48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Régimen Piloto DLT · Unión Europea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AB841-9C7C-4385-8D7F-41264BE7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743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Desde marzo de 2023 existe un marco para infraestructuras de mercado basadas en DLT que negocian y liquidan instrumentos financieros, con excepciones temporales y salvaguardas.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D2ADF-38DA-4440-8C1F-2401E667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6774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1CE6A-F3E9-4B18-8C97-A8C9B7A3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81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AD9D1"/>
                </a:solidFill>
              </a:defRPr>
            </a:pPr>
            <a:r>
              <a:rPr sz="1650" b="1">
                <a:solidFill>
                  <a:srgbClr val="5AD9D1"/>
                </a:solidFill>
              </a:rPr>
              <a:t>Lección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9C974-42D6-4C45-988B-2C7C80DB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054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El valor no está en “poner activos en blockchain”, sino en integrar emisión, reglas, transferencia y liquidación con claridad jurídica y operativa.</a:t>
            </a:r>
          </a:p>
        </p:txBody>
      </p:sp>
    </p:spTree>
    <p:extLst>
      <p:ext uri="{BB962C8B-B14F-4D97-AF65-F5344CB8AC3E}">
        <p14:creationId xmlns:p14="http://schemas.microsoft.com/office/powerpoint/2010/main" val="5035996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36">
            <a:extLst xmlns:a="http://schemas.openxmlformats.org/drawingml/2006/main">
              <a:ext uri="{FF2B5EF4-FFF2-40B4-BE49-F238E27FC236}">
                <a16:creationId xmlns:a16="http://schemas.microsoft.com/office/drawing/2014/main" id="{A13ACCA6-0C7A-4345-906A-30F69E5F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APLICACIONES CON MATICES</a:t>
            </a:r>
          </a:p>
        </p:txBody>
      </p:sp>
      <p:sp>
        <p:nvSpPr>
          <p:cNvPr id="2" name="title-36">
            <a:extLst xmlns:a="http://schemas.openxmlformats.org/drawingml/2006/main">
              <a:ext uri="{FF2B5EF4-FFF2-40B4-BE49-F238E27FC236}">
                <a16:creationId xmlns:a16="http://schemas.microsoft.com/office/drawing/2014/main" id="{6FE8ABE6-CB73-4D2F-A88C-6A3261BC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Credenciales y trazabilidad requieren confianza fuera de la cadena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1A31C-7131-46AB-9760-17C55A5F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36">
            <a:extLst xmlns:a="http://schemas.openxmlformats.org/drawingml/2006/main">
              <a:ext uri="{FF2B5EF4-FFF2-40B4-BE49-F238E27FC236}">
                <a16:creationId xmlns:a16="http://schemas.microsoft.com/office/drawing/2014/main" id="{9D17B45C-61CF-498A-B9DB-791D7014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BD968-3B74-48F7-8A25-0994A605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14350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98930-A96C-4045-97F8-D925FBF5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8FF"/>
          </a:solidFill>
          <a:ln xmlns:a="http://schemas.openxmlformats.org/drawingml/2006/main" w="0">
            <a:solidFill>
              <a:srgbClr val="745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026BE-8521-4339-94CE-01A0A26C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Credenciales verificables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A5B9A-DE62-4E66-836F-7377F398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7434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El modelo W3C separa emisor, titular y verificador. Una blockchain puede ayudar con registros, estado o anclaje, pero el estándar no exige usarla.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8F1BA-0700-4322-AAC7-C2599184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514350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9A75C-DF48-466C-B59E-D5739849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88269-80D1-4ECD-83F4-E842BA8E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Trazabilidad física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8391F-C1EC-42C9-8DC5-517ADF9A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7434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77"/>
                </a:solidFill>
              </a:defRPr>
            </a:pPr>
            <a:r>
              <a:rPr sz="1350" b="0">
                <a:solidFill>
                  <a:srgbClr val="526477"/>
                </a:solidFill>
              </a:rPr>
              <a:t>El ledger preserva eventos registrados, pero no prueba por sí mismo que un producto sea auténtico, que un sensor mida bien o que un operador cargue datos correctos.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F7FD2-B6EA-4BF3-94F9-6D076F8C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9677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DDD5C-0E05-4656-B272-0AA739DB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57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D6BFF"/>
                </a:solidFill>
              </a:defRPr>
            </a:pPr>
            <a:r>
              <a:rPr sz="1650" b="1">
                <a:solidFill>
                  <a:srgbClr val="2D6BFF"/>
                </a:solidFill>
              </a:rPr>
              <a:t>Principio común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96DEF-A2DD-469E-8C42-31DD1D85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00600"/>
            <a:ext cx="689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La verificación criptográfica protege la relación entre identidad, mensaje y evidencia; la veracidad del mundo físico depende de procesos, auditorías, dispositivos y responsabilidad legal.</a:t>
            </a:r>
          </a:p>
        </p:txBody>
      </p:sp>
    </p:spTree>
    <p:extLst>
      <p:ext uri="{BB962C8B-B14F-4D97-AF65-F5344CB8AC3E}">
        <p14:creationId xmlns:p14="http://schemas.microsoft.com/office/powerpoint/2010/main" val="55417859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ection-37">
            <a:extLst xmlns:a="http://schemas.openxmlformats.org/drawingml/2006/main">
              <a:ext uri="{FF2B5EF4-FFF2-40B4-BE49-F238E27FC236}">
                <a16:creationId xmlns:a16="http://schemas.microsoft.com/office/drawing/2014/main" id="{13F104D2-A418-4A92-A337-761FE515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ACTIVIDAD DE CLASE</a:t>
            </a:r>
          </a:p>
        </p:txBody>
      </p:sp>
      <p:sp>
        <p:nvSpPr>
          <p:cNvPr id="2" name="title-37">
            <a:extLst xmlns:a="http://schemas.openxmlformats.org/drawingml/2006/main">
              <a:ext uri="{FF2B5EF4-FFF2-40B4-BE49-F238E27FC236}">
                <a16:creationId xmlns:a16="http://schemas.microsoft.com/office/drawing/2014/main" id="{74ECA3D6-9896-46CC-B371-F60E2DAE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Construya una cadena mínima y luego trate de romperla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40402-9D7A-405E-91D5-4DAE990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37">
            <a:extLst xmlns:a="http://schemas.openxmlformats.org/drawingml/2006/main">
              <a:ext uri="{FF2B5EF4-FFF2-40B4-BE49-F238E27FC236}">
                <a16:creationId xmlns:a16="http://schemas.microsoft.com/office/drawing/2014/main" id="{552CE8B1-7690-43E7-BAE2-000F5E74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FF67D-8FE1-4E57-A8E2-21A2C6D4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90750"/>
            <a:ext cx="95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DF835-E50E-469F-A840-E4B99770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90750"/>
            <a:ext cx="95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D760B-5140-4202-92BB-064C2DF3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90750"/>
            <a:ext cx="95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F5559-7861-41EC-99AF-E0B78529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95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D9D1"/>
          </a:solidFill>
          <a:ln xmlns:a="http://schemas.openxmlformats.org/drawingml/2006/main" w="0">
            <a:solidFill>
              <a:srgbClr val="5AD9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38FA7-9E71-4A07-B943-47E5ED8A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1717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13034-BC4B-466F-93C8-C6BB1636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8FE05-DEB0-4E53-85AC-093E6832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64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Crear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17AAF-61DD-4260-8F30-37C98CEC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866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tres bloques con índice, datos, hash previo, nonce y timestamp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7C8FB-2F24-4DEF-854A-3CF8B380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52600"/>
            <a:ext cx="21717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84009-B7D4-4413-A1AA-F8474631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6E13B-2F7C-4470-8FBA-CA24A9DA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764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Minar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B0ECA-A187-4608-87A9-3C98A698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866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buscar un nonce cuyo hash cumpla una dificultad didáctica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64A8C-6BE2-4BDE-83FA-3B30B20F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52600"/>
            <a:ext cx="21717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17EE1-ED51-40E4-A10D-4A442C70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F9CAA-55D9-45F5-B856-185D16A2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764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Alterar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CA60D-A0E6-4238-8239-3151CBCE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43150"/>
            <a:ext cx="1866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modificar una transacción y observar qué hashes dejan de coincidir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D3883-2F20-40ED-BC94-7ADB3478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52600"/>
            <a:ext cx="21717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5AB908-DF97-49D2-8B1D-C41F9C27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B50F1-70C7-4651-94EB-5CD5641F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764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Competir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9DEBBE-5EE7-4E3A-914E-636E103B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43150"/>
            <a:ext cx="1866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formar dos ramas y aplicar una regla de selección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02C7F1-C6BA-4421-BFB2-B8D52D66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52600"/>
            <a:ext cx="21717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D449A7-C837-40F4-8096-EE34729B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BFF"/>
                </a:solidFill>
              </a:defRPr>
            </a:pPr>
            <a:r>
              <a:rPr sz="1350" b="1">
                <a:solidFill>
                  <a:srgbClr val="2D6B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E4DA9D-D8FA-44C2-A15E-23227F41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8764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Debatir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197523-8795-439C-A0A5-6FBC69F6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43150"/>
            <a:ext cx="1866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26477"/>
                </a:solidFill>
              </a:defRPr>
            </a:pPr>
            <a:r>
              <a:rPr sz="1163" b="0">
                <a:solidFill>
                  <a:srgbClr val="526477"/>
                </a:solidFill>
              </a:rPr>
              <a:t>identificar qué supuestos quedan fuera de la simulación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555778-E2CA-48DD-B4D9-6D7F5AFC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2D6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C98A42-B76B-4CBD-8DEF-A2E2B77C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719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integridad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860672-8CF4-4571-ADCB-3BF2C666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4340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19BF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D58CB8-B009-45E8-979F-94309AE0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719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9BFA7"/>
                </a:solidFill>
              </a:defRPr>
            </a:pPr>
            <a:r>
              <a:rPr sz="1050" b="1">
                <a:solidFill>
                  <a:srgbClr val="19BFA7"/>
                </a:solidFill>
              </a:rPr>
              <a:t>encadenamiento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483C81-7C02-4F37-B552-D7BED408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4340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7458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ADD313-C70B-4E68-AC24-9F6707F5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719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458FF"/>
                </a:solidFill>
              </a:defRPr>
            </a:pPr>
            <a:r>
              <a:rPr sz="1050" b="1">
                <a:solidFill>
                  <a:srgbClr val="7458FF"/>
                </a:solidFill>
              </a:rPr>
              <a:t>dificultad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020689-77BC-408F-A0DC-C750B6ED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4340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7BD502-D9C6-4DD2-B216-5628BA26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719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fork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2066D6-1EAC-453F-B35E-47A2D0A7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4340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E74C3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C40C9C-D8F4-490D-8568-9B14EFDF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719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74C3C"/>
                </a:solidFill>
              </a:defRPr>
            </a:pPr>
            <a:r>
              <a:rPr sz="1050" b="1">
                <a:solidFill>
                  <a:srgbClr val="E74C3C"/>
                </a:solidFill>
              </a:rPr>
              <a:t>finalidad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667D8A-2BF0-4015-8F36-952A5FE5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9525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2E518B-4130-455A-89A8-E0863155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14950"/>
            <a:ext cx="891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Entrega: diagrama del estado, criterio de cadena canónica y explicación de qué atacante puede vencer el modelo.</a:t>
            </a:r>
          </a:p>
        </p:txBody>
      </p:sp>
    </p:spTree>
    <p:extLst>
      <p:ext uri="{BB962C8B-B14F-4D97-AF65-F5344CB8AC3E}">
        <p14:creationId xmlns:p14="http://schemas.microsoft.com/office/powerpoint/2010/main" val="43790475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38">
            <a:extLst xmlns:a="http://schemas.openxmlformats.org/drawingml/2006/main">
              <a:ext uri="{FF2B5EF4-FFF2-40B4-BE49-F238E27FC236}">
                <a16:creationId xmlns:a16="http://schemas.microsoft.com/office/drawing/2014/main" id="{21B06D7C-8459-433A-8C9B-F07B1A6A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SÍNTESIS</a:t>
            </a:r>
          </a:p>
        </p:txBody>
      </p:sp>
      <p:sp>
        <p:nvSpPr>
          <p:cNvPr id="2" name="title-38">
            <a:extLst xmlns:a="http://schemas.openxmlformats.org/drawingml/2006/main">
              <a:ext uri="{FF2B5EF4-FFF2-40B4-BE49-F238E27FC236}">
                <a16:creationId xmlns:a16="http://schemas.microsoft.com/office/drawing/2014/main" id="{807FA83F-1CFE-4E24-892C-317861CD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Cinco ideas conectan toda la arquitectura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891EC-57B1-4687-8479-7EFB1A91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38">
            <a:extLst xmlns:a="http://schemas.openxmlformats.org/drawingml/2006/main">
              <a:ext uri="{FF2B5EF4-FFF2-40B4-BE49-F238E27FC236}">
                <a16:creationId xmlns:a16="http://schemas.microsoft.com/office/drawing/2014/main" id="{525735B6-CB86-4678-AB5B-752087BA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B03D2-23FF-46AA-B359-BA85C725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05918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3B97A-D71D-43A9-9A28-C3ADEA35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D6BFF"/>
                </a:solidFill>
              </a:defRPr>
            </a:pPr>
            <a:r>
              <a:rPr sz="1725" b="1">
                <a:solidFill>
                  <a:srgbClr val="2D6B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4B7D0-3EB2-4B6F-9EE6-14BA345C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Coordinación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3985F-B1C0-45C6-8D42-05F5C04B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859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526477"/>
                </a:solidFill>
              </a:defRPr>
            </a:pPr>
            <a:r>
              <a:rPr sz="1313" b="0">
                <a:solidFill>
                  <a:srgbClr val="526477"/>
                </a:solidFill>
              </a:rPr>
              <a:t>El problema central es acordar un historial y un estado compartido.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B3A3B-03CB-4CE8-B7C0-57074008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05918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C5BD4-FADD-45B8-AAB7-C584C5F9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D6BFF"/>
                </a:solidFill>
              </a:defRPr>
            </a:pPr>
            <a:r>
              <a:rPr sz="1725" b="1">
                <a:solidFill>
                  <a:srgbClr val="2D6B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A0913-F6D1-4207-8FEC-32574DCD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908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Capas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FB08F-7764-4525-82F0-533E095F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622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526477"/>
                </a:solidFill>
              </a:defRPr>
            </a:pPr>
            <a:r>
              <a:rPr sz="1313" b="0">
                <a:solidFill>
                  <a:srgbClr val="526477"/>
                </a:solidFill>
              </a:rPr>
              <a:t>Criptografía verifica; consenso ordena; gobernanza define cómo cambian las reglas.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4136D-F6EA-4987-B22E-14CC4E95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05918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8E49C-38E7-4D36-BB0C-C4CB9A04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D6BFF"/>
                </a:solidFill>
              </a:defRPr>
            </a:pPr>
            <a:r>
              <a:rPr sz="1725" b="1">
                <a:solidFill>
                  <a:srgbClr val="2D6B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B7763-F2A7-4898-B501-40832955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Finalidad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14E8B-1EC1-4CE4-ABD3-053ED55D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385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526477"/>
                </a:solidFill>
              </a:defRPr>
            </a:pPr>
            <a:r>
              <a:rPr sz="1313" b="0">
                <a:solidFill>
                  <a:srgbClr val="526477"/>
                </a:solidFill>
              </a:rPr>
              <a:t>La irreversibilidad es probabilística, económica o protocolar según el sistema.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504E9-5239-47CF-82ED-0FBA5EE7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32943-1528-4215-9BC0-16D8942E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D6BFF"/>
                </a:solidFill>
              </a:defRPr>
            </a:pPr>
            <a:r>
              <a:rPr sz="1725" b="1">
                <a:solidFill>
                  <a:srgbClr val="2D6B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799D5-4E17-4F04-9731-E7C58782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43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Límites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781ED-2B36-434E-9ABB-C4DD3790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148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526477"/>
                </a:solidFill>
              </a:defRPr>
            </a:pPr>
            <a:r>
              <a:rPr sz="1313" b="0">
                <a:solidFill>
                  <a:srgbClr val="526477"/>
                </a:solidFill>
              </a:rPr>
              <a:t>El ledger no garantiza verdad externa, privacidad ni seguridad de aplicaciones.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B26680-D997-4FC5-B264-86CBB7D4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05918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0A1930"/>
          </a:solidFill>
          <a:ln xmlns:a="http://schemas.openxmlformats.org/drawingml/2006/main" w="11430">
            <a:solidFill>
              <a:srgbClr val="0A19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E7198-040D-4477-8B08-209EA2CE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197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AD9D1"/>
                </a:solidFill>
              </a:defRPr>
            </a:pPr>
            <a:r>
              <a:rPr sz="1725" b="1">
                <a:solidFill>
                  <a:srgbClr val="5AD9D1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7A26A-3A04-48ED-87E5-DB8D5857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Criterio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50513C-DBAA-4C2F-A8D7-062BBAA4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911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FFFFFF"/>
                </a:solidFill>
              </a:defRPr>
            </a:pPr>
            <a:r>
              <a:rPr sz="1313" b="1">
                <a:solidFill>
                  <a:srgbClr val="FFFFFF"/>
                </a:solidFill>
              </a:rPr>
              <a:t>Use blockchain cuando la confianza compartida vale más que su costo y complejidad.</a:t>
            </a:r>
          </a:p>
        </p:txBody>
      </p:sp>
    </p:spTree>
    <p:extLst>
      <p:ext uri="{BB962C8B-B14F-4D97-AF65-F5344CB8AC3E}">
        <p14:creationId xmlns:p14="http://schemas.microsoft.com/office/powerpoint/2010/main" val="126386121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39">
            <a:extLst xmlns:a="http://schemas.openxmlformats.org/drawingml/2006/main">
              <a:ext uri="{FF2B5EF4-FFF2-40B4-BE49-F238E27FC236}">
                <a16:creationId xmlns:a16="http://schemas.microsoft.com/office/drawing/2014/main" id="{10F7327F-1156-4C24-93AD-66E2B3B9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REFERENCIAS</a:t>
            </a:r>
          </a:p>
        </p:txBody>
      </p:sp>
      <p:sp>
        <p:nvSpPr>
          <p:cNvPr id="2" name="title-39">
            <a:extLst xmlns:a="http://schemas.openxmlformats.org/drawingml/2006/main">
              <a:ext uri="{FF2B5EF4-FFF2-40B4-BE49-F238E27FC236}">
                <a16:creationId xmlns:a16="http://schemas.microsoft.com/office/drawing/2014/main" id="{BBC70E49-4AE8-4A3E-90A1-F0033BA5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Bibliografía · fundamentos y sistemas distribuidos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BFDB6-7750-4FB9-852A-0EF7B39D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39">
            <a:extLst xmlns:a="http://schemas.openxmlformats.org/drawingml/2006/main">
              <a:ext uri="{FF2B5EF4-FFF2-40B4-BE49-F238E27FC236}">
                <a16:creationId xmlns:a16="http://schemas.microsoft.com/office/drawing/2014/main" id="{9FE6888C-BE81-454B-AE28-263A5874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3F3B0-7A54-42D3-8546-B8E250EB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8ACAC-410E-49BD-B63E-F585AE83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A70F7-C16C-4CC2-AC07-AA3910EC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BF159-91F7-45FC-B550-CF9C2C05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Yaga, D.; Mell, P.; Roby, N.; Scarfone, K. (2018). Blockchain Technology Overview. NISTIR 8202. DOI: 10.6028/NIST.IR.8202.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AFF59-5D52-47C5-B9E9-E130A994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F9E1B-6C33-49F6-B3E4-8C3CFA63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DBFBB-A231-4A80-824D-053A9F49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BCBAB-4065-441A-8443-7E567020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Nakamoto, S. (2008). Bitcoin: A Peer-to-Peer Electronic Cash System.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3D77F-DF62-4C5C-AF24-AADAADE1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8109C-8D14-4B0B-88E1-7687CF66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C617D-E17B-4E07-9A9E-0822A5FF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E8F00-64FD-4D24-ADA6-0ED6930B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Lamport, L.; Shostak, R.; Pease, M. (1982). The Byzantine Generals Problem. ACM TOPLAS, 4(3), 382–401.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2F4CD1-B64B-4E50-9384-3A41CA1B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1F0C4-27DB-4807-9633-6E6DFEB3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01A4B-42DA-425E-842B-4A0173A4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68E40-F24E-4012-A123-533F1BB4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Gilbert, S.; Lynch, N. (2002). Brewer’s Conjecture and the Feasibility of Consistent, Available, Partition-Tolerant Web Services. SIGACT News, 33(2).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A6448-32E6-49DE-BF9B-4BE9BC9E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4305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556FA-9F6A-498E-AA81-73D16218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430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71706-2663-4ACF-90CE-5592DAE9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9190A6-D49B-4C94-9BE6-BDF88953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Haber, S.; Stornetta, W. S. (1991). How to Time-Stamp a Digital Document. Journal of Cryptology, 3, 99–111.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9BB693-3532-4074-980B-B358560A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4795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6F729C-74FA-4450-9645-AE62A7F1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479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3C29A8-01C2-455A-9044-113AA1E8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194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14A77C-2156-421A-836D-88EDA5A2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Back, A. (2002). Hashcash — A Denial of Service Counter-Measure.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980FA8-B68D-4199-B5DA-FEA82478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5285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2516EE-8FDC-4D28-8964-05EFB932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528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DDE883-4DC5-4B56-9BC4-AE549ED4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243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A0A048-A2CC-4BD8-BD44-7FF51CA1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Merkle, R. C. (1979). Secrecy, Authentication, and Public Key Systems. Stanford University.</a:t>
            </a:r>
          </a:p>
        </p:txBody>
      </p:sp>
    </p:spTree>
    <p:extLst>
      <p:ext uri="{BB962C8B-B14F-4D97-AF65-F5344CB8AC3E}">
        <p14:creationId xmlns:p14="http://schemas.microsoft.com/office/powerpoint/2010/main" val="211464022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40">
            <a:extLst xmlns:a="http://schemas.openxmlformats.org/drawingml/2006/main">
              <a:ext uri="{FF2B5EF4-FFF2-40B4-BE49-F238E27FC236}">
                <a16:creationId xmlns:a16="http://schemas.microsoft.com/office/drawing/2014/main" id="{2772F227-A8C3-4C4D-ACB1-78FD6C16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REFERENCIAS</a:t>
            </a:r>
          </a:p>
        </p:txBody>
      </p:sp>
      <p:sp>
        <p:nvSpPr>
          <p:cNvPr id="2" name="title-40">
            <a:extLst xmlns:a="http://schemas.openxmlformats.org/drawingml/2006/main">
              <a:ext uri="{FF2B5EF4-FFF2-40B4-BE49-F238E27FC236}">
                <a16:creationId xmlns:a16="http://schemas.microsoft.com/office/drawing/2014/main" id="{127A9362-513E-44A5-A144-D9FF13E9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Bibliografía · criptografía, ejecución y escalado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122C0-29E1-4AE6-BF13-54D749F4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40">
            <a:extLst xmlns:a="http://schemas.openxmlformats.org/drawingml/2006/main">
              <a:ext uri="{FF2B5EF4-FFF2-40B4-BE49-F238E27FC236}">
                <a16:creationId xmlns:a16="http://schemas.microsoft.com/office/drawing/2014/main" id="{BE0B8628-5122-4E54-983A-DCF96BF8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7579F-E4A7-4830-A5DC-FD33A046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41FE3-1C71-44D3-82A7-1BA171B1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8FF"/>
          </a:solidFill>
          <a:ln xmlns:a="http://schemas.openxmlformats.org/drawingml/2006/main" w="0">
            <a:solidFill>
              <a:srgbClr val="745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C5D4F-36CA-4887-868E-94687FD8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4EB6A-087C-4783-A941-988AAD26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NIST (2015). FIPS 180-4: Secure Hash Standard (SHS).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D5410-22E7-4F43-AF47-260F7116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240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9A413-5586-4121-94A3-2320CEA7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240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177B2-CD1C-41AB-B972-A670667B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34D46-9962-4CC2-94AB-480E98A4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NIST (2023). FIPS 186-5: Digital Signature Standard (DSS).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5E670-B244-4909-A9A0-339B847F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EA113-B770-410E-B695-BA8B7B0D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8FF"/>
          </a:solidFill>
          <a:ln xmlns:a="http://schemas.openxmlformats.org/drawingml/2006/main" w="0">
            <a:solidFill>
              <a:srgbClr val="7458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E7BA0-D728-44F4-B358-E0DD735C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EB930-5401-4CD3-B9A3-335EAA16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Buterin, V. (2014). A Next-Generation Smart Contract and Decentralized Application Platform.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AC8C1-9F90-45DA-AF1C-A33A5C94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BEE31-B38C-4239-AF7F-232868FA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5F600-5581-4A8D-B1E0-E5F1FE24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03037B-388E-4A25-B3E1-8B02C76F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Wood, G. Ethereum Yellow Paper: formal specification of the Ethereum protocol.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12594-BF1F-47D5-BFA5-57E173E9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81E6D-31FD-44FE-9C94-4472EAAB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8FF"/>
          </a:solidFill>
          <a:ln xmlns:a="http://schemas.openxmlformats.org/drawingml/2006/main" w="0">
            <a:solidFill>
              <a:srgbClr val="7458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81E451-F07E-4C66-AE82-2764E065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BB6560-DFE1-4051-90FE-D3BB0067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Ethereum.org. Developer documentation: EVM, transactions, smart contracts, Proof of Stake and finality.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DEEAE-1605-4FAF-9BAA-8F24FB71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C65C42-733B-4BFF-A630-BDF17267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A10A9E-2D7B-45BE-A2F3-F5D15929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4856BE-27B3-4E9C-993E-9D6ED5DB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Ethereum.org. Scaling documentation: optimistic rollups, ZK rollups and data availability.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350446-E98E-4579-9CFE-049C6032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A44D65-BF48-4757-9DA5-8ADB7049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8FF"/>
          </a:solidFill>
          <a:ln xmlns:a="http://schemas.openxmlformats.org/drawingml/2006/main" w="0">
            <a:solidFill>
              <a:srgbClr val="7458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E3511E-A704-46BE-928F-9D821C5D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38BF9E-4716-4546-8BBE-AC5C430D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EIP-4844. Shard Blob Transactions / proto-danksharding.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199C07-D770-48CA-98B4-76424ED1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9992B7-C3A4-4248-96FD-4ABC162D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71A49A-FEF6-4901-9A39-2ED4484E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7FC54A-93E3-4670-A720-AC7718FD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911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Hyperledger Fabric Documentation. Permissioned networks, membership, ordering and endorsement.</a:t>
            </a:r>
          </a:p>
        </p:txBody>
      </p:sp>
    </p:spTree>
    <p:extLst>
      <p:ext uri="{BB962C8B-B14F-4D97-AF65-F5344CB8AC3E}">
        <p14:creationId xmlns:p14="http://schemas.microsoft.com/office/powerpoint/2010/main" val="145005434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41">
            <a:extLst xmlns:a="http://schemas.openxmlformats.org/drawingml/2006/main">
              <a:ext uri="{FF2B5EF4-FFF2-40B4-BE49-F238E27FC236}">
                <a16:creationId xmlns:a16="http://schemas.microsoft.com/office/drawing/2014/main" id="{7B9506BF-FCF7-4B69-8D13-DE8119EF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6BFF"/>
                </a:solidFill>
              </a:defRPr>
            </a:pPr>
            <a:r>
              <a:rPr sz="1050" b="1">
                <a:solidFill>
                  <a:srgbClr val="2D6BFF"/>
                </a:solidFill>
              </a:rPr>
              <a:t>REFERENCIAS</a:t>
            </a:r>
          </a:p>
        </p:txBody>
      </p:sp>
      <p:sp>
        <p:nvSpPr>
          <p:cNvPr id="2" name="title-41">
            <a:extLst xmlns:a="http://schemas.openxmlformats.org/drawingml/2006/main">
              <a:ext uri="{FF2B5EF4-FFF2-40B4-BE49-F238E27FC236}">
                <a16:creationId xmlns:a16="http://schemas.microsoft.com/office/drawing/2014/main" id="{B9A12A05-AED0-42D0-9888-92E9BB6D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Bibliografía · aplicaciones, estándares y seguridad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7F62C-55AE-4535-8711-0617BB51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4" name="slide-number-41">
            <a:extLst xmlns:a="http://schemas.openxmlformats.org/drawingml/2006/main">
              <a:ext uri="{FF2B5EF4-FFF2-40B4-BE49-F238E27FC236}">
                <a16:creationId xmlns:a16="http://schemas.microsoft.com/office/drawing/2014/main" id="{BE63DA73-6B0D-443C-BC88-3E02E4DE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477"/>
                </a:solidFill>
              </a:defRPr>
            </a:pPr>
            <a:r>
              <a:rPr sz="975" b="0">
                <a:solidFill>
                  <a:srgbClr val="526477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00807-ED03-49F9-9D5E-A23F702E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2BE29-A93F-4DBC-B706-005F3EBB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0A1D7-82E9-48E1-8FAF-ADC74D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96EBE-6C15-4158-881D-ADC8D158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W3C (2025). Verifiable Credentials Data Model v2.0. W3C Recommendation.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B2AC0-ECCA-43BA-A360-8988BFF8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240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02404-94A0-480E-9BEE-DB6C9394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240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E7FAC-8D41-49AC-9386-90B16750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4C769-4DDE-4003-A658-62E3858C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Bank for International Settlements (2026). Project Agorá: tokenisation of wholesale cross-border payments.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D3D69-56C8-4338-8F7C-0062DB68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14E36-C0EC-43EE-818E-2B506BBB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BC478-2585-4973-B4A7-A3201F23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430B7-B45E-4445-A1F2-0A5E2BF0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Bank for International Settlements (2026). Anchoring trust in money: innovation beyond stablecoins. Annual Economic Report, Chapter III.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D6E2B-1B29-4772-A6BB-F6209C59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F7403-B4B5-48DF-98F0-6C3B49BA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637FF-DD9B-40F1-9A07-FF68F1B1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49EC8-7BFE-4267-A15F-EC2B542F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Regulation (EU) 2022/858 on a pilot regime for market infrastructures based on distributed ledger technology.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24122-70A9-4EC9-9EE3-01CA36F7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5B36E-4AAA-4AE1-BD21-B20BD825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F85DC-7F50-48F2-AAE6-188A0239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0AEE9-29FF-413C-85EA-CCED2F28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ESMA. DLT Pilot Regime: implementation and supervisory material.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B500A-5BCB-4994-B9B8-054128ED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CE241B-7814-46BA-9EAE-AC52418F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22150A-1321-463A-8063-6FB072E7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635C3F-B87A-4360-87C9-49246F5B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Ethereum.org. Smart contract security, oracles and maximal extractable value documentation.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637065-68DA-4CE4-B4D2-1703AE5D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D9CDBD-0B02-4F7D-BF45-18C62D8E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FA7"/>
          </a:solidFill>
          <a:ln xmlns:a="http://schemas.openxmlformats.org/drawingml/2006/main" w="0">
            <a:solidFill>
              <a:srgbClr val="19BFA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B5C11D-0F16-43C1-8899-2E4016D1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50BC3-A322-4D60-BBDA-EFC3B169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NISTIR 8301 (2021). Blockchain Networks: Token Design and Management Overview.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873E11-29B4-4B14-A3D6-8CDCB76F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52959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1430">
            <a:solidFill>
              <a:srgbClr val="D6DE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7BDECD-D18E-4478-8995-340FE8B4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94E014-A510-44C7-B601-9ADA9551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D4F5E6-4CC9-40F8-871D-F238BF5C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911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26477"/>
                </a:solidFill>
              </a:defRPr>
            </a:pPr>
            <a:r>
              <a:rPr sz="1088" b="0">
                <a:solidFill>
                  <a:srgbClr val="526477"/>
                </a:solidFill>
              </a:rPr>
              <a:t>Lectura transversal recomendada: modelos de amenaza, gobernanza, privacidad, operación y análisis jurídico del caso concreto.</a:t>
            </a:r>
          </a:p>
        </p:txBody>
      </p:sp>
    </p:spTree>
    <p:extLst>
      <p:ext uri="{BB962C8B-B14F-4D97-AF65-F5344CB8AC3E}">
        <p14:creationId xmlns:p14="http://schemas.microsoft.com/office/powerpoint/2010/main" val="1639765906"/>
      </p:ext>
    </p:extLst>
  </p:cSld>
</p:sld>
</file>

<file path=ppt/theme/theme1.xml><?xml version="1.0" encoding="utf-8"?>
<a:theme xmlns:a="http://schemas.openxmlformats.org/drawingml/2006/main" name="ChatGPT">
  <a:themeElements>
    <a:clrScheme name="Blockchain Academic">
      <a:dk1>
        <a:srgbClr val="000000"/>
      </a:dk1>
      <a:lt1>
        <a:srgbClr val="FFFFFF"/>
      </a:lt1>
      <a:dk2>
        <a:srgbClr val="071A2D"/>
      </a:dk2>
      <a:lt2>
        <a:srgbClr val="D6DEE6"/>
      </a:lt2>
      <a:accent1>
        <a:srgbClr val="2D6BFF"/>
      </a:accent1>
      <a:accent2>
        <a:srgbClr val="19BFA7"/>
      </a:accent2>
      <a:accent3>
        <a:srgbClr val="7458FF"/>
      </a:accent3>
      <a:accent4>
        <a:srgbClr val="F59E0B"/>
      </a:accent4>
      <a:accent5>
        <a:srgbClr val="E74C3C"/>
      </a:accent5>
      <a:accent6>
        <a:srgbClr val="1C9C72"/>
      </a:accent6>
      <a:hlink>
        <a:srgbClr val="2D6BFF"/>
      </a:hlink>
      <a:folHlink>
        <a:srgbClr val="7458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ockchain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2026-08-25T00:13:20.5390000Z</dcterms:created>
  <dcterms:modified xsi:type="dcterms:W3CDTF">2026-08-25T00:13:20.5390000Z</dcterms:modified>
</coreProperties>
</file>