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583d1d026a4828" /><Relationship Type="http://schemas.openxmlformats.org/officeDocument/2006/relationships/extended-properties" Target="/docProps/app.xml" Id="R9b26b03a2c9847b2" /><Relationship Type="http://schemas.openxmlformats.org/officeDocument/2006/relationships/officeDocument" Target="/ppt/presentation.xml" Id="R76fb4b93ff7445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432808ded7490d"/>
  </p:sldMasterIdLst>
  <p:sldIdLst>
    <p:sldId xmlns:r="http://schemas.openxmlformats.org/officeDocument/2006/relationships" id="256" r:id="R32ddf44ddac846ec"/>
    <p:sldId xmlns:r="http://schemas.openxmlformats.org/officeDocument/2006/relationships" id="257" r:id="R6608f5a8abbc40f8"/>
    <p:sldId xmlns:r="http://schemas.openxmlformats.org/officeDocument/2006/relationships" id="258" r:id="Rc2dec703398840b2"/>
    <p:sldId xmlns:r="http://schemas.openxmlformats.org/officeDocument/2006/relationships" id="259" r:id="Rd1f93083b98d4c7f"/>
    <p:sldId xmlns:r="http://schemas.openxmlformats.org/officeDocument/2006/relationships" id="260" r:id="R3dad6dff7de047da"/>
    <p:sldId xmlns:r="http://schemas.openxmlformats.org/officeDocument/2006/relationships" id="261" r:id="Rb993a2475568472b"/>
    <p:sldId xmlns:r="http://schemas.openxmlformats.org/officeDocument/2006/relationships" id="262" r:id="R8613309d4f0f4825"/>
    <p:sldId xmlns:r="http://schemas.openxmlformats.org/officeDocument/2006/relationships" id="263" r:id="R0d3463c69c794148"/>
    <p:sldId xmlns:r="http://schemas.openxmlformats.org/officeDocument/2006/relationships" id="264" r:id="R140be7016f564608"/>
    <p:sldId xmlns:r="http://schemas.openxmlformats.org/officeDocument/2006/relationships" id="265" r:id="R5d38d77b5bbe4a17"/>
    <p:sldId xmlns:r="http://schemas.openxmlformats.org/officeDocument/2006/relationships" id="266" r:id="R98f5abcb329841ec"/>
    <p:sldId xmlns:r="http://schemas.openxmlformats.org/officeDocument/2006/relationships" id="267" r:id="R2c4a5a1a77f14975"/>
    <p:sldId xmlns:r="http://schemas.openxmlformats.org/officeDocument/2006/relationships" id="268" r:id="R4df1ee42380a467d"/>
    <p:sldId xmlns:r="http://schemas.openxmlformats.org/officeDocument/2006/relationships" id="269" r:id="R25de7f2250214a45"/>
    <p:sldId xmlns:r="http://schemas.openxmlformats.org/officeDocument/2006/relationships" id="270" r:id="R2c1f12a8610e453d"/>
    <p:sldId xmlns:r="http://schemas.openxmlformats.org/officeDocument/2006/relationships" id="271" r:id="Re73dadd6f10e4b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39c41ca9dd442b" /><Relationship Type="http://schemas.openxmlformats.org/officeDocument/2006/relationships/slideMaster" Target="/ppt/slideMasters/slideMaster1.xml" Id="R08432808ded7490d" /><Relationship Type="http://schemas.openxmlformats.org/officeDocument/2006/relationships/presProps" Target="/ppt/presProps.xml" Id="Rcb20fded63a141d5" /><Relationship Type="http://schemas.openxmlformats.org/officeDocument/2006/relationships/tableStyles" Target="/ppt/tableStyles.xml" Id="R6411aa4ad0624c9c" /><Relationship Type="http://schemas.openxmlformats.org/officeDocument/2006/relationships/slide" Target="/ppt/slides/slide1.xml" Id="R32ddf44ddac846ec" /><Relationship Type="http://schemas.openxmlformats.org/officeDocument/2006/relationships/slide" Target="/ppt/slides/slide2.xml" Id="R6608f5a8abbc40f8" /><Relationship Type="http://schemas.openxmlformats.org/officeDocument/2006/relationships/slide" Target="/ppt/slides/slide3.xml" Id="Rc2dec703398840b2" /><Relationship Type="http://schemas.openxmlformats.org/officeDocument/2006/relationships/slide" Target="/ppt/slides/slide4.xml" Id="Rd1f93083b98d4c7f" /><Relationship Type="http://schemas.openxmlformats.org/officeDocument/2006/relationships/slide" Target="/ppt/slides/slide5.xml" Id="R3dad6dff7de047da" /><Relationship Type="http://schemas.openxmlformats.org/officeDocument/2006/relationships/slide" Target="/ppt/slides/slide6.xml" Id="Rb993a2475568472b" /><Relationship Type="http://schemas.openxmlformats.org/officeDocument/2006/relationships/slide" Target="/ppt/slides/slide7.xml" Id="R8613309d4f0f4825" /><Relationship Type="http://schemas.openxmlformats.org/officeDocument/2006/relationships/slide" Target="/ppt/slides/slide8.xml" Id="R0d3463c69c794148" /><Relationship Type="http://schemas.openxmlformats.org/officeDocument/2006/relationships/slide" Target="/ppt/slides/slide9.xml" Id="R140be7016f564608" /><Relationship Type="http://schemas.openxmlformats.org/officeDocument/2006/relationships/slide" Target="/ppt/slides/slide10.xml" Id="R5d38d77b5bbe4a17" /><Relationship Type="http://schemas.openxmlformats.org/officeDocument/2006/relationships/slide" Target="/ppt/slides/slide11.xml" Id="R98f5abcb329841ec" /><Relationship Type="http://schemas.openxmlformats.org/officeDocument/2006/relationships/slide" Target="/ppt/slides/slide12.xml" Id="R2c4a5a1a77f14975" /><Relationship Type="http://schemas.openxmlformats.org/officeDocument/2006/relationships/slide" Target="/ppt/slides/slide13.xml" Id="R4df1ee42380a467d" /><Relationship Type="http://schemas.openxmlformats.org/officeDocument/2006/relationships/slide" Target="/ppt/slides/slide14.xml" Id="R25de7f2250214a45" /><Relationship Type="http://schemas.openxmlformats.org/officeDocument/2006/relationships/slide" Target="/ppt/slides/slide15.xml" Id="R2c1f12a8610e453d" /><Relationship Type="http://schemas.openxmlformats.org/officeDocument/2006/relationships/slide" Target="/ppt/slides/slide16.xml" Id="Re73dadd6f10e4b3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10d0ed7e948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8551e855a4338" /><Relationship Type="http://schemas.openxmlformats.org/officeDocument/2006/relationships/slideLayout" Target="/ppt/slideLayouts/slideLayout1.xml" Id="R362bfe2fbf8545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2bfe2fbf8545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7532966ac4a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dbdc2544f44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66b979f4a4e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b76f332c541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ca1c26c95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ca7f6a79940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a3d1a66274e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c5151af064a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71c258bfa49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0fdb5465349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483aaa02147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1e32c3e8d42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f3a62acb44b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5d21590ff4f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951e4bb8a4e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436ef44794c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1AF3F-A684-4615-8984-B9C8E54C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119DE-8B1D-4CB4-9B8E-C60AD36A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7931A"/>
                </a:solidFill>
              </a:defRPr>
            </a:pPr>
            <a:r>
              <a:rPr sz="1275" b="1" i="0">
                <a:solidFill>
                  <a:srgbClr val="F7931A"/>
                </a:solidFill>
              </a:rPr>
              <a:t>Colección didáctica · 3 de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C7ECB-49E4-46F9-A729-EABDBC1C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BITCOIN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F9F1A-6D7E-4E57-BDD8-86E68DA4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Bloques, minería y consenso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75DB4-9CDB-4E35-B1CD-AE3345E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C9CDD3"/>
                </a:solidFill>
              </a:defRPr>
            </a:pPr>
            <a:r>
              <a:rPr sz="1800" b="0" i="0">
                <a:solidFill>
                  <a:srgbClr val="C9CDD3"/>
                </a:solidFill>
              </a:rPr>
              <a:t>Por qué buscar un hash válido no equivale a descifrar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856E8-FDE6-44F1-9C79-4309ADA8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52550"/>
            <a:ext cx="30289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42D9F-4562-4E3D-A4C8-E19C996C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04925"/>
            <a:ext cx="30289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900" b="1" i="0">
                <a:solidFill>
                  <a:srgbClr val="FFFFFF"/>
                </a:solidFill>
              </a:defRPr>
            </a:pPr>
            <a:r>
              <a:rPr sz="6900" b="1" i="0">
                <a:solidFill>
                  <a:srgbClr val="FFFFFF"/>
                </a:solidFill>
              </a:rPr>
              <a:t>BTC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9ED15-D9FE-4C61-91AF-53690173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43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850" b="1" i="0">
                <a:solidFill>
                  <a:srgbClr val="7B8088"/>
                </a:solidFill>
              </a:defRPr>
            </a:pPr>
            <a:r>
              <a:rPr sz="2850" b="1" i="0">
                <a:solidFill>
                  <a:srgbClr val="7B8088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9D72D-621E-4239-A48E-001B25CF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3599F-76CF-431B-9928-E0BC5FD5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9CDD3"/>
                </a:solidFill>
              </a:defRPr>
            </a:pPr>
            <a:r>
              <a:rPr sz="975" b="0" i="0">
                <a:solidFill>
                  <a:srgbClr val="C9CDD3"/>
                </a:solidFill>
              </a:rPr>
              <a:t>Material elaborado por el profesor Sergio Gevatschnaider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2C5F4-FC56-41E5-A598-34120612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C9CDD3"/>
                </a:solidFill>
              </a:defRPr>
            </a:pPr>
            <a:r>
              <a:rPr sz="975" b="1" i="0">
                <a:solidFill>
                  <a:srgbClr val="C9CDD3"/>
                </a:solidFill>
              </a:rPr>
              <a:t>BITCOIN 03 · 01/16</a:t>
            </a:r>
          </a:p>
        </p:txBody>
      </p:sp>
    </p:spTree>
    <p:extLst>
      <p:ext uri="{BB962C8B-B14F-4D97-AF65-F5344CB8AC3E}">
        <p14:creationId xmlns:p14="http://schemas.microsoft.com/office/powerpoint/2010/main" val="481531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AF3C4-5E21-426E-AD1F-73CA81E7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DISTINCIÓN ESENCIAL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AEF89-35A4-4C2D-83E6-379BCB2A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Validar y minar son procesos diferentes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7915B-40B5-4062-92C9-40A252F8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682A7-8A8F-4B3E-9887-878AC0A2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DE0C6-B5BA-4EB5-921F-5E4A7051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02/16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6E88F-B9FD-43DF-801C-61C451C0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303CC-5778-44E7-881C-9E21BE5C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F7777-31B8-4C94-82CA-D9EAE088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318"/>
                </a:solidFill>
              </a:defRPr>
            </a:pPr>
            <a:r>
              <a:rPr sz="2325" b="1" i="0">
                <a:solidFill>
                  <a:srgbClr val="111318"/>
                </a:solidFill>
              </a:rPr>
              <a:t>Validar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305C2-D32C-4566-B5E8-98620FB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96B00"/>
                </a:solidFill>
              </a:defRPr>
            </a:pPr>
            <a:r>
              <a:rPr sz="1500" b="1" i="0">
                <a:solidFill>
                  <a:srgbClr val="C96B00"/>
                </a:solidFill>
              </a:rPr>
              <a:t>Determinista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641C6-2736-42AE-9FDA-2A6535E0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80348-50CA-462C-8589-47242610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Aplica reglas conocidas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84C9F-7F20-41B4-AB7A-8A7DD0E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BC0F6-C727-45D2-AF26-EF348B3C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Mismo dato, mismo 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761AA-09D7-4E8F-A2D3-F4A2620D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4FDCA-3F7A-4019-9E70-D2A9B0A4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Lo ejecuta cada nodo completo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C37DA-6065-4BDC-9B37-CF6BDC5A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Minar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3854C-07B1-4124-960E-5C83B62E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7931A"/>
                </a:solidFill>
              </a:defRPr>
            </a:pPr>
            <a:r>
              <a:rPr sz="1500" b="1" i="0">
                <a:solidFill>
                  <a:srgbClr val="F7931A"/>
                </a:solidFill>
              </a:rPr>
              <a:t>Probabilístico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B6B4D-CD81-4026-8D43-D9F30793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3B1E4-41DA-40A5-9A28-4E1A2FEA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Busca un hash bajo el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C4D80-A8D6-4506-AE37-9E45E3B5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1FACB-3035-45AB-BE49-6094B913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Repite intentos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2D831-DDFA-45C0-851D-1E588B1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B984E-5219-48FD-B2A4-CE213DA3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Propone un orden de transacciones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8C262-8DA3-44B3-A90D-8A7E84E3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Un bloque con mucha prueba de trabajo sigue siendo rechazado si viola una regla.</a:t>
            </a:r>
          </a:p>
        </p:txBody>
      </p:sp>
    </p:spTree>
    <p:extLst>
      <p:ext uri="{BB962C8B-B14F-4D97-AF65-F5344CB8AC3E}">
        <p14:creationId xmlns:p14="http://schemas.microsoft.com/office/powerpoint/2010/main" val="1056703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C01917-32D8-4F95-9C0F-E55FD8EC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BLOQUE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E4670-353D-42B4-9B8B-D3A6689E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El encabezado concentra la competencia de prueba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D349A-1651-464C-8FCC-1B71C97E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6F6F1-24BB-4264-BF15-4E7E454C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2B80C-3F56-4D07-8BE8-C4129A5B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03/16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A188F-1D65-4602-A475-742953CE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03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9EE66-E83B-4870-9563-61C011C0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495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7931A"/>
                </a:solidFill>
              </a:defRPr>
            </a:pPr>
            <a:r>
              <a:rPr sz="3600" b="1" i="0">
                <a:solidFill>
                  <a:srgbClr val="F7931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2B459-9F7E-467E-8713-D7580FAF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70014-1BA4-41A0-AF5A-3FFB4523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7931A"/>
                </a:solidFill>
              </a:defRPr>
            </a:pPr>
            <a:r>
              <a:rPr sz="1650" b="1" i="0">
                <a:solidFill>
                  <a:srgbClr val="F7931A"/>
                </a:solidFill>
              </a:rPr>
              <a:t>ENCABEZADO · 80 bytes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B1298-0360-4C88-88C7-F7DDE523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C3AA2-352D-41ED-A17D-A1D1FB9C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98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prev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B65C2-8A0C-47E3-83D7-AE500847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merkle root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D12D7-244E-4B71-B852-B7484CB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194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509AB-3C94-4248-B68B-5D032E7E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nBits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1A152-A63F-45F2-B1CC-C55B0891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290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nonce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E8A33-7DE7-4419-AAAE-81C978EE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0673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D9CBD-CD71-4981-BBA3-44B5BE02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C96B00"/>
                </a:solidFill>
              </a:defRPr>
            </a:pPr>
            <a:r>
              <a:rPr sz="1650" b="1" i="0">
                <a:solidFill>
                  <a:srgbClr val="C96B00"/>
                </a:solidFill>
              </a:rPr>
              <a:t>CUERPO DEL BLOQUE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299D5-BBBC-44C5-9C38-448CB11A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F9F4B-5EDB-4C4A-880D-7822B3E6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38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coinbase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0BBC0-325D-4D93-A38F-D6AB08A9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908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24D34-0783-42C8-8ED3-C16B13B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48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transacciones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4DD05-995C-4AF1-8975-068A9A28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5CCE6-B8AE-47EB-B58E-9F58A63D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57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witness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F9D47-0BD5-47B2-80C7-3F69B172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00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B6167-836F-4677-96F2-F97E7868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67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scripts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AB4BE-97E8-4CAD-A8A7-04BD40B4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C0FEF-947A-45DA-9AEC-A827E071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318"/>
                </a:solidFill>
              </a:defRPr>
            </a:pPr>
            <a:r>
              <a:rPr sz="1500" b="0" i="0">
                <a:solidFill>
                  <a:srgbClr val="111318"/>
                </a:solidFill>
              </a:rPr>
              <a:t>valores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3ECCD3-7520-4EE5-8E4A-12B302CA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Los mineros hashean el encabezado; los nodos validan el bloque completo.</a:t>
            </a:r>
          </a:p>
        </p:txBody>
      </p:sp>
    </p:spTree>
    <p:extLst>
      <p:ext uri="{BB962C8B-B14F-4D97-AF65-F5344CB8AC3E}">
        <p14:creationId xmlns:p14="http://schemas.microsoft.com/office/powerpoint/2010/main" val="1529467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25C57E-D94C-4A52-B7E3-5B68F3B9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MERKLE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E4143-1D89-4AAA-B10B-EA34DF3D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Una prueba de inclusión crece en forma logarítmica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DAACF-1A6F-4D69-BF82-E500E630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C9DC6-512D-4077-8F89-33BA75B5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56F2A-D66D-4402-824F-3694E1C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04/16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E3FD6-1346-4283-BF6B-135D721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24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B9F79-CAB9-408F-9465-2CC7466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708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4E87B-002F-464D-8737-7AB1A8A0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A8AF2-DF20-4FC0-A55D-5C171A5A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9431C-CF37-4763-BB8E-3DB8FDB0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AC43A-B19D-4E03-A7A9-13BB8BC9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B90FC-9EB1-476B-B681-1AEA63D0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Raíz Merkle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31BEE-8662-4D0A-B6F9-940D617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29000"/>
            <a:ext cx="295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DBFD5-0597-4359-B3D7-909CB7D1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147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Hash 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286FA-0CCC-4D6F-BF5C-44E0B8C9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ED355-BEF9-4611-8517-A85939D6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243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67085"/>
                </a:solidFill>
              </a:defRPr>
            </a:pPr>
            <a:r>
              <a:rPr sz="1350" b="1" i="0">
                <a:solidFill>
                  <a:srgbClr val="667085"/>
                </a:solidFill>
              </a:rPr>
              <a:t>tx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F0866-7162-4DA4-AA8D-3F46A2E9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027C6-755E-402C-912F-7EBCA1BB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72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tx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ABC4E-C753-464B-AAAF-D73DB0A2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5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61CA2-7703-4192-A4CD-E0D556FF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147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Hash CD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8F3CF-F272-4E5C-A99F-E5BD79C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2957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4D2B6-7A81-4585-8B5A-6101D5B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243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67085"/>
                </a:solidFill>
              </a:defRPr>
            </a:pPr>
            <a:r>
              <a:rPr sz="1350" b="1" i="0">
                <a:solidFill>
                  <a:srgbClr val="667085"/>
                </a:solidFill>
              </a:rPr>
              <a:t>tx 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4EF04-3B90-4806-8F7C-CEF2C183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43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689881-3A47-45DF-B20F-FDE044D0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72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tx 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059E0-83C9-42B3-AA0D-9BB467FA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29000"/>
            <a:ext cx="295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B45860-6EDA-4C72-9EB1-1E30C5B5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147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Prueba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860472-3EC9-4024-A882-F4B52D97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957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B285D1-2F77-4602-ABE3-AC232E0D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243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67085"/>
                </a:solidFill>
              </a:defRPr>
            </a:pPr>
            <a:r>
              <a:rPr sz="1350" b="1" i="0">
                <a:solidFill>
                  <a:srgbClr val="667085"/>
                </a:solidFill>
              </a:rPr>
              <a:t>hash hermano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6921D-E7EF-454F-8C26-226F3E9A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43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C294D-16F9-4942-8342-172B4B8B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72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ruta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88A10-1E48-4CE1-8504-A6BB2B20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911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C741F-7807-4B46-BA29-D9E50C0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019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raíz esperada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F9D3C5-E5CF-408C-9AA7-D3281A36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11318"/>
                </a:solidFill>
              </a:defRPr>
            </a:pPr>
            <a:r>
              <a:rPr sz="1425" b="1" i="0">
                <a:solidFill>
                  <a:srgbClr val="111318"/>
                </a:solidFill>
              </a:rPr>
              <a:t>Con n transacciones, la ruta requiere aproximadamente log₂(n) hashes.</a:t>
            </a:r>
          </a:p>
        </p:txBody>
      </p:sp>
    </p:spTree>
    <p:extLst>
      <p:ext uri="{BB962C8B-B14F-4D97-AF65-F5344CB8AC3E}">
        <p14:creationId xmlns:p14="http://schemas.microsoft.com/office/powerpoint/2010/main" val="306225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E167EA-9266-416F-8E25-E9EAD277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BLOQUE CANDIDATO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91286-86A3-4C22-8AD5-ED2EE97E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El minero construye, mide y actualiza un candidato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33FA0-C7A6-423B-A581-BB915B0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4276F-C958-4276-B484-8440EC1E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9B5B7-B135-4982-858B-4E556CFB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05/16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C6A6D-3819-4050-A7D6-FECCAAF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BF805-7941-4FB4-9BEE-1446C07D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DB8FF-B438-46E4-9FF3-BD4F16C9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8FF95-7F34-470B-9956-70BBD4B1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Plantilla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B7DA9-6A6A-49BE-B366-185F48D3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Nodo aporta reglas y estado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D14C9-22A5-4972-A62D-9EED0517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9A212-ECF0-4627-91E1-850AEF0F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B0402-A9AB-4FE5-AE18-FDC026F3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Selección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562AB-F506-489F-A352-37EC6B62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Transacciones por ingreso y dependencias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C46F6-0E9C-455B-9493-AD6484F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0ECC3-91E5-4CC3-B29B-FE24F57B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00C4D-3940-4C86-84AE-CA4E8AA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Coinbase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08D5A-F3DE-4732-9E78-BE0975F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Subsidio, comisiones y extra nonce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9BC79-0656-47A0-9685-2B6652F9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829B7-26E6-4B50-916E-DD98BB65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E4419-979C-44E8-B82C-95133E63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Merkle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15673-65A9-4599-959C-75788919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Se calcula la raíz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EFD77-7F7F-407E-B8A6-E2E20230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8FE8F-5EA7-44F3-BA1C-BC4B2850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ADC44A-AE5C-4148-A827-CA3367C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Hashing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5F0869-30F7-45AB-97F8-B5920C7A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Hardware prueba encabezados</a:t>
            </a:r>
          </a:p>
        </p:txBody>
      </p:sp>
    </p:spTree>
    <p:extLst>
      <p:ext uri="{BB962C8B-B14F-4D97-AF65-F5344CB8AC3E}">
        <p14:creationId xmlns:p14="http://schemas.microsoft.com/office/powerpoint/2010/main" val="1549057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0799E-D60A-4C16-887B-7C4F8A01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PRUEBA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52F4-BF8E-4D9D-8234-3F288FDF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Minar es encontrar un hash menor que un umbral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78D2F-0A37-4EF6-821E-7B3C7BEE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01D65-4960-4C8C-BFD4-8B67AABE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6055B-4B96-4A30-9B0F-BADD5D67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06/16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E4120-6A84-408B-9CA6-4FD39384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</a:defRPr>
            </a:pPr>
            <a:r>
              <a:rPr sz="3600" b="1" i="0">
                <a:solidFill>
                  <a:srgbClr val="111318"/>
                </a:solidFill>
              </a:rPr>
              <a:t>SHA256d(encabezado) &lt;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75E0D-35D3-4F36-8C7E-16E4205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627AF-AA5E-468B-8E81-13A9F242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667085"/>
                </a:solidFill>
              </a:defRPr>
            </a:pPr>
            <a:r>
              <a:rPr sz="1875" b="0" i="0">
                <a:solidFill>
                  <a:srgbClr val="667085"/>
                </a:solidFill>
              </a:rPr>
              <a:t>No existe un atajo conocido: se modifican campos y se prueban resultados hasta obtener uno suficientemente pequeño.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FB43F-AB2C-491E-8D02-240C26C0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14E5D-AF42-46EE-89BA-2C3416B7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No se descifra el bloque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CEE62-E201-4FE8-AF20-E84E5313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8420F-89A1-4DEC-B9CD-B6B12021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B0946-9C77-4C23-B1DA-0037255F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El contenido sigue siendo público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77171-D230-480F-A1E4-173F4205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C6167-29F6-4711-97E1-0E9E2B6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C46AC-3E4D-4D46-A60C-BE2CADA0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La verificación del resultado es barata</a:t>
            </a:r>
          </a:p>
        </p:txBody>
      </p:sp>
    </p:spTree>
    <p:extLst>
      <p:ext uri="{BB962C8B-B14F-4D97-AF65-F5344CB8AC3E}">
        <p14:creationId xmlns:p14="http://schemas.microsoft.com/office/powerpoint/2010/main" val="591484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F9FB4-F63C-47B8-BCC6-0FFF85D7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PROBABILIDAD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8C06-7C2B-4DF1-9655-0FA23792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Más hashrate aumenta oportunidades, no garantiza el próximo bloque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E8A12-73B4-4A22-A16E-B7030F77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EA027-C67E-4581-ACC4-46AFBE2A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B74CA-6D46-457B-813E-9762152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07/16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2DEF0-0E2A-43E1-A1E8-495A4363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111318"/>
                </a:solidFill>
              </a:defRPr>
            </a:pPr>
            <a:r>
              <a:rPr sz="2775" b="1" i="0">
                <a:solidFill>
                  <a:srgbClr val="111318"/>
                </a:solidFill>
              </a:rPr>
              <a:t>P(encontrar el próximo bloque) ≈ hashrate propio / hashrate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CAE56-B7B9-4C32-A84E-0A0F695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PARTICIPACIÓN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CE6C1-B6E8-477B-BBFE-EBCAE3F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ENSAYOS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B9D29-7EC9-4612-A1E4-D514669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AZAR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56599-22F9-41CB-B39A-AC52C5C8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C96B00"/>
                </a:solidFill>
              </a:defRPr>
            </a:pPr>
            <a:r>
              <a:rPr sz="1125" b="1" i="0">
                <a:solidFill>
                  <a:srgbClr val="C96B00"/>
                </a:solidFill>
              </a:rPr>
              <a:t>LARGO PLAZO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F674F-4DE3-4882-8211-D8F07BBE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B39DE-2263-4566-8469-D99E795B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D9AA4-CCF1-4904-BD4C-CE078DBE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Cada hash es un nuevo intento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12645-15BB-4D3E-A93D-55D2569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8E654-A1A7-4C38-957A-47B157BC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DB6F4-937E-4C5C-92D5-11C54509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Los resultados de corto plazo varían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43188-47E1-4934-B076-68155BB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5365F-5CE5-47E7-8660-6174855F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28C1C-25BD-472B-A7C9-B6D2BEC5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Los pools reducen varianza al repartir ingresos</a:t>
            </a:r>
          </a:p>
        </p:txBody>
      </p:sp>
    </p:spTree>
    <p:extLst>
      <p:ext uri="{BB962C8B-B14F-4D97-AF65-F5344CB8AC3E}">
        <p14:creationId xmlns:p14="http://schemas.microsoft.com/office/powerpoint/2010/main" val="3373805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3E696-6BB5-41D1-95F0-048B50CF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DIFICULTAD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12AC-F6F4-4757-81A2-5BB6CBC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Cada 2016 bloques, el protocolo reajusta el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113D5-BA26-4FE1-ADB3-D5EEB498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376B6-9188-4543-8673-C5DDB9C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2AD62-93B3-4A46-9F07-D5FAF26C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08/16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D08A4-0117-48C0-B943-04C42966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10B52-9517-49CE-9D1F-928CE2EE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8783C-8FE8-4E39-A5F3-301A6F38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0BC56-832D-4046-B92E-F1E2F26C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Ventana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9102A-492E-49E6-B65A-93E49A1F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Se observan 2016 bloques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35E08-55F4-455D-A6E5-3708B16D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D3FD3-D87E-449F-91ED-E5D5DE30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C2B5A-CDFF-4316-8EB0-73E2EBEA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Tiempo real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CAEF1-6CD2-48E4-8C01-30B9DF44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Se compara con dos semanas objetivo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A495B-2D27-4E48-A2D9-B8E0F15C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EB760-EE3B-4924-B7B9-C9598163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FA6BE-A8B8-4976-9418-CE486F0D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Ajuste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65E85-F0B6-4B0C-A920-52A50C3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Target sube o baja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C521F-5694-4F13-81FF-CACA463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914C9-830B-4DD8-BFA6-B4377BB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2CCCD-A435-4B1D-B850-E0F9455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Nueva dificultad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4A7A9-70C5-43D7-BE52-FCE5C1A4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Se aplica a la siguiente ventana</a:t>
            </a:r>
          </a:p>
        </p:txBody>
      </p:sp>
    </p:spTree>
    <p:extLst>
      <p:ext uri="{BB962C8B-B14F-4D97-AF65-F5344CB8AC3E}">
        <p14:creationId xmlns:p14="http://schemas.microsoft.com/office/powerpoint/2010/main" val="4321360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556EF-1B89-460F-BA1D-6E20891F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TIEMPO ESTOCÁSTICO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17218-C64D-4E80-8580-F82BB22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Diez minutos es un promedio objetivo, no un horario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78B1D-1CBA-4E71-9F31-00A58D74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645ED-5F30-482A-9C0D-09448636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5D064-7D86-41B6-9C5A-E2CE39D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09/16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D12EC-20C2-40CB-BB5B-1347E95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38C72-4D5E-4C09-9786-218C9EB8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03036-CB88-4E23-906D-DB094F38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73931-DB1A-4F17-874A-77DF0960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+1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9B46C-9B08-4EDA-982C-6BABA1E7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05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Bloque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F0847-9E4B-424E-AAAB-F40F943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765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Puede aparecer casi inmediatamente.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8626B-D067-47FA-8F4D-B4A988F7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04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69B9D-95E5-402C-8B29-7FB18AE5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E0C04-5338-4A49-92B0-0C632CDB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05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+24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CA139-C438-4060-A6C3-2D95263D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Bloque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F1886-D4A4-4E34-A35B-679D4C32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4820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Una espera larga también es normal.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A1F04-3070-4A96-883C-7E0DB01C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7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D4B3B-F199-4D1E-9ECE-CC6DA3B0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04511-5C51-4931-9318-76899C3B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07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+3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35E80-27A8-471B-BA6F-55520D97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05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Bloque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DA893-5058-439C-BC1D-C2EC2FA6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La memoria del proceso no compensa retrasos.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B0E51-4D68-428E-88F8-F9FE1988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004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BD4C5-FA7D-46C5-B86B-E32C65F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1DAF9-2EC3-430A-80FF-70893286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05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C96B00"/>
                </a:solidFill>
              </a:defRPr>
            </a:pPr>
            <a:r>
              <a:rPr sz="1275" b="1" i="0">
                <a:solidFill>
                  <a:srgbClr val="C96B00"/>
                </a:solidFill>
              </a:rPr>
              <a:t>Promedio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20A48-374B-495E-8EFD-EEC0781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386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≈ 10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5E075-F488-4CBB-BD00-C17BB4E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820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Se observa sobre muchas muestras.</a:t>
            </a:r>
          </a:p>
        </p:txBody>
      </p:sp>
    </p:spTree>
    <p:extLst>
      <p:ext uri="{BB962C8B-B14F-4D97-AF65-F5344CB8AC3E}">
        <p14:creationId xmlns:p14="http://schemas.microsoft.com/office/powerpoint/2010/main" val="271620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F3AA5-4DE1-433D-B8C5-6793C668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SELECCIÓN DE CADENA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59594-F454-4DB4-B8D2-AE8787B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Los nodos siguen la historia válida con más trabajo acumulado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CAEC5-B0CE-4B72-A87A-FA126855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49E73-F63C-4CBB-B7D0-147FE10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578B-76AE-4484-8E05-75DB19BF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10/16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67519-570B-407B-B6B9-F13CB26C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0375"/>
            <a:ext cx="685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6F65B-DD61-48E6-8ACC-3B76035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2900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4BC54-5054-4B3F-A0AF-5BF96E7A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628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AC2C8-7CBC-4BB0-9DDE-C73AB9B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FB168-D02B-4158-BE98-8F8340C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B100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46544-8AFD-4D76-8824-9C9F8F8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133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2F835-9927-4B97-8D40-4B8C979E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B101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DE845-10B7-4891-9A3E-F6E85C0B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133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1E268-EC59-475B-8352-F31C2CE2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B102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EEF4A-2B52-4D2B-9CF8-CD271591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F187E-2BE9-4C7C-A9B4-D12E8A86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B103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51CD5-9351-4CA1-8F29-2B00C94A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133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51E69-108B-41CE-AE38-36DC0E0D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291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B102'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7EDC7-6E95-49B2-951A-B648556C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133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5A915-93A8-4901-8299-C590D927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B103'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A4EDF-85A3-480A-B4EB-A36E8D54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71950"/>
            <a:ext cx="133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4D5D8-424F-470F-907B-BAAC391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291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B104'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7336E-3E3A-4C8A-8B81-44FDFB7C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96B00"/>
                </a:solidFill>
              </a:defRPr>
            </a:pPr>
            <a:r>
              <a:rPr sz="1350" b="1" i="0">
                <a:solidFill>
                  <a:srgbClr val="C96B00"/>
                </a:solidFill>
              </a:rPr>
              <a:t>rama competidora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9E608-AF76-46B2-9AF9-57FEC778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No basta contar bloques: importa la prueba de trabajo encadenada.</a:t>
            </a:r>
          </a:p>
        </p:txBody>
      </p:sp>
    </p:spTree>
    <p:extLst>
      <p:ext uri="{BB962C8B-B14F-4D97-AF65-F5344CB8AC3E}">
        <p14:creationId xmlns:p14="http://schemas.microsoft.com/office/powerpoint/2010/main" val="18741267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A32E7-05A2-470E-B75C-CF182000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REORGANIZACIONES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BA2F6-5251-46E5-A8A8-7898C21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Una reorganización cambia qué transacciones quedan confirmadas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0B4C9-235A-4CEE-AB4E-D483EDC4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25015-85B3-4268-8935-8A8A5EEE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09A36-8CCC-47E2-BE38-E4DDBEE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11/16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3AA3C-7228-4570-8E05-892C6D7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</a:defRPr>
            </a:pPr>
            <a:r>
              <a:rPr sz="3600" b="1" i="0">
                <a:solidFill>
                  <a:srgbClr val="111318"/>
                </a:solidFill>
              </a:rPr>
              <a:t>Confirmar significa estar dentro de la mejor cadena conocida.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9326A-A538-4054-991D-4215616E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214C7-E902-4633-8606-FEDAA030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667085"/>
                </a:solidFill>
              </a:defRPr>
            </a:pPr>
            <a:r>
              <a:rPr sz="1875" b="0" i="0">
                <a:solidFill>
                  <a:srgbClr val="667085"/>
                </a:solidFill>
              </a:rPr>
              <a:t>Si otra rama válida acumula más trabajo, bloques recientes pueden quedar huérfanos y sus transacciones volver al mempool o entrar en conflicto.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75C37-EDAB-4860-A9AF-B9ABD76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B60E3-04D4-488B-B19A-47130DE7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Fork temporal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A0D6E-5FDC-42C6-8DCC-F55C243B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44BB2-D99E-42ED-9FB8-7DA7BA73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7001F-4C84-438B-8A2F-4D0A7733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Rama con más trabajo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35085-2215-4128-86AD-47DB4FD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DB2FC-AF31-4E0B-91FA-A7743F86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6DFE2-91A0-46BF-8D23-F0A4FC8E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Estado UTXO recalculado</a:t>
            </a:r>
          </a:p>
        </p:txBody>
      </p:sp>
    </p:spTree>
    <p:extLst>
      <p:ext uri="{BB962C8B-B14F-4D97-AF65-F5344CB8AC3E}">
        <p14:creationId xmlns:p14="http://schemas.microsoft.com/office/powerpoint/2010/main" val="1090188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27367-AEB1-4AF8-873A-E59182B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COINBASE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6391F-E9E6-41F7-9756-48FB5186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El ingreso del minero combina subsidio y comisiones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201DF-802B-40D2-A805-7BDAD42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79E0A-72B5-44EF-8D28-B8E76ED6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16CA7-0036-49D5-8A2F-1F01FC2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12/16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253AD-24F0-48AE-8AC9-DC525904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CA1B9-9C6E-4EE5-8C37-09F565C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Subsidio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EEBB5-06F0-474C-80A9-FF012953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Comisiones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E2F3A-CEEA-4C7C-B13A-2D4D3D76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58AA8-951F-4D16-A9CA-D70C5ED8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BTC nuevos permitidos por consenso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0D974-F220-43DA-A376-60DD997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89FEE-9522-4E75-A940-AE5A826C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Se reduce cada 210.000 bloques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B8831-7E56-4E0F-B02E-12EB0113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50977-C13E-4353-B8D3-8640033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Actualmente: 3,125 BTC por bloque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43217-809A-45A7-828A-21EE53E8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B61EC-425A-4D18-BB43-FECF83F9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Entradas menos salidas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A46FC-F1B4-4634-977B-5ACD5625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3B9F3-512E-4B6B-8EBB-425F9922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Dependientes de demanda y tamaño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9BDA4-3876-46DC-A895-BA49DACF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D12A8-C450-431F-90E3-A317811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Seleccionables por el constructor del bloque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328DC-0F23-4551-8AB0-D877FB49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La coinbase no puede gastar su salida hasta alcanzar 100 confirmaciones.</a:t>
            </a:r>
          </a:p>
        </p:txBody>
      </p:sp>
    </p:spTree>
    <p:extLst>
      <p:ext uri="{BB962C8B-B14F-4D97-AF65-F5344CB8AC3E}">
        <p14:creationId xmlns:p14="http://schemas.microsoft.com/office/powerpoint/2010/main" val="1343564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2FC2F-3FCD-4CFB-B512-D46FBBC4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POOLS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4DEC3-23A5-49C9-BA95-C6CB9E8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Los pools reducen varianza y concentran coordinación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51377-5F38-410F-8B38-16157EB0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F8B21-5663-4178-AD5F-6105F64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53F9B-5E42-4BC7-8F84-BBBF456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13/16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02AD7-F05E-4797-A74B-57F72B98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C48DD-468B-416B-901C-214F265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4B4EC-8ABF-4CAB-B6BD-A7B3651E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318"/>
                </a:solidFill>
              </a:defRPr>
            </a:pPr>
            <a:r>
              <a:rPr sz="2325" b="1" i="0">
                <a:solidFill>
                  <a:srgbClr val="111318"/>
                </a:solidFill>
              </a:rPr>
              <a:t>Ventaja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03CF6-1F34-4B1B-A010-34BE5857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96B00"/>
                </a:solidFill>
              </a:defRPr>
            </a:pPr>
            <a:r>
              <a:rPr sz="1500" b="1" i="0">
                <a:solidFill>
                  <a:srgbClr val="C96B00"/>
                </a:solidFill>
              </a:rPr>
              <a:t>Ingresos más regulares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0E588-96F2-454F-9915-CF2D74DA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6482E-8D96-4E18-AE67-2FE7B3BA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Se comparten pruebas parciales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C79AB-D8A6-46F1-8B3A-DD860710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B91B0-EC7C-4C6D-872A-EA42A89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Se distribuye la recompensa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C7E95-F275-445F-9D2F-9D5B0A6E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4E144-6C1F-4E9A-8534-B96AC586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Participan mineros pequeños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1E1E8-F86B-40F7-9999-6668E0D5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Riesgo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7BD00-60F8-4192-8EFF-A94579D0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7931A"/>
                </a:solidFill>
              </a:defRPr>
            </a:pPr>
            <a:r>
              <a:rPr sz="1500" b="1" i="0">
                <a:solidFill>
                  <a:srgbClr val="F7931A"/>
                </a:solidFill>
              </a:rPr>
              <a:t>Constructor dominante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8ECDB-8ECD-4406-9964-4485104C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37D1C-5443-4AE5-8C02-C44C2267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Selecciona plantillas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D0701-8FB0-4D43-B3FE-926677D1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C8C15-AEF1-4546-826D-65CD4A8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Puede censurar temporalmente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4EED6-F0F4-44BF-BFCF-C6B220DC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CD2AD-9251-405C-A67F-7C54DB53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Aumenta dependencia operativa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34212-632A-4851-87D8-DCF522C3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Hashrate, propiedad de hardware y construcción de bloques son dimensiones distintas de concentración.</a:t>
            </a:r>
          </a:p>
        </p:txBody>
      </p:sp>
    </p:spTree>
    <p:extLst>
      <p:ext uri="{BB962C8B-B14F-4D97-AF65-F5344CB8AC3E}">
        <p14:creationId xmlns:p14="http://schemas.microsoft.com/office/powerpoint/2010/main" val="21428520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E89D6-CD39-45FD-87D8-F7CE4A05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AMENAZAS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BBB3B-4E95-4BD6-B95F-B377193E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Poder de hash mayoritario tiene capacidades concretas y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26441-5174-4C5D-99BB-D224337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27CA4-BAFE-497D-97BF-6B93210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D7785-7EB5-478E-B292-730DE6BC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14/16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F9453-6FD8-4D34-9A08-5D26DE4C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5071C-5414-4C49-B3DE-F520029B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9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Puede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46955-CE73-4B4B-AEE5-2AF9DEF2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9775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No puede por sí solo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2F6B5-7606-4EAA-9781-5B75138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6F591-8B84-4B13-ADFD-80E70672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6697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7CBB2-E8BE-4AA6-B55F-48A6A0CB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Reorganizar bloques recientes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25690-C4EB-411C-93CD-EBE7C2AC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Crear firmas de otras personas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AF08F-0602-46FF-9483-F9843614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9575F-7F67-4AAE-A0C6-045E1ADC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2B12F-3539-4E6E-B41A-B275C491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Censurar transacciones mientras domine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D5FC4-2158-406F-A522-DF44D0C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Gastar UTXO sin autorización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3F936-8211-4FDC-A883-CD0D4F21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73106-9F47-4694-BFA0-B1592E07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7667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89A3B-59B4-4081-B163-CE221091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Intentar dobles gastos propios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402BA-2231-4516-9107-03CDD2A9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Cambiar reglas que los nodos rechazan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D97A2-C2FF-44A7-8031-861D905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6E353-B7BD-45F5-A6F6-2FCE3766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B8F63-859B-44B9-805D-98D6F58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Reducir confianza en confirmaciones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BA41D-70B8-45B2-B918-B3CB74F9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48200"/>
            <a:ext cx="668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Apropiarse de cualquier saldo</a:t>
            </a:r>
          </a:p>
        </p:txBody>
      </p:sp>
    </p:spTree>
    <p:extLst>
      <p:ext uri="{BB962C8B-B14F-4D97-AF65-F5344CB8AC3E}">
        <p14:creationId xmlns:p14="http://schemas.microsoft.com/office/powerpoint/2010/main" val="10320005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9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8D615-BFFE-41E4-B37C-A2518043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11318"/>
                </a:solidFill>
              </a:defRPr>
            </a:pPr>
            <a:r>
              <a:rPr sz="1125" b="1" i="0">
                <a:solidFill>
                  <a:srgbClr val="111318"/>
                </a:solidFill>
              </a:rPr>
              <a:t>ACTIVIDAD DE SIMULACIÓN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30136-7DAF-4609-9513-AF5E1714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Prediga qué cambia al variar hashrate y dificultad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C7A80-C610-4B63-B2A4-225EE668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5916B-3119-444F-990E-6868B12A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552E7-E444-4F3B-8406-00B1BF65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03 · 15/16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9983D-4F38-47A3-9270-132E33DF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8B951-ECAC-4CCC-8509-E3B89AD0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Escenario: el hashrate total se duplica justo después de un reajuste.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46B98-B146-4249-84AF-51FC74BF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22E3D-E022-46ED-9798-09390446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07DF0-D336-4C2F-8CDA-CDFFFA95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¿Qué ocurre inicialmente con el intervalo promedio?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30C3C-D63F-455F-AF77-FE5B5C3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BF57D-4280-4678-9AB4-FF29EECF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3397F-2376-46C4-B29D-4F5E6D76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814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¿Cuándo reacciona el protocolo y en qué dirección?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854B3-C778-4268-89EA-091BD6F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387D5-F2FB-4680-A7BD-FC83C00B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7839D-9799-4626-A133-FFB5574F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¿Qué propiedades no cambian: firmas, UTXO o reglas?</a:t>
            </a:r>
          </a:p>
        </p:txBody>
      </p:sp>
    </p:spTree>
    <p:extLst>
      <p:ext uri="{BB962C8B-B14F-4D97-AF65-F5344CB8AC3E}">
        <p14:creationId xmlns:p14="http://schemas.microsoft.com/office/powerpoint/2010/main" val="4097394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DF08F-A895-43BD-BD5C-7336657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D22A0-1C25-4F32-AAFA-9245636F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El consenso combina reglas baratas de verificar con trabajo caro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EA83D-0EB8-4258-9AA0-5BF5A475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718DB-0B49-456E-A969-4E8005B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9CDD3"/>
                </a:solidFill>
              </a:defRPr>
            </a:pPr>
            <a:r>
              <a:rPr sz="975" b="0" i="0">
                <a:solidFill>
                  <a:srgbClr val="C9CDD3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DF095-D44E-4114-8233-839ED92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C9CDD3"/>
                </a:solidFill>
              </a:defRPr>
            </a:pPr>
            <a:r>
              <a:rPr sz="975" b="1" i="0">
                <a:solidFill>
                  <a:srgbClr val="C9CDD3"/>
                </a:solidFill>
              </a:rPr>
              <a:t>BITCOIN 03 · 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EF0D5-2E4B-4D99-A62A-2FDDD88E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EBAE6-F8A1-4C78-84BB-91BF6F5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Los nodos validan cada bloque y sus transacciones.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9AD37-9F5B-4565-B2EF-C4ABA44C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A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1D104-FAFE-48B9-B482-9CE07CA0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9B4F2-88AB-419C-BA89-991DB073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Los mineros buscan un hash; no descifran contenido.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87BBB-71AA-46BB-B686-CDD1DDB6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A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AF270-1748-40D1-9D3A-63A4F2C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67999-A059-43DE-8C78-1764C56E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Las confirmaciones acumulan costo de reescritura.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9A563-9616-43FC-89E0-725E6ED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D4D7DC"/>
                </a:solidFill>
              </a:defRPr>
            </a:pPr>
            <a:r>
              <a:rPr sz="1650" b="1" i="0">
                <a:solidFill>
                  <a:srgbClr val="D4D7DC"/>
                </a:solidFill>
              </a:rPr>
              <a:t>Siguiente: emisión, incentivos, riesgos y escalabilidad.</a:t>
            </a:r>
          </a:p>
        </p:txBody>
      </p:sp>
    </p:spTree>
    <p:extLst>
      <p:ext uri="{BB962C8B-B14F-4D97-AF65-F5344CB8AC3E}">
        <p14:creationId xmlns:p14="http://schemas.microsoft.com/office/powerpoint/2010/main" val="2040055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2026-08-31T10:51:43.7680000Z</dcterms:created>
  <dcterms:modified xsi:type="dcterms:W3CDTF">2026-08-31T10:51:43.7680000Z</dcterms:modified>
</coreProperties>
</file>